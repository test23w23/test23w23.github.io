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76" r:id="rId7"/>
    <p:sldId id="263" r:id="rId8"/>
    <p:sldId id="259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DB7E6C-1A3F-4363-90BC-F614E47BBC52}">
  <a:tblStyle styleId="{6FDB7E6C-1A3F-4363-90BC-F614E47BBC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78987FD-B05C-432B-91D2-AA1FEACC75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749" y="-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d5260bdd8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d5260bdd8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957300" y="1419775"/>
            <a:ext cx="54735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94475" y="3901388"/>
            <a:ext cx="2136300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225" y="-1"/>
            <a:ext cx="5550764" cy="3556550"/>
            <a:chOff x="1225" y="-1"/>
            <a:chExt cx="5550764" cy="3556550"/>
          </a:xfrm>
        </p:grpSpPr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225" y="-1"/>
              <a:ext cx="3731776" cy="3556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65186" y="144003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oogle Shape;14;p2"/>
          <p:cNvGrpSpPr/>
          <p:nvPr/>
        </p:nvGrpSpPr>
        <p:grpSpPr>
          <a:xfrm>
            <a:off x="92001" y="-188297"/>
            <a:ext cx="3369807" cy="1452120"/>
            <a:chOff x="92001" y="-188297"/>
            <a:chExt cx="3369807" cy="1452120"/>
          </a:xfrm>
        </p:grpSpPr>
        <p:pic>
          <p:nvPicPr>
            <p:cNvPr id="15" name="Google Shape;15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01" y="1006699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88608" y="217093"/>
              <a:ext cx="373200" cy="37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368774">
              <a:off x="1680513" y="-129825"/>
              <a:ext cx="373200" cy="35480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13225" y="2030525"/>
            <a:ext cx="4080000" cy="85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060313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13225" y="2889113"/>
            <a:ext cx="2415600" cy="7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3016048" y="115090"/>
            <a:ext cx="6383453" cy="5028410"/>
            <a:chOff x="3016048" y="115090"/>
            <a:chExt cx="6383453" cy="5028410"/>
          </a:xfrm>
        </p:grpSpPr>
        <p:pic>
          <p:nvPicPr>
            <p:cNvPr id="23" name="Google Shape;23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3016048" y="687300"/>
              <a:ext cx="6127952" cy="445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291386" y="46560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12699" y="115090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" name="Google Shape;26;p3"/>
          <p:cNvGrpSpPr/>
          <p:nvPr/>
        </p:nvGrpSpPr>
        <p:grpSpPr>
          <a:xfrm>
            <a:off x="-161592" y="-164247"/>
            <a:ext cx="7554476" cy="4943960"/>
            <a:chOff x="-161592" y="-164247"/>
            <a:chExt cx="7554476" cy="4943960"/>
          </a:xfrm>
        </p:grpSpPr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771746">
              <a:off x="7130267" y="253945"/>
              <a:ext cx="244901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61592" y="1603030"/>
              <a:ext cx="373200" cy="37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368774">
              <a:off x="1079588" y="-105775"/>
              <a:ext cx="373200" cy="354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290615">
              <a:off x="3873370" y="4481607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-1816750" y="94515"/>
            <a:ext cx="15137400" cy="8151161"/>
            <a:chOff x="-1816750" y="94515"/>
            <a:chExt cx="15137400" cy="8151161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89214" y="94732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47236" y="94515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088254">
              <a:off x="3697037" y="3653027"/>
              <a:ext cx="9346075" cy="367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-1943450" y="1393950"/>
              <a:ext cx="539690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559286" y="74007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Google Shape;40;p4"/>
          <p:cNvGrpSpPr/>
          <p:nvPr/>
        </p:nvGrpSpPr>
        <p:grpSpPr>
          <a:xfrm>
            <a:off x="-566750" y="-83682"/>
            <a:ext cx="10277499" cy="5484083"/>
            <a:chOff x="-566750" y="-83682"/>
            <a:chExt cx="10277499" cy="5484083"/>
          </a:xfrm>
        </p:grpSpPr>
        <p:pic>
          <p:nvPicPr>
            <p:cNvPr id="41" name="Google Shape;4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828900">
              <a:off x="8656179" y="469945"/>
              <a:ext cx="244900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2526" y="2776887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3290615">
              <a:off x="190520" y="1153769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62508" y="-83682"/>
              <a:ext cx="373200" cy="37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566750" y="3250100"/>
              <a:ext cx="1286749" cy="2150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424000" y="3250100"/>
              <a:ext cx="1286749" cy="2150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897300">
              <a:off x="8930275" y="2507968"/>
              <a:ext cx="367227" cy="2800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6"/>
          <p:cNvGrpSpPr/>
          <p:nvPr/>
        </p:nvGrpSpPr>
        <p:grpSpPr>
          <a:xfrm>
            <a:off x="-584225" y="-135972"/>
            <a:ext cx="11253187" cy="6322248"/>
            <a:chOff x="-584225" y="-135972"/>
            <a:chExt cx="11253187" cy="6322248"/>
          </a:xfrm>
        </p:grpSpPr>
        <p:pic>
          <p:nvPicPr>
            <p:cNvPr id="65" name="Google Shape;65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711554">
              <a:off x="8692054" y="1064870"/>
              <a:ext cx="244900" cy="1867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6" name="Google Shape;66;p6"/>
            <p:cNvGrpSpPr/>
            <p:nvPr/>
          </p:nvGrpSpPr>
          <p:grpSpPr>
            <a:xfrm>
              <a:off x="-584225" y="-135972"/>
              <a:ext cx="11253187" cy="6322248"/>
              <a:chOff x="-584225" y="-135972"/>
              <a:chExt cx="11253187" cy="6322248"/>
            </a:xfrm>
          </p:grpSpPr>
          <p:pic>
            <p:nvPicPr>
              <p:cNvPr id="67" name="Google Shape;67;p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flipH="1">
                <a:off x="6645925" y="-135972"/>
                <a:ext cx="1686803" cy="35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flipH="1">
                <a:off x="8509200" y="214527"/>
                <a:ext cx="1109226" cy="2304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Google Shape;69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-1351634">
                <a:off x="-36287" y="1077393"/>
                <a:ext cx="367225" cy="2800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flipH="1">
                <a:off x="-356625" y="94528"/>
                <a:ext cx="1686803" cy="35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Google Shape;71;p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584225" y="3328752"/>
                <a:ext cx="1109226" cy="2304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6097337" y="2869325"/>
                <a:ext cx="4571625" cy="33169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228464">
                <a:off x="8637245" y="3151553"/>
                <a:ext cx="853149" cy="14256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69271" y="4912705"/>
                <a:ext cx="373200" cy="373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5" name="Google Shape;75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974993">
              <a:off x="5791956" y="207394"/>
              <a:ext cx="257459" cy="2447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2774725" y="1492288"/>
            <a:ext cx="3594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ubTitle" idx="1"/>
          </p:nvPr>
        </p:nvSpPr>
        <p:spPr>
          <a:xfrm>
            <a:off x="2774725" y="2653713"/>
            <a:ext cx="35946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0" name="Google Shape;110;p9"/>
          <p:cNvGrpSpPr/>
          <p:nvPr/>
        </p:nvGrpSpPr>
        <p:grpSpPr>
          <a:xfrm>
            <a:off x="-718500" y="-2774241"/>
            <a:ext cx="13293040" cy="8187516"/>
            <a:chOff x="-718500" y="-2774241"/>
            <a:chExt cx="13293040" cy="8187516"/>
          </a:xfrm>
        </p:grpSpPr>
        <p:pic>
          <p:nvPicPr>
            <p:cNvPr id="111" name="Google Shape;111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18500" y="2594450"/>
              <a:ext cx="4450501" cy="2818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213672">
              <a:off x="5482550" y="-1768200"/>
              <a:ext cx="6568523" cy="4199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469023" y="46852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89789" y="207275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530895" y="3905780"/>
              <a:ext cx="2471824" cy="51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9"/>
          <p:cNvGrpSpPr/>
          <p:nvPr/>
        </p:nvGrpSpPr>
        <p:grpSpPr>
          <a:xfrm>
            <a:off x="231651" y="217093"/>
            <a:ext cx="3363832" cy="558287"/>
            <a:chOff x="231651" y="217093"/>
            <a:chExt cx="3363832" cy="558287"/>
          </a:xfrm>
        </p:grpSpPr>
        <p:pic>
          <p:nvPicPr>
            <p:cNvPr id="117" name="Google Shape;117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22283" y="217093"/>
              <a:ext cx="373200" cy="37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368774">
              <a:off x="285838" y="362100"/>
              <a:ext cx="373200" cy="35480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3"/>
          <p:cNvGrpSpPr/>
          <p:nvPr/>
        </p:nvGrpSpPr>
        <p:grpSpPr>
          <a:xfrm>
            <a:off x="-1976825" y="-1902625"/>
            <a:ext cx="12094414" cy="5279025"/>
            <a:chOff x="-1976825" y="-1902625"/>
            <a:chExt cx="12094414" cy="5279025"/>
          </a:xfrm>
        </p:grpSpPr>
        <p:pic>
          <p:nvPicPr>
            <p:cNvPr id="140" name="Google Shape;14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1953765">
              <a:off x="-1352894" y="-1041389"/>
              <a:ext cx="4239064" cy="35565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430786" y="1178465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290573" y="21452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855623" y="184647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"/>
          </p:nvPr>
        </p:nvSpPr>
        <p:spPr>
          <a:xfrm>
            <a:off x="720000" y="22853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2"/>
          </p:nvPr>
        </p:nvSpPr>
        <p:spPr>
          <a:xfrm>
            <a:off x="3419271" y="22853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3"/>
          </p:nvPr>
        </p:nvSpPr>
        <p:spPr>
          <a:xfrm>
            <a:off x="720000" y="40185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4"/>
          </p:nvPr>
        </p:nvSpPr>
        <p:spPr>
          <a:xfrm>
            <a:off x="3419271" y="40185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5"/>
          </p:nvPr>
        </p:nvSpPr>
        <p:spPr>
          <a:xfrm>
            <a:off x="6118549" y="22853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6"/>
          </p:nvPr>
        </p:nvSpPr>
        <p:spPr>
          <a:xfrm>
            <a:off x="6118549" y="40185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71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71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49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49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3" name="Google Shape;163;p13"/>
          <p:cNvGrpSpPr/>
          <p:nvPr/>
        </p:nvGrpSpPr>
        <p:grpSpPr>
          <a:xfrm>
            <a:off x="190624" y="-294850"/>
            <a:ext cx="9140951" cy="4559956"/>
            <a:chOff x="190624" y="-294850"/>
            <a:chExt cx="9140951" cy="4559956"/>
          </a:xfrm>
        </p:grpSpPr>
        <p:pic>
          <p:nvPicPr>
            <p:cNvPr id="164" name="Google Shape;164;p13"/>
            <p:cNvPicPr preferRelativeResize="0"/>
            <p:nvPr/>
          </p:nvPicPr>
          <p:blipFill rotWithShape="1">
            <a:blip r:embed="rId4">
              <a:alphaModFix/>
            </a:blip>
            <a:srcRect l="19458"/>
            <a:stretch/>
          </p:blipFill>
          <p:spPr>
            <a:xfrm rot="774015" flipH="1">
              <a:off x="7699072" y="-139638"/>
              <a:ext cx="1521905" cy="116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610340">
              <a:off x="8839675" y="2888330"/>
              <a:ext cx="367226" cy="28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290615">
              <a:off x="2722607" y="146919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865658" y="-188307"/>
              <a:ext cx="373200" cy="37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51131">
              <a:off x="211467" y="4048470"/>
              <a:ext cx="244900" cy="1867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1"/>
          </p:nvPr>
        </p:nvSpPr>
        <p:spPr>
          <a:xfrm>
            <a:off x="4832078" y="2093750"/>
            <a:ext cx="3254100" cy="19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2"/>
          </p:nvPr>
        </p:nvSpPr>
        <p:spPr>
          <a:xfrm>
            <a:off x="1057900" y="2093750"/>
            <a:ext cx="3254100" cy="19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4" name="Google Shape;274;p24"/>
          <p:cNvGrpSpPr/>
          <p:nvPr/>
        </p:nvGrpSpPr>
        <p:grpSpPr>
          <a:xfrm>
            <a:off x="-241526" y="-1834217"/>
            <a:ext cx="10826423" cy="3592566"/>
            <a:chOff x="-241526" y="-1834217"/>
            <a:chExt cx="10826423" cy="3592566"/>
          </a:xfrm>
        </p:grpSpPr>
        <p:pic>
          <p:nvPicPr>
            <p:cNvPr id="275" name="Google Shape;275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740153" y="-1834217"/>
              <a:ext cx="5844744" cy="29944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657936" y="152785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41526" y="115090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24"/>
          <p:cNvGrpSpPr/>
          <p:nvPr/>
        </p:nvGrpSpPr>
        <p:grpSpPr>
          <a:xfrm>
            <a:off x="-87022" y="229030"/>
            <a:ext cx="7979332" cy="5123920"/>
            <a:chOff x="-87022" y="229030"/>
            <a:chExt cx="7979332" cy="5123920"/>
          </a:xfrm>
        </p:grpSpPr>
        <p:pic>
          <p:nvPicPr>
            <p:cNvPr id="279" name="Google Shape;27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43">
              <a:off x="-87022" y="3357138"/>
              <a:ext cx="828645" cy="1384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-1" y="4369800"/>
              <a:ext cx="2913200" cy="98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771746">
              <a:off x="7629692" y="253945"/>
              <a:ext cx="244901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368774">
              <a:off x="6610788" y="4897900"/>
              <a:ext cx="373200" cy="354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61570">
              <a:off x="278895" y="2793832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28"/>
          <p:cNvGrpSpPr/>
          <p:nvPr/>
        </p:nvGrpSpPr>
        <p:grpSpPr>
          <a:xfrm>
            <a:off x="-1315064" y="683532"/>
            <a:ext cx="14483392" cy="7745683"/>
            <a:chOff x="-1315064" y="683532"/>
            <a:chExt cx="14483392" cy="7745683"/>
          </a:xfrm>
        </p:grpSpPr>
        <p:pic>
          <p:nvPicPr>
            <p:cNvPr id="347" name="Google Shape;347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8487065" flipH="1">
              <a:off x="5480975" y="2456560"/>
              <a:ext cx="7158825" cy="4199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645924" flipH="1">
              <a:off x="-896300" y="2802649"/>
              <a:ext cx="4571624" cy="3316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28"/>
          <p:cNvSpPr txBox="1">
            <a:spLocks noGrp="1"/>
          </p:cNvSpPr>
          <p:nvPr>
            <p:ph type="title" hasCustomPrompt="1"/>
          </p:nvPr>
        </p:nvSpPr>
        <p:spPr>
          <a:xfrm>
            <a:off x="2223600" y="638357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0" name="Google Shape;350;p28"/>
          <p:cNvSpPr txBox="1">
            <a:spLocks noGrp="1"/>
          </p:cNvSpPr>
          <p:nvPr>
            <p:ph type="subTitle" idx="1"/>
          </p:nvPr>
        </p:nvSpPr>
        <p:spPr>
          <a:xfrm>
            <a:off x="2223600" y="1403477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28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90612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3"/>
          </p:nvPr>
        </p:nvSpPr>
        <p:spPr>
          <a:xfrm>
            <a:off x="2223600" y="2755733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28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2868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" name="Google Shape;354;p28"/>
          <p:cNvSpPr txBox="1">
            <a:spLocks noGrp="1"/>
          </p:cNvSpPr>
          <p:nvPr>
            <p:ph type="subTitle" idx="5"/>
          </p:nvPr>
        </p:nvSpPr>
        <p:spPr>
          <a:xfrm>
            <a:off x="2223600" y="4107989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55" name="Google Shape;355;p28"/>
          <p:cNvGrpSpPr/>
          <p:nvPr/>
        </p:nvGrpSpPr>
        <p:grpSpPr>
          <a:xfrm>
            <a:off x="-789474" y="213752"/>
            <a:ext cx="10722947" cy="4891368"/>
            <a:chOff x="-789474" y="213752"/>
            <a:chExt cx="10722947" cy="4891368"/>
          </a:xfrm>
        </p:grpSpPr>
        <p:pic>
          <p:nvPicPr>
            <p:cNvPr id="356" name="Google Shape;35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147783">
              <a:off x="8257088" y="2698784"/>
              <a:ext cx="1345199" cy="2247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147783" flipH="1">
              <a:off x="-458287" y="2698784"/>
              <a:ext cx="1345199" cy="2247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7788925" y="1327278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223600" y="21375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1351634">
              <a:off x="529613" y="534468"/>
              <a:ext cx="367225" cy="2800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839324" flipH="1">
            <a:off x="-2223403" y="2704013"/>
            <a:ext cx="4146261" cy="3247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30"/>
          <p:cNvGrpSpPr/>
          <p:nvPr/>
        </p:nvGrpSpPr>
        <p:grpSpPr>
          <a:xfrm>
            <a:off x="-793000" y="235503"/>
            <a:ext cx="4575303" cy="5560967"/>
            <a:chOff x="-793000" y="235503"/>
            <a:chExt cx="4575303" cy="5560967"/>
          </a:xfrm>
        </p:grpSpPr>
        <p:grpSp>
          <p:nvGrpSpPr>
            <p:cNvPr id="375" name="Google Shape;375;p30"/>
            <p:cNvGrpSpPr/>
            <p:nvPr/>
          </p:nvGrpSpPr>
          <p:grpSpPr>
            <a:xfrm>
              <a:off x="-44699" y="539506"/>
              <a:ext cx="2317947" cy="5256964"/>
              <a:chOff x="-44699" y="539506"/>
              <a:chExt cx="2317947" cy="5256964"/>
            </a:xfrm>
          </p:grpSpPr>
          <p:pic>
            <p:nvPicPr>
              <p:cNvPr id="376" name="Google Shape;376;p3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147783" flipH="1">
                <a:off x="286488" y="697859"/>
                <a:ext cx="1345199" cy="22479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7" name="Google Shape;377;p3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1147783">
                <a:off x="596863" y="3390134"/>
                <a:ext cx="1345199" cy="22479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8" name="Google Shape;378;p30"/>
            <p:cNvGrpSpPr/>
            <p:nvPr/>
          </p:nvGrpSpPr>
          <p:grpSpPr>
            <a:xfrm>
              <a:off x="-793000" y="235503"/>
              <a:ext cx="4575303" cy="902275"/>
              <a:chOff x="-793000" y="235503"/>
              <a:chExt cx="4575303" cy="902275"/>
            </a:xfrm>
          </p:grpSpPr>
          <p:pic>
            <p:nvPicPr>
              <p:cNvPr id="379" name="Google Shape;379;p3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2095500" y="235503"/>
                <a:ext cx="1686803" cy="35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0" name="Google Shape;380;p3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-793000" y="787278"/>
                <a:ext cx="1686803" cy="35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1"/>
          <p:cNvGrpSpPr/>
          <p:nvPr/>
        </p:nvGrpSpPr>
        <p:grpSpPr>
          <a:xfrm>
            <a:off x="-1737351" y="-1743144"/>
            <a:ext cx="12388103" cy="8097208"/>
            <a:chOff x="-1737351" y="-1743144"/>
            <a:chExt cx="12388103" cy="8097208"/>
          </a:xfrm>
        </p:grpSpPr>
        <p:pic>
          <p:nvPicPr>
            <p:cNvPr id="383" name="Google Shape;383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51587">
              <a:off x="-1215651" y="950533"/>
              <a:ext cx="6067703" cy="4663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799999">
              <a:off x="4583050" y="-1743143"/>
              <a:ext cx="6067702" cy="46631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5" name="Google Shape;385;p31"/>
          <p:cNvGrpSpPr/>
          <p:nvPr/>
        </p:nvGrpSpPr>
        <p:grpSpPr>
          <a:xfrm>
            <a:off x="337826" y="218430"/>
            <a:ext cx="9298898" cy="4765393"/>
            <a:chOff x="337826" y="218430"/>
            <a:chExt cx="9298898" cy="4765393"/>
          </a:xfrm>
        </p:grpSpPr>
        <p:pic>
          <p:nvPicPr>
            <p:cNvPr id="386" name="Google Shape;386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527498" y="133045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394336" y="4753327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" name="Google Shape;388;p31"/>
            <p:cNvGrpSpPr/>
            <p:nvPr/>
          </p:nvGrpSpPr>
          <p:grpSpPr>
            <a:xfrm>
              <a:off x="337826" y="218430"/>
              <a:ext cx="8869674" cy="3228808"/>
              <a:chOff x="386601" y="229030"/>
              <a:chExt cx="8869674" cy="3228808"/>
            </a:xfrm>
          </p:grpSpPr>
          <p:pic>
            <p:nvPicPr>
              <p:cNvPr id="389" name="Google Shape;389;p3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740311">
                <a:off x="3307800" y="265031"/>
                <a:ext cx="367227" cy="2800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0" name="Google Shape;390;p3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86601" y="1317137"/>
                <a:ext cx="257099" cy="2571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1" name="Google Shape;391;p3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586383" y="2196255"/>
                <a:ext cx="373200" cy="373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2" name="Google Shape;392;p3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3290615">
                <a:off x="8953370" y="3159732"/>
                <a:ext cx="257459" cy="2447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8" r:id="rId6"/>
    <p:sldLayoutId id="2147483659" r:id="rId7"/>
    <p:sldLayoutId id="2147483670" r:id="rId8"/>
    <p:sldLayoutId id="2147483674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"/>
          <p:cNvSpPr txBox="1">
            <a:spLocks noGrp="1"/>
          </p:cNvSpPr>
          <p:nvPr>
            <p:ph type="ctrTitle"/>
          </p:nvPr>
        </p:nvSpPr>
        <p:spPr>
          <a:xfrm>
            <a:off x="3286116" y="1142990"/>
            <a:ext cx="5214974" cy="20735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ru-RU" sz="3600" b="1" dirty="0" smtClean="0">
                <a:latin typeface="Bahnschrift SemiLight" pitchFamily="34" charset="0"/>
              </a:rPr>
              <a:t>Стресс: негативные последствия и способы </a:t>
            </a:r>
            <a:r>
              <a:rPr lang="ru-RU" sz="3600" b="1" dirty="0" err="1" smtClean="0">
                <a:latin typeface="Bahnschrift SemiLight" pitchFamily="34" charset="0"/>
              </a:rPr>
              <a:t>совладания</a:t>
            </a:r>
            <a:endParaRPr sz="3600">
              <a:solidFill>
                <a:schemeClr val="lt2"/>
              </a:solidFill>
              <a:latin typeface="Bahnschrift SemiLight" pitchFamily="34" charset="0"/>
            </a:endParaRPr>
          </a:p>
        </p:txBody>
      </p:sp>
      <p:sp>
        <p:nvSpPr>
          <p:cNvPr id="404" name="Google Shape;404;p35"/>
          <p:cNvSpPr txBox="1">
            <a:spLocks noGrp="1"/>
          </p:cNvSpPr>
          <p:nvPr>
            <p:ph type="subTitle" idx="1"/>
          </p:nvPr>
        </p:nvSpPr>
        <p:spPr>
          <a:xfrm>
            <a:off x="5214942" y="3929072"/>
            <a:ext cx="3714776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400" dirty="0" smtClean="0">
                <a:latin typeface="Bahnschrift SemiLight" pitchFamily="34" charset="0"/>
              </a:rPr>
              <a:t>Ермакова </a:t>
            </a:r>
            <a:r>
              <a:rPr lang="ru-RU" sz="1400" dirty="0" smtClean="0">
                <a:latin typeface="Bahnschrift SemiLight" pitchFamily="34" charset="0"/>
              </a:rPr>
              <a:t>Софья </a:t>
            </a:r>
            <a:r>
              <a:rPr lang="ru-RU" sz="1400" dirty="0" smtClean="0">
                <a:latin typeface="Bahnschrift SemiLight" pitchFamily="34" charset="0"/>
              </a:rPr>
              <a:t>Артемовна</a:t>
            </a:r>
            <a:endParaRPr lang="ru-RU" sz="1400" dirty="0" smtClean="0">
              <a:latin typeface="Bahnschrift SemiLight" pitchFamily="34" charset="0"/>
            </a:endParaRPr>
          </a:p>
          <a:p>
            <a:r>
              <a:rPr lang="ru-RU" sz="1400" dirty="0" smtClean="0">
                <a:latin typeface="Bahnschrift SemiLight" pitchFamily="34" charset="0"/>
              </a:rPr>
              <a:t>Класс: 10 Б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Bahnschrift SemiLight" pitchFamily="34" charset="0"/>
            </a:endParaRPr>
          </a:p>
        </p:txBody>
      </p:sp>
      <p:grpSp>
        <p:nvGrpSpPr>
          <p:cNvPr id="406" name="Google Shape;406;p35"/>
          <p:cNvGrpSpPr/>
          <p:nvPr/>
        </p:nvGrpSpPr>
        <p:grpSpPr>
          <a:xfrm>
            <a:off x="-301552" y="404520"/>
            <a:ext cx="5133816" cy="5015255"/>
            <a:chOff x="-301552" y="404520"/>
            <a:chExt cx="5133816" cy="5015255"/>
          </a:xfrm>
        </p:grpSpPr>
        <p:pic>
          <p:nvPicPr>
            <p:cNvPr id="407" name="Google Shape;40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5461" y="4109615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793361" y="3279302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9" name="Google Shape;409;p35"/>
            <p:cNvGrpSpPr/>
            <p:nvPr/>
          </p:nvGrpSpPr>
          <p:grpSpPr>
            <a:xfrm>
              <a:off x="-229226" y="1525477"/>
              <a:ext cx="2950282" cy="2017860"/>
              <a:chOff x="-68925" y="1734575"/>
              <a:chExt cx="3230000" cy="2209174"/>
            </a:xfrm>
          </p:grpSpPr>
          <p:pic>
            <p:nvPicPr>
              <p:cNvPr id="410" name="Google Shape;410;p3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1839100" y="1734575"/>
                <a:ext cx="1321975" cy="22091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1" name="Google Shape;411;p3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-68925" y="1734575"/>
                <a:ext cx="1321975" cy="22091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12" name="Google Shape;412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301552" y="494500"/>
              <a:ext cx="3094900" cy="492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3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1" y="3426250"/>
              <a:ext cx="3997749" cy="171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3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727271">
              <a:off x="757975" y="439955"/>
              <a:ext cx="367226" cy="28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771746">
              <a:off x="2275867" y="657895"/>
              <a:ext cx="244901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3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43451" y="3556549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3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290615">
              <a:off x="2703645" y="2834757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 txBox="1">
            <a:spLocks noGrp="1"/>
          </p:cNvSpPr>
          <p:nvPr>
            <p:ph type="body" idx="1"/>
          </p:nvPr>
        </p:nvSpPr>
        <p:spPr>
          <a:xfrm>
            <a:off x="714348" y="1071552"/>
            <a:ext cx="821537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ru-RU" b="1" dirty="0" smtClean="0">
                <a:latin typeface="Bahnschrift SemiLight" pitchFamily="34" charset="0"/>
              </a:rPr>
              <a:t>Цель исследования: </a:t>
            </a:r>
            <a:r>
              <a:rPr lang="ru-RU" dirty="0" smtClean="0">
                <a:latin typeface="Bahnschrift SemiLight" pitchFamily="34" charset="0"/>
              </a:rPr>
              <a:t>Изучение влияния стресса на физическое и психическое состояние школьников и разработка рекомендаций по эффективному управлению стрессовыми ситуациями</a:t>
            </a:r>
            <a:r>
              <a:rPr lang="ru-RU" dirty="0" smtClean="0">
                <a:latin typeface="Bahnschrift SemiLight" pitchFamily="34" charset="0"/>
              </a:rPr>
              <a:t>.</a:t>
            </a:r>
          </a:p>
          <a:p>
            <a:pPr algn="l">
              <a:buNone/>
            </a:pPr>
            <a:endParaRPr lang="ru-RU" dirty="0" smtClean="0">
              <a:latin typeface="Bahnschrift SemiLight" pitchFamily="34" charset="0"/>
            </a:endParaRPr>
          </a:p>
          <a:p>
            <a:pPr algn="l">
              <a:buNone/>
            </a:pPr>
            <a:r>
              <a:rPr lang="ru-RU" b="1" dirty="0" smtClean="0">
                <a:latin typeface="Bahnschrift SemiLight" pitchFamily="34" charset="0"/>
              </a:rPr>
              <a:t>Задачи исследования:  </a:t>
            </a:r>
            <a:endParaRPr lang="ru-RU" dirty="0" smtClean="0">
              <a:latin typeface="Bahnschrift SemiLight" pitchFamily="34" charset="0"/>
            </a:endParaRPr>
          </a:p>
          <a:p>
            <a:pPr lvl="0" algn="l"/>
            <a:r>
              <a:rPr lang="ru-RU" dirty="0" smtClean="0">
                <a:latin typeface="Bahnschrift SemiLight" pitchFamily="34" charset="0"/>
              </a:rPr>
              <a:t>Изучить теоретические аспекты стресса и его влияния на организм человека.</a:t>
            </a:r>
          </a:p>
          <a:p>
            <a:pPr lvl="0" algn="l"/>
            <a:r>
              <a:rPr lang="ru-RU" dirty="0" smtClean="0">
                <a:latin typeface="Bahnschrift SemiLight" pitchFamily="34" charset="0"/>
              </a:rPr>
              <a:t>Провести анализ существующих методов борьбы со стрессом.</a:t>
            </a:r>
          </a:p>
          <a:p>
            <a:pPr lvl="0" algn="l"/>
            <a:r>
              <a:rPr lang="ru-RU" dirty="0" smtClean="0">
                <a:latin typeface="Bahnschrift SemiLight" pitchFamily="34" charset="0"/>
              </a:rPr>
              <a:t>Разработать рекомендации для школьников по предотвращению и преодолению стресса</a:t>
            </a:r>
            <a:r>
              <a:rPr lang="ru-RU" dirty="0" smtClean="0">
                <a:latin typeface="Bahnschrift SemiLight" pitchFamily="34" charset="0"/>
              </a:rPr>
              <a:t>.</a:t>
            </a:r>
          </a:p>
          <a:p>
            <a:pPr lvl="0" algn="l"/>
            <a:endParaRPr lang="ru-RU" dirty="0" smtClean="0">
              <a:latin typeface="Bahnschrift SemiLight" pitchFamily="34" charset="0"/>
            </a:endParaRPr>
          </a:p>
          <a:p>
            <a:pPr algn="l">
              <a:buNone/>
            </a:pPr>
            <a:r>
              <a:rPr lang="ru-RU" b="1" dirty="0" smtClean="0">
                <a:latin typeface="Bahnschrift SemiLight" pitchFamily="34" charset="0"/>
              </a:rPr>
              <a:t>Объект исследования:</a:t>
            </a:r>
            <a:r>
              <a:rPr lang="ru-RU" dirty="0" smtClean="0">
                <a:latin typeface="Bahnschrift SemiLight" pitchFamily="34" charset="0"/>
              </a:rPr>
              <a:t> Школьники подросткового возраста (14–17 лет</a:t>
            </a:r>
            <a:r>
              <a:rPr lang="ru-RU" dirty="0" smtClean="0">
                <a:latin typeface="Bahnschrift SemiLight" pitchFamily="34" charset="0"/>
              </a:rPr>
              <a:t>).</a:t>
            </a:r>
          </a:p>
          <a:p>
            <a:pPr algn="l">
              <a:buNone/>
            </a:pPr>
            <a:endParaRPr lang="ru-RU" dirty="0" smtClean="0">
              <a:latin typeface="Bahnschrift SemiLight" pitchFamily="34" charset="0"/>
            </a:endParaRPr>
          </a:p>
          <a:p>
            <a:pPr algn="l">
              <a:buNone/>
            </a:pPr>
            <a:r>
              <a:rPr lang="ru-RU" b="1" dirty="0" smtClean="0">
                <a:latin typeface="Bahnschrift SemiLight" pitchFamily="34" charset="0"/>
              </a:rPr>
              <a:t>Предмет исследования:</a:t>
            </a:r>
            <a:r>
              <a:rPr lang="ru-RU" dirty="0" smtClean="0">
                <a:latin typeface="Bahnschrift SemiLight" pitchFamily="34" charset="0"/>
              </a:rPr>
              <a:t> Негативные последствия стресса и способы </a:t>
            </a:r>
            <a:r>
              <a:rPr lang="ru-RU" dirty="0" err="1" smtClean="0">
                <a:latin typeface="Bahnschrift SemiLight" pitchFamily="34" charset="0"/>
              </a:rPr>
              <a:t>совладания</a:t>
            </a:r>
            <a:r>
              <a:rPr lang="ru-RU" dirty="0" smtClean="0">
                <a:latin typeface="Bahnschrift SemiLight" pitchFamily="34" charset="0"/>
              </a:rPr>
              <a:t> с ним у школьников.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 smtClean="0"/>
              <a:t>Введение</a:t>
            </a:r>
            <a:br>
              <a:rPr lang="ru-RU" b="1" dirty="0" smtClean="0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 txBox="1">
            <a:spLocks noGrp="1"/>
          </p:cNvSpPr>
          <p:nvPr>
            <p:ph type="title"/>
          </p:nvPr>
        </p:nvSpPr>
        <p:spPr>
          <a:xfrm>
            <a:off x="714348" y="357172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b="1" dirty="0" smtClean="0">
                <a:latin typeface="Bahnschrift SemiLight" pitchFamily="34" charset="0"/>
              </a:rPr>
              <a:t>Что такое стресс</a:t>
            </a:r>
            <a:endParaRPr b="1">
              <a:latin typeface="Bahnschrift SemiLight" pitchFamily="34" charset="0"/>
            </a:endParaRPr>
          </a:p>
        </p:txBody>
      </p:sp>
      <p:sp>
        <p:nvSpPr>
          <p:cNvPr id="26" name="Подзаголовок 25"/>
          <p:cNvSpPr>
            <a:spLocks noGrp="1"/>
          </p:cNvSpPr>
          <p:nvPr>
            <p:ph type="subTitle" idx="6"/>
          </p:nvPr>
        </p:nvSpPr>
        <p:spPr>
          <a:xfrm>
            <a:off x="428596" y="1071552"/>
            <a:ext cx="8215370" cy="3376847"/>
          </a:xfrm>
        </p:spPr>
        <p:txBody>
          <a:bodyPr/>
          <a:lstStyle/>
          <a:p>
            <a:r>
              <a:rPr lang="ru-RU" dirty="0" smtClean="0">
                <a:latin typeface="Bahnschrift SemiLight" pitchFamily="34" charset="0"/>
              </a:rPr>
              <a:t>Стресс – это естественная реакция организма на любые требования или изменения, вызывающие напряжение и адаптацию. Он возникает, когда человек сталкивается с ситуацией, которая воспринимается им как угрожающая или сложная. </a:t>
            </a:r>
            <a:endParaRPr lang="ru-RU" dirty="0" smtClean="0">
              <a:latin typeface="Bahnschrift SemiLight" pitchFamily="34" charset="0"/>
            </a:endParaRPr>
          </a:p>
          <a:p>
            <a:endParaRPr lang="ru-RU" dirty="0" smtClean="0">
              <a:latin typeface="Bahnschrift SemiLight" pitchFamily="34" charset="0"/>
            </a:endParaRPr>
          </a:p>
          <a:p>
            <a:r>
              <a:rPr lang="ru-RU" dirty="0" smtClean="0">
                <a:latin typeface="Bahnschrift SemiLight" pitchFamily="34" charset="0"/>
              </a:rPr>
              <a:t>Существует несколько видов стресса, которые различаются по своим характеристикам и последствиям</a:t>
            </a:r>
            <a:r>
              <a:rPr lang="ru-RU" dirty="0" smtClean="0">
                <a:latin typeface="Bahnschrift SemiLight" pitchFamily="34" charset="0"/>
              </a:rPr>
              <a:t>.</a:t>
            </a:r>
          </a:p>
          <a:p>
            <a:endParaRPr lang="ru-RU" dirty="0" smtClean="0">
              <a:latin typeface="Bahnschrift SemiLight" pitchFamily="34" charset="0"/>
            </a:endParaRP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1. </a:t>
            </a:r>
            <a:r>
              <a:rPr lang="ru-RU" dirty="0" err="1" smtClean="0">
                <a:latin typeface="Bahnschrift SemiLight" pitchFamily="34" charset="0"/>
              </a:rPr>
              <a:t>Эустресс</a:t>
            </a:r>
            <a:r>
              <a:rPr lang="ru-RU" dirty="0" smtClean="0">
                <a:latin typeface="Bahnschrift SemiLight" pitchFamily="34" charset="0"/>
              </a:rPr>
              <a:t> (Положительный стресс)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2</a:t>
            </a:r>
            <a:r>
              <a:rPr lang="ru-RU" dirty="0" smtClean="0">
                <a:latin typeface="Bahnschrift SemiLight" pitchFamily="34" charset="0"/>
              </a:rPr>
              <a:t>. </a:t>
            </a:r>
            <a:r>
              <a:rPr lang="ru-RU" dirty="0" err="1" smtClean="0">
                <a:latin typeface="Bahnschrift SemiLight" pitchFamily="34" charset="0"/>
              </a:rPr>
              <a:t>Дистресс</a:t>
            </a:r>
            <a:r>
              <a:rPr lang="ru-RU" dirty="0" smtClean="0">
                <a:latin typeface="Bahnschrift SemiLight" pitchFamily="34" charset="0"/>
              </a:rPr>
              <a:t> (Отрицательный стресс)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3</a:t>
            </a:r>
            <a:r>
              <a:rPr lang="ru-RU" dirty="0" smtClean="0">
                <a:latin typeface="Bahnschrift SemiLight" pitchFamily="34" charset="0"/>
              </a:rPr>
              <a:t>. Острый стресс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4</a:t>
            </a:r>
            <a:r>
              <a:rPr lang="ru-RU" dirty="0" smtClean="0">
                <a:latin typeface="Bahnschrift SemiLight" pitchFamily="34" charset="0"/>
              </a:rPr>
              <a:t>. Хронический стресс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5</a:t>
            </a:r>
            <a:r>
              <a:rPr lang="ru-RU" dirty="0" smtClean="0">
                <a:latin typeface="Bahnschrift SemiLight" pitchFamily="34" charset="0"/>
              </a:rPr>
              <a:t>. Физиологический </a:t>
            </a:r>
            <a:r>
              <a:rPr lang="ru-RU" dirty="0" smtClean="0">
                <a:latin typeface="Bahnschrift SemiLight" pitchFamily="34" charset="0"/>
              </a:rPr>
              <a:t>стресс</a:t>
            </a:r>
            <a:r>
              <a:rPr lang="ru-RU" dirty="0" smtClean="0">
                <a:latin typeface="Bahnschrift SemiLight" pitchFamily="34" charset="0"/>
              </a:rPr>
              <a:t> 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6. Психологический стресс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7</a:t>
            </a:r>
            <a:r>
              <a:rPr lang="ru-RU" dirty="0" smtClean="0">
                <a:latin typeface="Bahnschrift SemiLight" pitchFamily="34" charset="0"/>
              </a:rPr>
              <a:t>. Рабочий стресс</a:t>
            </a:r>
          </a:p>
          <a:p>
            <a:pPr marL="801688" indent="719138"/>
            <a:r>
              <a:rPr lang="ru-RU" dirty="0" smtClean="0">
                <a:latin typeface="Bahnschrift SemiLight" pitchFamily="34" charset="0"/>
              </a:rPr>
              <a:t>8</a:t>
            </a:r>
            <a:r>
              <a:rPr lang="ru-RU" dirty="0" smtClean="0">
                <a:latin typeface="Bahnschrift SemiLight" pitchFamily="34" charset="0"/>
              </a:rPr>
              <a:t>. </a:t>
            </a:r>
            <a:r>
              <a:rPr lang="ru-RU" dirty="0" smtClean="0">
                <a:latin typeface="Bahnschrift SemiLight" pitchFamily="34" charset="0"/>
              </a:rPr>
              <a:t>Экзаменационный </a:t>
            </a:r>
            <a:r>
              <a:rPr lang="ru-RU" dirty="0" smtClean="0">
                <a:latin typeface="Bahnschrift SemiLight" pitchFamily="34" charset="0"/>
              </a:rPr>
              <a:t>стресс</a:t>
            </a:r>
            <a:endParaRPr lang="ru-RU" dirty="0">
              <a:latin typeface="Bahnschrift Semi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39"/>
          <p:cNvGrpSpPr/>
          <p:nvPr/>
        </p:nvGrpSpPr>
        <p:grpSpPr>
          <a:xfrm>
            <a:off x="3684011" y="687300"/>
            <a:ext cx="5459988" cy="4456200"/>
            <a:chOff x="3684011" y="687300"/>
            <a:chExt cx="5459988" cy="4456200"/>
          </a:xfrm>
        </p:grpSpPr>
        <p:grpSp>
          <p:nvGrpSpPr>
            <p:cNvPr id="471" name="Google Shape;471;p39"/>
            <p:cNvGrpSpPr/>
            <p:nvPr/>
          </p:nvGrpSpPr>
          <p:grpSpPr>
            <a:xfrm>
              <a:off x="5079436" y="2081069"/>
              <a:ext cx="4007865" cy="2250112"/>
              <a:chOff x="4582907" y="2021475"/>
              <a:chExt cx="5035006" cy="2826774"/>
            </a:xfrm>
          </p:grpSpPr>
          <p:grpSp>
            <p:nvGrpSpPr>
              <p:cNvPr id="472" name="Google Shape;472;p39"/>
              <p:cNvGrpSpPr/>
              <p:nvPr/>
            </p:nvGrpSpPr>
            <p:grpSpPr>
              <a:xfrm>
                <a:off x="4582907" y="2021475"/>
                <a:ext cx="2374269" cy="2826774"/>
                <a:chOff x="4474282" y="2021475"/>
                <a:chExt cx="2374269" cy="2826774"/>
              </a:xfrm>
            </p:grpSpPr>
            <p:pic>
              <p:nvPicPr>
                <p:cNvPr id="473" name="Google Shape;473;p3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3">
                  <a:off x="5361351" y="2021476"/>
                  <a:ext cx="1487200" cy="2485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4" name="Google Shape;474;p3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1180187">
                  <a:off x="4781701" y="2664438"/>
                  <a:ext cx="1219551" cy="20380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75" name="Google Shape;475;p39"/>
              <p:cNvGrpSpPr/>
              <p:nvPr/>
            </p:nvGrpSpPr>
            <p:grpSpPr>
              <a:xfrm flipH="1">
                <a:off x="7243644" y="2021475"/>
                <a:ext cx="2374269" cy="2826774"/>
                <a:chOff x="4474282" y="2021475"/>
                <a:chExt cx="2374269" cy="2826774"/>
              </a:xfrm>
            </p:grpSpPr>
            <p:pic>
              <p:nvPicPr>
                <p:cNvPr id="476" name="Google Shape;476;p3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3">
                  <a:off x="5361351" y="2021476"/>
                  <a:ext cx="1487200" cy="2485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7" name="Google Shape;477;p3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1180187">
                  <a:off x="4781701" y="2664438"/>
                  <a:ext cx="1219551" cy="20380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478" name="Google Shape;478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6400600" y="687300"/>
              <a:ext cx="1946025" cy="4348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97400" y="2658000"/>
              <a:ext cx="5046599" cy="248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684011" y="3481665"/>
              <a:ext cx="1109226" cy="230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3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727271">
              <a:off x="5104725" y="1440755"/>
              <a:ext cx="367226" cy="28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574776" y="1603024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3" name="Google Shape;483;p39"/>
          <p:cNvSpPr txBox="1">
            <a:spLocks noGrp="1"/>
          </p:cNvSpPr>
          <p:nvPr>
            <p:ph type="title"/>
          </p:nvPr>
        </p:nvSpPr>
        <p:spPr>
          <a:xfrm>
            <a:off x="428596" y="428610"/>
            <a:ext cx="5073221" cy="85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600" b="1" dirty="0" smtClean="0">
                <a:latin typeface="Bahnschrift SemiLight" pitchFamily="34" charset="0"/>
              </a:rPr>
              <a:t>Причины стресса</a:t>
            </a:r>
            <a:endParaRPr sz="3600">
              <a:latin typeface="Bahnschrift SemiLight" pitchFamily="34" charset="0"/>
            </a:endParaRPr>
          </a:p>
        </p:txBody>
      </p:sp>
      <p:sp>
        <p:nvSpPr>
          <p:cNvPr id="485" name="Google Shape;485;p39"/>
          <p:cNvSpPr txBox="1">
            <a:spLocks noGrp="1"/>
          </p:cNvSpPr>
          <p:nvPr>
            <p:ph type="subTitle" idx="1"/>
          </p:nvPr>
        </p:nvSpPr>
        <p:spPr>
          <a:xfrm>
            <a:off x="428596" y="1285866"/>
            <a:ext cx="4430280" cy="2409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400" dirty="0" smtClean="0">
                <a:latin typeface="Bahnschrift SemiLight" pitchFamily="34" charset="0"/>
              </a:rPr>
              <a:t>Одним </a:t>
            </a:r>
            <a:r>
              <a:rPr lang="ru-RU" sz="1400" dirty="0" smtClean="0">
                <a:latin typeface="Bahnschrift SemiLight" pitchFamily="34" charset="0"/>
              </a:rPr>
              <a:t>из ключевых факторов является учебная нагрузка, которая включает в себя многочисленные домашние задания, контрольные работы, экзамены и другие академические </a:t>
            </a:r>
            <a:r>
              <a:rPr lang="ru-RU" sz="1400" dirty="0" smtClean="0">
                <a:latin typeface="Bahnschrift SemiLight" pitchFamily="34" charset="0"/>
              </a:rPr>
              <a:t>обязательства</a:t>
            </a:r>
          </a:p>
          <a:p>
            <a:pPr marL="0" lvl="0" indent="0"/>
            <a:endParaRPr lang="ru-RU" sz="1400" dirty="0" smtClean="0">
              <a:latin typeface="Bahnschrift SemiLight" pitchFamily="34" charset="0"/>
            </a:endParaRPr>
          </a:p>
          <a:p>
            <a:pPr marL="0" lvl="0" indent="0"/>
            <a:endParaRPr lang="ru-RU" sz="1400" dirty="0" smtClean="0">
              <a:latin typeface="Bahnschrift SemiLight" pitchFamily="34" charset="0"/>
            </a:endParaRPr>
          </a:p>
          <a:p>
            <a:pPr marL="0" lvl="0" indent="0"/>
            <a:r>
              <a:rPr lang="ru-RU" sz="1400" dirty="0" smtClean="0">
                <a:latin typeface="Bahnschrift SemiLight" pitchFamily="34" charset="0"/>
              </a:rPr>
              <a:t>Взаимоотношения с одноклассниками, стремление найти свое место в коллективе, а также возможные конфликты и </a:t>
            </a:r>
            <a:r>
              <a:rPr lang="ru-RU" sz="1400" dirty="0" err="1" smtClean="0">
                <a:latin typeface="Bahnschrift SemiLight" pitchFamily="34" charset="0"/>
              </a:rPr>
              <a:t>буллинг</a:t>
            </a:r>
            <a:r>
              <a:rPr lang="ru-RU" sz="1400" dirty="0" smtClean="0">
                <a:latin typeface="Bahnschrift SemiLight" pitchFamily="34" charset="0"/>
              </a:rPr>
              <a:t> могут стать источником сильного напряжения. </a:t>
            </a:r>
            <a:endParaRPr lang="ru-RU" sz="1400" dirty="0" smtClean="0">
              <a:latin typeface="Bahnschrift SemiLight" pitchFamily="34" charset="0"/>
            </a:endParaRPr>
          </a:p>
          <a:p>
            <a:pPr marL="0" lvl="0" indent="0"/>
            <a:endParaRPr>
              <a:latin typeface="Bahnschrift SemiLight" pitchFamily="34" charset="0"/>
            </a:endParaRPr>
          </a:p>
        </p:txBody>
      </p:sp>
      <p:pic>
        <p:nvPicPr>
          <p:cNvPr id="486" name="Google Shape;486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61592" y="1603030"/>
            <a:ext cx="373200" cy="3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0"/>
          <p:cNvSpPr txBox="1">
            <a:spLocks noGrp="1"/>
          </p:cNvSpPr>
          <p:nvPr>
            <p:ph type="title"/>
          </p:nvPr>
        </p:nvSpPr>
        <p:spPr>
          <a:xfrm>
            <a:off x="857224" y="428610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b="1" dirty="0" smtClean="0">
                <a:latin typeface="Bahnschrift SemiLight" pitchFamily="34" charset="0"/>
              </a:rPr>
              <a:t>П</a:t>
            </a:r>
            <a:r>
              <a:rPr lang="ru-RU" b="1" dirty="0" smtClean="0">
                <a:latin typeface="Bahnschrift SemiLight" pitchFamily="34" charset="0"/>
              </a:rPr>
              <a:t>оследствия </a:t>
            </a:r>
            <a:r>
              <a:rPr lang="ru-RU" b="1" dirty="0" smtClean="0">
                <a:latin typeface="Bahnschrift SemiLight" pitchFamily="34" charset="0"/>
              </a:rPr>
              <a:t>стресса</a:t>
            </a:r>
            <a:endParaRPr b="1">
              <a:latin typeface="Bahnschrift SemiLight" pitchFamily="34" charset="0"/>
            </a:endParaRPr>
          </a:p>
        </p:txBody>
      </p:sp>
      <p:sp>
        <p:nvSpPr>
          <p:cNvPr id="492" name="Google Shape;492;p40"/>
          <p:cNvSpPr txBox="1">
            <a:spLocks noGrp="1"/>
          </p:cNvSpPr>
          <p:nvPr>
            <p:ph type="subTitle" idx="1"/>
          </p:nvPr>
        </p:nvSpPr>
        <p:spPr>
          <a:xfrm>
            <a:off x="4832078" y="2093750"/>
            <a:ext cx="3669012" cy="19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1" dirty="0" smtClean="0">
                <a:latin typeface="Bahnschrift SemiLight" pitchFamily="34" charset="0"/>
              </a:rPr>
              <a:t>Социальные последствия стресса</a:t>
            </a:r>
          </a:p>
          <a:p>
            <a:pPr algn="ctr"/>
            <a:r>
              <a:rPr lang="ru-RU" dirty="0" smtClean="0">
                <a:latin typeface="Bahnschrift SemiLight" pitchFamily="34" charset="0"/>
              </a:rPr>
              <a:t>Стресс оказывает значительное влияние на человека и его социальное окружение</a:t>
            </a:r>
            <a:r>
              <a:rPr lang="ru-RU" dirty="0" smtClean="0">
                <a:latin typeface="Bahnschrift SemiLight" pitchFamily="34" charset="0"/>
              </a:rPr>
              <a:t>.</a:t>
            </a:r>
            <a:endParaRPr lang="ru-RU" dirty="0" smtClean="0">
              <a:latin typeface="Bahnschrift SemiLight" pitchFamily="34" charset="0"/>
            </a:endParaRPr>
          </a:p>
          <a:p>
            <a:pPr algn="ctr"/>
            <a:endParaRPr lang="ru-RU" dirty="0" smtClean="0">
              <a:latin typeface="Bahnschrift SemiLight" pitchFamily="34" charset="0"/>
            </a:endParaRPr>
          </a:p>
          <a:p>
            <a:pPr algn="ctr"/>
            <a:r>
              <a:rPr lang="ru-RU" dirty="0" smtClean="0">
                <a:latin typeface="Bahnschrift SemiLight" pitchFamily="34" charset="0"/>
              </a:rPr>
              <a:t>Часто </a:t>
            </a:r>
            <a:r>
              <a:rPr lang="ru-RU" dirty="0" smtClean="0">
                <a:latin typeface="Bahnschrift SemiLight" pitchFamily="34" charset="0"/>
              </a:rPr>
              <a:t>стресс сопровождается физическими симптомами, такими как головные боли, усталость или проблемы со сном. </a:t>
            </a:r>
            <a:endParaRPr>
              <a:latin typeface="Bahnschrift SemiLight" pitchFamily="34" charset="0"/>
            </a:endParaRPr>
          </a:p>
        </p:txBody>
      </p:sp>
      <p:sp>
        <p:nvSpPr>
          <p:cNvPr id="493" name="Google Shape;493;p40"/>
          <p:cNvSpPr txBox="1">
            <a:spLocks noGrp="1"/>
          </p:cNvSpPr>
          <p:nvPr>
            <p:ph type="subTitle" idx="2"/>
          </p:nvPr>
        </p:nvSpPr>
        <p:spPr>
          <a:xfrm>
            <a:off x="1057900" y="2093750"/>
            <a:ext cx="3585538" cy="19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sz="1600" b="1" dirty="0" smtClean="0">
                <a:latin typeface="Bahnschrift SemiLight" pitchFamily="34" charset="0"/>
              </a:rPr>
              <a:t>Психологические </a:t>
            </a:r>
            <a:r>
              <a:rPr lang="ru-RU" sz="1600" b="1" dirty="0" smtClean="0">
                <a:latin typeface="Bahnschrift SemiLight" pitchFamily="34" charset="0"/>
              </a:rPr>
              <a:t>последствия</a:t>
            </a:r>
            <a:endParaRPr lang="ru-RU" b="1" dirty="0" smtClean="0">
              <a:latin typeface="Bahnschrift SemiLight" pitchFamily="34" charset="0"/>
            </a:endParaRPr>
          </a:p>
          <a:p>
            <a:pPr marL="182563" indent="-50800" algn="ctr">
              <a:tabLst>
                <a:tab pos="182563" algn="l"/>
              </a:tabLst>
            </a:pPr>
            <a:r>
              <a:rPr lang="ru-RU" dirty="0" smtClean="0">
                <a:latin typeface="Bahnschrift SemiLight" pitchFamily="34" charset="0"/>
              </a:rPr>
              <a:t>Одним из основных последствий является развитие тревожных расстройств</a:t>
            </a:r>
            <a:r>
              <a:rPr lang="ru-RU" dirty="0" smtClean="0">
                <a:latin typeface="Bahnschrift SemiLight" pitchFamily="34" charset="0"/>
              </a:rPr>
              <a:t>.</a:t>
            </a:r>
          </a:p>
          <a:p>
            <a:pPr marL="182563" indent="-50800" algn="ctr">
              <a:tabLst>
                <a:tab pos="182563" algn="l"/>
              </a:tabLst>
            </a:pPr>
            <a:endParaRPr lang="ru-RU" dirty="0" smtClean="0">
              <a:latin typeface="Bahnschrift SemiLight" pitchFamily="34" charset="0"/>
            </a:endParaRPr>
          </a:p>
          <a:p>
            <a:pPr marL="182563" indent="-50800" algn="ctr">
              <a:tabLst>
                <a:tab pos="182563" algn="l"/>
              </a:tabLst>
            </a:pPr>
            <a:r>
              <a:rPr lang="ru-RU" dirty="0" smtClean="0">
                <a:latin typeface="Bahnschrift SemiLight" pitchFamily="34" charset="0"/>
              </a:rPr>
              <a:t>Депрессия также является распространенным последствием длительного стресса.</a:t>
            </a:r>
            <a:endParaRPr>
              <a:latin typeface="Bahnschrift SemiLight" pitchFamily="34" charset="0"/>
            </a:endParaRPr>
          </a:p>
        </p:txBody>
      </p:sp>
      <p:pic>
        <p:nvPicPr>
          <p:cNvPr id="494" name="Google Shape;4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89">
            <a:off x="6143645" y="1500191"/>
            <a:ext cx="409251" cy="317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298" y="1500180"/>
            <a:ext cx="373200" cy="3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55"/>
          <p:cNvGrpSpPr/>
          <p:nvPr/>
        </p:nvGrpSpPr>
        <p:grpSpPr>
          <a:xfrm>
            <a:off x="349900" y="814295"/>
            <a:ext cx="7767904" cy="2004635"/>
            <a:chOff x="349900" y="814295"/>
            <a:chExt cx="7767904" cy="2004635"/>
          </a:xfrm>
        </p:grpSpPr>
        <p:grpSp>
          <p:nvGrpSpPr>
            <p:cNvPr id="714" name="Google Shape;714;p55"/>
            <p:cNvGrpSpPr/>
            <p:nvPr/>
          </p:nvGrpSpPr>
          <p:grpSpPr>
            <a:xfrm>
              <a:off x="349900" y="1516278"/>
              <a:ext cx="1686803" cy="1302652"/>
              <a:chOff x="349900" y="1516278"/>
              <a:chExt cx="1686803" cy="1302652"/>
            </a:xfrm>
          </p:grpSpPr>
          <p:pic>
            <p:nvPicPr>
              <p:cNvPr id="715" name="Google Shape;715;p5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49900" y="1516278"/>
                <a:ext cx="1686803" cy="35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6" name="Google Shape;716;p5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615871" y="2445730"/>
                <a:ext cx="373200" cy="373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18" name="Google Shape;718;p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711554">
              <a:off x="7872904" y="814295"/>
              <a:ext cx="244900" cy="1867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0" name="Google Shape;720;p55"/>
          <p:cNvSpPr txBox="1">
            <a:spLocks noGrp="1"/>
          </p:cNvSpPr>
          <p:nvPr>
            <p:ph type="title"/>
          </p:nvPr>
        </p:nvSpPr>
        <p:spPr>
          <a:xfrm>
            <a:off x="1857356" y="428610"/>
            <a:ext cx="6143668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 smtClean="0">
                <a:solidFill>
                  <a:schemeClr val="tx1"/>
                </a:solidFill>
                <a:latin typeface="Bahnschrift SemiLight" pitchFamily="34" charset="0"/>
              </a:rPr>
              <a:t>Методы борьбы со </a:t>
            </a:r>
            <a:r>
              <a:rPr lang="ru-RU" sz="3200" b="1" dirty="0" smtClean="0">
                <a:solidFill>
                  <a:schemeClr val="tx1"/>
                </a:solidFill>
                <a:latin typeface="Bahnschrift SemiLight" pitchFamily="34" charset="0"/>
              </a:rPr>
              <a:t>стрессом</a:t>
            </a:r>
            <a:endParaRPr sz="3200">
              <a:solidFill>
                <a:schemeClr val="tx1"/>
              </a:solidFill>
              <a:latin typeface="Bahnschrift SemiLight" pitchFamily="34" charset="0"/>
            </a:endParaRPr>
          </a:p>
        </p:txBody>
      </p:sp>
      <p:sp>
        <p:nvSpPr>
          <p:cNvPr id="14" name="Подзаголовок 13"/>
          <p:cNvSpPr>
            <a:spLocks noGrp="1"/>
          </p:cNvSpPr>
          <p:nvPr>
            <p:ph type="subTitle" idx="1"/>
          </p:nvPr>
        </p:nvSpPr>
        <p:spPr>
          <a:xfrm>
            <a:off x="2285984" y="1428742"/>
            <a:ext cx="5491672" cy="3311413"/>
          </a:xfrm>
        </p:spPr>
        <p:txBody>
          <a:bodyPr/>
          <a:lstStyle/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Регулярная физическая </a:t>
            </a:r>
            <a:r>
              <a:rPr lang="ru-RU" dirty="0" smtClean="0">
                <a:latin typeface="Bahnschrift SemiLight" pitchFamily="34" charset="0"/>
              </a:rPr>
              <a:t>активность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Медитация </a:t>
            </a:r>
            <a:r>
              <a:rPr lang="ru-RU" dirty="0" smtClean="0">
                <a:latin typeface="Bahnschrift SemiLight" pitchFamily="34" charset="0"/>
              </a:rPr>
              <a:t>и дыхательные </a:t>
            </a:r>
            <a:r>
              <a:rPr lang="ru-RU" dirty="0" smtClean="0">
                <a:latin typeface="Bahnschrift SemiLight" pitchFamily="34" charset="0"/>
              </a:rPr>
              <a:t>упражнения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Йога </a:t>
            </a:r>
            <a:r>
              <a:rPr lang="ru-RU" dirty="0" smtClean="0">
                <a:latin typeface="Bahnschrift SemiLight" pitchFamily="34" charset="0"/>
              </a:rPr>
              <a:t>и </a:t>
            </a:r>
            <a:r>
              <a:rPr lang="ru-RU" dirty="0" err="1" smtClean="0">
                <a:latin typeface="Bahnschrift SemiLight" pitchFamily="34" charset="0"/>
              </a:rPr>
              <a:t>пилатес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Правильное питание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Режим </a:t>
            </a:r>
            <a:r>
              <a:rPr lang="ru-RU" dirty="0" smtClean="0">
                <a:latin typeface="Bahnschrift SemiLight" pitchFamily="34" charset="0"/>
              </a:rPr>
              <a:t>сна и </a:t>
            </a:r>
            <a:r>
              <a:rPr lang="ru-RU" dirty="0" smtClean="0">
                <a:latin typeface="Bahnschrift SemiLight" pitchFamily="34" charset="0"/>
              </a:rPr>
              <a:t>отдыха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Творческая деятельность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Общение </a:t>
            </a:r>
            <a:r>
              <a:rPr lang="ru-RU" dirty="0" smtClean="0">
                <a:latin typeface="Bahnschrift SemiLight" pitchFamily="34" charset="0"/>
              </a:rPr>
              <a:t>с </a:t>
            </a:r>
            <a:r>
              <a:rPr lang="ru-RU" dirty="0" smtClean="0">
                <a:latin typeface="Bahnschrift SemiLight" pitchFamily="34" charset="0"/>
              </a:rPr>
              <a:t>близкими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Природа </a:t>
            </a:r>
            <a:r>
              <a:rPr lang="ru-RU" dirty="0" smtClean="0">
                <a:latin typeface="Bahnschrift SemiLight" pitchFamily="34" charset="0"/>
              </a:rPr>
              <a:t>и свежий </a:t>
            </a:r>
            <a:r>
              <a:rPr lang="ru-RU" dirty="0" smtClean="0">
                <a:latin typeface="Bahnschrift SemiLight" pitchFamily="34" charset="0"/>
              </a:rPr>
              <a:t>воздух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Позитивное мышление</a:t>
            </a:r>
            <a:endParaRPr lang="ru-RU" dirty="0" smtClean="0">
              <a:latin typeface="Bahnschrift SemiLight" pitchFamily="34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ru-RU" dirty="0" smtClean="0">
                <a:latin typeface="Bahnschrift SemiLight" pitchFamily="34" charset="0"/>
              </a:rPr>
              <a:t>Профессиональная помощь</a:t>
            </a:r>
            <a:endParaRPr lang="ru-RU" dirty="0" smtClean="0">
              <a:latin typeface="Bahnschrift SemiLight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"/>
          <p:cNvSpPr txBox="1">
            <a:spLocks noGrp="1"/>
          </p:cNvSpPr>
          <p:nvPr>
            <p:ph type="title"/>
          </p:nvPr>
        </p:nvSpPr>
        <p:spPr>
          <a:xfrm>
            <a:off x="714348" y="500048"/>
            <a:ext cx="77040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 smtClean="0">
                <a:latin typeface="Bahnschrift SemiLight" pitchFamily="34" charset="0"/>
              </a:rPr>
              <a:t>Заключение</a:t>
            </a:r>
            <a:r>
              <a:rPr lang="ru-RU" b="1" dirty="0" smtClean="0"/>
              <a:t/>
            </a:r>
            <a:br>
              <a:rPr lang="ru-RU" b="1" dirty="0" smtClean="0"/>
            </a:br>
            <a:endParaRPr/>
          </a:p>
        </p:txBody>
      </p:sp>
      <p:sp>
        <p:nvSpPr>
          <p:cNvPr id="512" name="Google Shape;512;p42"/>
          <p:cNvSpPr txBox="1">
            <a:spLocks noGrp="1"/>
          </p:cNvSpPr>
          <p:nvPr>
            <p:ph type="subTitle" idx="4294967295"/>
          </p:nvPr>
        </p:nvSpPr>
        <p:spPr>
          <a:xfrm>
            <a:off x="785786" y="1428742"/>
            <a:ext cx="77040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ru-RU" sz="1600" dirty="0" smtClean="0">
                <a:latin typeface="Bahnschrift SemiLight" pitchFamily="34" charset="0"/>
              </a:rPr>
              <a:t>На основании проведенного исследования можно сделать вывод, что стресс является важной проблемой, особенно для школьников, учитывая высокую учебную нагрузку и социальные факторы, влияющие на их жизнь. </a:t>
            </a:r>
            <a:endParaRPr lang="ru-RU" sz="1600" dirty="0" smtClean="0">
              <a:latin typeface="Bahnschrift SemiLight" pitchFamily="34" charset="0"/>
            </a:endParaRPr>
          </a:p>
          <a:p>
            <a:pPr marL="0" indent="0" algn="ctr">
              <a:buNone/>
            </a:pPr>
            <a:endParaRPr lang="ru-RU" sz="1600" dirty="0" smtClean="0">
              <a:latin typeface="Bahnschrift SemiLight" pitchFamily="34" charset="0"/>
            </a:endParaRPr>
          </a:p>
          <a:p>
            <a:pPr marL="0" indent="0" algn="ctr">
              <a:buNone/>
            </a:pPr>
            <a:r>
              <a:rPr lang="ru-RU" sz="1600" dirty="0" smtClean="0">
                <a:latin typeface="Bahnschrift SemiLight" pitchFamily="34" charset="0"/>
              </a:rPr>
              <a:t>Негативные </a:t>
            </a:r>
            <a:r>
              <a:rPr lang="ru-RU" sz="1600" dirty="0" smtClean="0">
                <a:latin typeface="Bahnschrift SemiLight" pitchFamily="34" charset="0"/>
              </a:rPr>
              <a:t>последствия стресса разнообразны и затрагивают как физическое, так и психическое здоровье, что может привести к ухудшению успеваемости, нарушению сна, снижению концентрации и другим серьезным проблемам.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8"/>
          <p:cNvGrpSpPr/>
          <p:nvPr/>
        </p:nvGrpSpPr>
        <p:grpSpPr>
          <a:xfrm>
            <a:off x="662326" y="625830"/>
            <a:ext cx="7867049" cy="4100598"/>
            <a:chOff x="662326" y="625830"/>
            <a:chExt cx="7867049" cy="4100598"/>
          </a:xfrm>
        </p:grpSpPr>
        <p:pic>
          <p:nvPicPr>
            <p:cNvPr id="455" name="Google Shape;455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19420" y="625830"/>
              <a:ext cx="2471824" cy="51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3116836" y="4375928"/>
              <a:ext cx="1686803" cy="35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727271">
              <a:off x="1189750" y="1640330"/>
              <a:ext cx="367226" cy="28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771746">
              <a:off x="6294717" y="860970"/>
              <a:ext cx="244901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2326" y="2945124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92437">
              <a:off x="5916967" y="4385995"/>
              <a:ext cx="244901" cy="186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15226" y="2886012"/>
              <a:ext cx="257099" cy="257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290615">
              <a:off x="8226470" y="1557907"/>
              <a:ext cx="257459" cy="2447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299">
              <a:off x="1525545" y="4306356"/>
              <a:ext cx="257459" cy="2447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4" name="Google Shape;464;p38"/>
          <p:cNvSpPr txBox="1">
            <a:spLocks noGrp="1"/>
          </p:cNvSpPr>
          <p:nvPr>
            <p:ph type="title"/>
          </p:nvPr>
        </p:nvSpPr>
        <p:spPr>
          <a:xfrm>
            <a:off x="1142976" y="642924"/>
            <a:ext cx="6929486" cy="32226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1" dirty="0" smtClean="0">
                <a:latin typeface="Bahnschrift SemiLight" pitchFamily="34" charset="0"/>
              </a:rPr>
              <a:t>Спасибо за внимание!</a:t>
            </a:r>
            <a:endParaRPr sz="7200" b="1">
              <a:latin typeface="Bahnschrift Semi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ntal Health and Stress Management - Health - 6th Grade by Slidesgo">
  <a:themeElements>
    <a:clrScheme name="Simple Light">
      <a:dk1>
        <a:srgbClr val="181413"/>
      </a:dk1>
      <a:lt1>
        <a:srgbClr val="FBF9F7"/>
      </a:lt1>
      <a:dk2>
        <a:srgbClr val="FEAF9F"/>
      </a:dk2>
      <a:lt2>
        <a:srgbClr val="AD3C15"/>
      </a:lt2>
      <a:accent1>
        <a:srgbClr val="EEBF65"/>
      </a:accent1>
      <a:accent2>
        <a:srgbClr val="CCDBED"/>
      </a:accent2>
      <a:accent3>
        <a:srgbClr val="9EAFA7"/>
      </a:accent3>
      <a:accent4>
        <a:srgbClr val="EEE5DD"/>
      </a:accent4>
      <a:accent5>
        <a:srgbClr val="FFFFFF"/>
      </a:accent5>
      <a:accent6>
        <a:srgbClr val="FFFFFF"/>
      </a:accent6>
      <a:hlink>
        <a:srgbClr val="2F28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369</Words>
  <PresentationFormat>Экран (16:9)</PresentationFormat>
  <Paragraphs>57</Paragraphs>
  <Slides>8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Mental Health and Stress Management - Health - 6th Grade by Slidesgo</vt:lpstr>
      <vt:lpstr>Стресс: негативные последствия и способы совладания</vt:lpstr>
      <vt:lpstr>Введение </vt:lpstr>
      <vt:lpstr>Что такое стресс</vt:lpstr>
      <vt:lpstr>Причины стресса</vt:lpstr>
      <vt:lpstr>Последствия стресса</vt:lpstr>
      <vt:lpstr>Методы борьбы со стрессом</vt:lpstr>
      <vt:lpstr>Заключение 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and Stress Management - Health</dc:title>
  <cp:lastModifiedBy>Admin</cp:lastModifiedBy>
  <cp:revision>5</cp:revision>
  <dcterms:modified xsi:type="dcterms:W3CDTF">2024-12-09T19:54:20Z</dcterms:modified>
</cp:coreProperties>
</file>
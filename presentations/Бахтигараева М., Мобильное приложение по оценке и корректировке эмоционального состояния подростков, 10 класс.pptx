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5" r:id="rId10"/>
    <p:sldId id="266" r:id="rId11"/>
    <p:sldId id="267" r:id="rId12"/>
    <p:sldId id="268" r:id="rId13"/>
    <p:sldId id="269" r:id="rId14"/>
    <p:sldId id="270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20" y="132"/>
      </p:cViewPr>
      <p:guideLst>
        <p:guide orient="horz" pos="2160"/>
        <p:guide pos="3863"/>
        <p:guide pos="3940"/>
        <p:guide orient="horz" pos="2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FC8D0-9E95-4A51-B8FE-EBFAE721D6C1}" type="datetimeFigureOut">
              <a:rPr lang="ru-RU" smtClean="0"/>
              <a:t>11.12.2024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E8EB8-3D50-4AA6-9AD6-D4F89C34B9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23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F1A6-EA9E-4A2E-8041-D1BA3C873802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82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CBEA3-6F32-4F02-BCA6-7B23C39DB767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23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8456-56F1-42FC-A959-D8B9BAA0A28B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39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5DD02-0F02-4B96-9375-50166DFD4563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47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CB3F-A43C-414C-87C1-9F638C28106B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60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4B8A-E0D0-45BA-B27D-535CBD596361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54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7F70E-0842-4ABE-AF9A-2384FB04ED7F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03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2878252-1589-4573-B9C7-FE69AC745E53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10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1AD5-8FD0-44B9-B495-BC671F996915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77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178D-7E85-4FE4-A1DA-E4859F035005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78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F0BE7-7715-48C6-8B33-89D41057F071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84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E74032-A93D-4087-9191-07C4D322F435}" type="datetime1">
              <a:rPr lang="ru-RU" smtClean="0"/>
              <a:t>11.12.2024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0A27AD-6485-437C-8E45-58DE9329389F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34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90165" y="1398494"/>
            <a:ext cx="8175811" cy="290571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3600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Проектная работа</a:t>
            </a:r>
            <a:br>
              <a:rPr lang="ru-RU" sz="3600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на тему:</a:t>
            </a:r>
            <a:br>
              <a:rPr lang="ru-RU" sz="3600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«Мобильное приложение по оценке и корректировке эмоционального состояния подростков»</a:t>
            </a:r>
            <a:endParaRPr lang="ru-RU" sz="3600" dirty="0">
              <a:solidFill>
                <a:schemeClr val="tx1"/>
              </a:solidFill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511" y="77467"/>
            <a:ext cx="2063302" cy="2063302"/>
          </a:xfrm>
          <a:prstGeom prst="rect">
            <a:avLst/>
          </a:prstGeom>
        </p:spPr>
      </p:pic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489674" y="289988"/>
            <a:ext cx="3000981" cy="2217011"/>
          </a:xfrm>
        </p:spPr>
        <p:txBody>
          <a:bodyPr>
            <a:normAutofit/>
          </a:bodyPr>
          <a:lstStyle/>
          <a:p>
            <a:r>
              <a:rPr lang="ru-RU" cap="none" dirty="0" smtClean="0">
                <a:solidFill>
                  <a:schemeClr val="tx1"/>
                </a:solidFill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ФГБОУ ВО «Московский педагогический государственный университет Лицей МПГУ</a:t>
            </a:r>
            <a:endParaRPr lang="ru-RU" cap="none" dirty="0">
              <a:solidFill>
                <a:schemeClr val="tx1"/>
              </a:solidFill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116" y="4567506"/>
            <a:ext cx="7980356" cy="9754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116" y="5359268"/>
            <a:ext cx="7980356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6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Актуальность, проблема и цель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69864"/>
            <a:ext cx="10058400" cy="3958814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Актуальность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связана с кризисной сутью подросткового возраста, отсутствием доступных и эффективных методов психологической помощи, а также развитием технологий и их распространённостью.</a:t>
            </a:r>
          </a:p>
          <a:p>
            <a:r>
              <a:rPr lang="ru-RU" sz="2400" b="1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Проблемой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является трудность подростков в регуляции своих эмоций, что может привести к негативным последствиям для их здоровья.</a:t>
            </a:r>
          </a:p>
          <a:p>
            <a:r>
              <a:rPr lang="ru-RU" sz="2400" b="1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Целью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является создание мобильного приложения, помогающего отслеживать свои эмоциональные состояния и работать с ними.</a:t>
            </a:r>
          </a:p>
          <a:p>
            <a:r>
              <a:rPr lang="ru-RU" sz="2400" dirty="0" smtClean="0"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 </a:t>
            </a:r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28678"/>
            <a:ext cx="290456" cy="629322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2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63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Задачи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1. Анализ психолого-педагогической литературы.</a:t>
            </a: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2. Раскрытие определений эмоционального состояния и особенностей подросткового возраста.</a:t>
            </a: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3. Создание мобильного приложения с учётом всех ресурсов.</a:t>
            </a: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4. Апробация мобильного приложения.</a:t>
            </a: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5. Анализ и интерпретация результатов.</a:t>
            </a:r>
          </a:p>
          <a:p>
            <a:pPr marL="457200" indent="-457200">
              <a:buAutoNum type="arabicPeriod"/>
            </a:pPr>
            <a:endParaRPr lang="ru-RU" sz="2400" dirty="0" smtClean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185647"/>
            <a:ext cx="268941" cy="672353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3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7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Требуемые характеристики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1. Простой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 понятный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интерфейс.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2. Функциональность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 удобная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навигация.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3. Техническая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эффективность и надёжность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работы.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4. Конфиденциальность.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5. Наличие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эффективных техник по оценке и корректировке эмоционального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состояния.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endParaRPr lang="ru-RU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325497"/>
            <a:ext cx="279698" cy="445626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4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Основные понятия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943" y="1737360"/>
            <a:ext cx="4998720" cy="4372186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Эмоциональное состояние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– сложно психическое явление, которое включает в себя одну или более эмоций</a:t>
            </a:r>
            <a:r>
              <a:rPr lang="ru-RU" sz="2400" dirty="0" smtClean="0"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.</a:t>
            </a:r>
          </a:p>
          <a:p>
            <a:r>
              <a:rPr lang="ru-RU" sz="2400" b="1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Корректировка эмоционального состояния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– процесс изменения текущего эмоционального состояния для достижения оптимального уровня психической адаптации и регуляции поведения</a:t>
            </a:r>
            <a:endParaRPr lang="ru-RU" sz="2400" dirty="0" smtClean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17920"/>
            <a:ext cx="301214" cy="606991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5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5157663" cy="44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3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Мобильное приложение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93701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Б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ыло создано на платформе «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Glide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»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с использованием технологий 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PWA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 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MVP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Доступ к нему предоставляется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по </a:t>
            </a:r>
            <a:r>
              <a:rPr lang="en-US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QR-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коду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или же по ссылке: 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https</a:t>
            </a:r>
            <a:r>
              <a:rPr lang="en-US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://</a:t>
            </a:r>
            <a:r>
              <a:rPr lang="en-US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aacoes.glide.page/dl/245b4e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311972" cy="585475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6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625" y="2715185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0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8585968" cy="1450757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Мобильное приложение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54" y="1846823"/>
            <a:ext cx="2512057" cy="43926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311972" cy="585475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7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02" y="1846823"/>
            <a:ext cx="2514054" cy="439261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847" y="1846823"/>
            <a:ext cx="2532171" cy="439261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48"/>
          <a:stretch/>
        </p:blipFill>
        <p:spPr>
          <a:xfrm>
            <a:off x="9246809" y="1846823"/>
            <a:ext cx="2573246" cy="439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0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Мобильное приложение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311972" cy="585475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8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42" y="1834977"/>
            <a:ext cx="2526729" cy="4393701"/>
          </a:xfrm>
          <a:prstGeom prst="rect">
            <a:avLst/>
          </a:prstGeom>
        </p:spPr>
      </p:pic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37" y="1834976"/>
            <a:ext cx="2220878" cy="4393701"/>
          </a:xfr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281" y="1834975"/>
            <a:ext cx="2292962" cy="439370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61"/>
          <a:stretch/>
        </p:blipFill>
        <p:spPr>
          <a:xfrm>
            <a:off x="8634909" y="1834975"/>
            <a:ext cx="2457235" cy="438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0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3313" y="398033"/>
            <a:ext cx="10058400" cy="1450757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Апробация мобильного приложения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Для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проверки приложения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соответствию требуемым характеристикам были использованы: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опросник «Самооценка эмоциональных состояний» по авторской методике А. Уэссмана и Д. Рикса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опрос на тему технических аспектов мобильного приложения, его влияния на эмоциональную сферу подростков, общего впечатления тестирующих и их предложений для улучшения.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311972" cy="585475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1153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Результаты апробации: эмоциональное состояние подростков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79" y="6239435"/>
            <a:ext cx="573741" cy="585475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10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542" y="1915257"/>
            <a:ext cx="6209759" cy="43241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3" y="1915257"/>
            <a:ext cx="5532799" cy="432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2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8169" y="40223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Результаты апробации: эмоциональное состояние подростков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548640" cy="585475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11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1026" name="Picture 2" descr="Диаграмма ответов в Формах. Вопрос: Чувствуете ли вы, что лучше осознаёте свои эмоции и поведение, чем неделю назад?&#10;. Количество ответов: 11 ответов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6"/>
          <a:stretch/>
        </p:blipFill>
        <p:spPr bwMode="auto">
          <a:xfrm>
            <a:off x="236668" y="2347846"/>
            <a:ext cx="6013585" cy="29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Диаграмма ответов в Формах. Вопрос: Чувствуете ли вы, что лучше управляете своими эмоциями, чем неделю назад?&#10;. Количество ответов: 11 ответов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" r="7466"/>
          <a:stretch/>
        </p:blipFill>
        <p:spPr bwMode="auto">
          <a:xfrm>
            <a:off x="6254751" y="2347846"/>
            <a:ext cx="5815330" cy="29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3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8169" y="40223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Результаты апробации</a:t>
            </a:r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: технические аспекты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79" y="6239435"/>
            <a:ext cx="490519" cy="585475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12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2050" name="Picture 2" descr="Диаграмма ответов в Формах. Вопрос: Насколько вы оцениваете простоту интерфейса?. Количество ответов: 11 ответов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798" y="1836955"/>
            <a:ext cx="9166915" cy="451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88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8169" y="40223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Результаты апробации</a:t>
            </a:r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: технические аспекты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505609" cy="585475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13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4098" name="Picture 2" descr="Диаграмма ответов в Формах. Вопрос: Насколько вы оцениваете удобство навигации в приложении?. Количество ответов: 11 ответов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588" y="1852994"/>
            <a:ext cx="9200824" cy="438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36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8169" y="40223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Результаты апробации</a:t>
            </a:r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: технические аспекты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431209"/>
            <a:ext cx="10058400" cy="4393701"/>
          </a:xfrm>
        </p:spPr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537882" cy="585475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14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pic>
        <p:nvPicPr>
          <p:cNvPr id="3074" name="Picture 2" descr="Диаграмма ответов в Формах. Вопрос: Насколько вы оцениваете техническую эффективность приложения? (Быстрота загрузки/отсутствие технических неполадок)?&#10;. Количество ответов: 11 ответов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586" y="1844915"/>
            <a:ext cx="8971878" cy="449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72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Заключение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Нам удалось:</a:t>
            </a:r>
          </a:p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1. Проанализировать психолого-педагогическую литературу, раскрыть ключевые определения, связанные с эмоциональным состоянием, его регуляцией, определить характеристики подросткового возраста.</a:t>
            </a:r>
          </a:p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2. Создать и апробировать мобильное приложение.</a:t>
            </a:r>
          </a:p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3. Проанализировать результаты и сделать вывод о способности приложения улучшать навыки оценки и корректировки эмоционального состояния подростков.</a:t>
            </a:r>
            <a:endParaRPr lang="ru-RU" sz="24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505609" cy="585476"/>
          </a:xfrm>
        </p:spPr>
        <p:txBody>
          <a:bodyPr/>
          <a:lstStyle/>
          <a:p>
            <a:r>
              <a:rPr lang="ru-RU" sz="2400" dirty="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15</a:t>
            </a:r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25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96458" y="1635162"/>
            <a:ext cx="10059222" cy="3765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1" y="96819"/>
            <a:ext cx="10058400" cy="726141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Список литературы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6457" y="909818"/>
            <a:ext cx="9704221" cy="5168253"/>
          </a:xfrm>
        </p:spPr>
        <p:txBody>
          <a:bodyPr>
            <a:normAutofit fontScale="92500"/>
          </a:bodyPr>
          <a:lstStyle/>
          <a:p>
            <a:pPr lvl="0"/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1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Выготский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, Л.С. Педология подростка: монография. – СПб.: Питер, 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2021.</a:t>
            </a:r>
          </a:p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2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Ильин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, Е.П. Эмоции и чувства: монография. — СПб.: Питер, 2001. </a:t>
            </a:r>
            <a:endParaRPr lang="ru-RU" sz="2400" dirty="0" smtClean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3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Прохоров, А.О. Методики диагностики и измерения психических состояний личности: монография. - М.: ПЕР СЭ, 2004. </a:t>
            </a:r>
            <a:endParaRPr lang="ru-RU" sz="2400" dirty="0" smtClean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4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Саенко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, Ю.В. Регуляция эмоций: тренинги управления чувствами и настроениями: монография. - СПб.: Речь, 2010. </a:t>
            </a:r>
            <a:endParaRPr lang="ru-RU" sz="2400" dirty="0" smtClean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5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Бутузова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, Ю.А. Психологическая сущность эмоционального состояния личности / Ю.А. Бутузова // Омский научный вестник. - 2011. - № 5 (101) – С. 173-175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</a:t>
            </a:r>
          </a:p>
          <a:p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6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 </a:t>
            </a:r>
            <a:r>
              <a:rPr lang="ru-RU" sz="2400" dirty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Новгородцева, А.П. Переживание подростками «чувства взрослости» / А.П.  Новгородцева // Психологическая наука и образование. - 2006. - Том 11. - № 2.  - С. 39–54</a:t>
            </a:r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.</a:t>
            </a:r>
          </a:p>
          <a:p>
            <a:r>
              <a:rPr lang="ru-RU" sz="24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И другие источники.</a:t>
            </a:r>
          </a:p>
          <a:p>
            <a:endParaRPr lang="ru-RU" sz="2400" dirty="0" smtClean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39435"/>
            <a:ext cx="494852" cy="585475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16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" panose="02040503050406030204" pitchFamily="18" charset="0"/>
                <a:ea typeface="Linux Biolinum G" panose="02000503000000000000" pitchFamily="2" charset="0"/>
                <a:cs typeface="Linux Biolinum G" panose="02000503000000000000" pitchFamily="2" charset="0"/>
              </a:rPr>
              <a:t>Спасибо за внимание!</a:t>
            </a:r>
            <a:endParaRPr lang="ru-RU" sz="3600" dirty="0">
              <a:latin typeface="Cambria" panose="02040503050406030204" pitchFamily="18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2400" dirty="0"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155680" y="6207163"/>
            <a:ext cx="527125" cy="617748"/>
          </a:xfrm>
        </p:spPr>
        <p:txBody>
          <a:bodyPr/>
          <a:lstStyle/>
          <a:p>
            <a:fld id="{750A27AD-6485-437C-8E45-58DE9329389F}" type="slidenum">
              <a:rPr lang="ru-RU" sz="2400" smtClean="0">
                <a:solidFill>
                  <a:schemeClr val="tx1"/>
                </a:solidFill>
                <a:latin typeface="Linux Biolinum G" panose="02000503000000000000" pitchFamily="2" charset="0"/>
                <a:ea typeface="Linux Biolinum G" panose="02000503000000000000" pitchFamily="2" charset="0"/>
                <a:cs typeface="Linux Biolinum G" panose="02000503000000000000" pitchFamily="2" charset="0"/>
              </a:rPr>
              <a:t>17</a:t>
            </a:fld>
            <a:endParaRPr lang="ru-RU" sz="2400" dirty="0">
              <a:solidFill>
                <a:schemeClr val="tx1"/>
              </a:solidFill>
              <a:latin typeface="Linux Biolinum G" panose="02000503000000000000" pitchFamily="2" charset="0"/>
              <a:ea typeface="Linux Biolinum G" panose="02000503000000000000" pitchFamily="2" charset="0"/>
              <a:cs typeface="Linux Biolinum G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3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Другая 21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94F6DB"/>
      </a:accent1>
      <a:accent2>
        <a:srgbClr val="94F6DB"/>
      </a:accent2>
      <a:accent3>
        <a:srgbClr val="94F6DB"/>
      </a:accent3>
      <a:accent4>
        <a:srgbClr val="E9FDF7"/>
      </a:accent4>
      <a:accent5>
        <a:srgbClr val="94F6DB"/>
      </a:accent5>
      <a:accent6>
        <a:srgbClr val="A5C249"/>
      </a:accent6>
      <a:hlink>
        <a:srgbClr val="F49100"/>
      </a:hlink>
      <a:folHlink>
        <a:srgbClr val="85DFD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529</TotalTime>
  <Words>547</Words>
  <Application>Microsoft Office PowerPoint</Application>
  <PresentationFormat>Широкоэкранный</PresentationFormat>
  <Paragraphs>65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Linux Biolinum G</vt:lpstr>
      <vt:lpstr>Ретро</vt:lpstr>
      <vt:lpstr>Проектная работа на тему: «Мобильное приложение по оценке и корректировке эмоционального состояния подростков»</vt:lpstr>
      <vt:lpstr>Актуальность, проблема и цель</vt:lpstr>
      <vt:lpstr>Задачи</vt:lpstr>
      <vt:lpstr>Требуемые характеристики приложения</vt:lpstr>
      <vt:lpstr>Основные понятия</vt:lpstr>
      <vt:lpstr>Мобильное приложение</vt:lpstr>
      <vt:lpstr>Мобильное приложение</vt:lpstr>
      <vt:lpstr>Мобильное приложение</vt:lpstr>
      <vt:lpstr>Апробация мобильного приложения</vt:lpstr>
      <vt:lpstr>Результаты апробации: эмоциональное состояние подростков</vt:lpstr>
      <vt:lpstr>Результаты апробации: эмоциональное состояние подростков</vt:lpstr>
      <vt:lpstr>Результаты апробации: технические аспекты</vt:lpstr>
      <vt:lpstr>Результаты апробации: технические аспекты</vt:lpstr>
      <vt:lpstr>Результаты апробации: технические аспекты</vt:lpstr>
      <vt:lpstr>Заключение</vt:lpstr>
      <vt:lpstr>Список литературы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Татьяна</dc:creator>
  <cp:lastModifiedBy>Татьяна</cp:lastModifiedBy>
  <cp:revision>31</cp:revision>
  <dcterms:created xsi:type="dcterms:W3CDTF">2024-12-08T20:36:58Z</dcterms:created>
  <dcterms:modified xsi:type="dcterms:W3CDTF">2024-12-11T15:58:53Z</dcterms:modified>
</cp:coreProperties>
</file>
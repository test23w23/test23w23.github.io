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3" r:id="rId3"/>
    <p:sldId id="259" r:id="rId4"/>
    <p:sldId id="257" r:id="rId5"/>
    <p:sldId id="264" r:id="rId6"/>
    <p:sldId id="265" r:id="rId7"/>
    <p:sldId id="258" r:id="rId8"/>
    <p:sldId id="260" r:id="rId9"/>
    <p:sldId id="261" r:id="rId10"/>
    <p:sldId id="262" r:id="rId11"/>
    <p:sldId id="268" r:id="rId12"/>
    <p:sldId id="266" r:id="rId13"/>
    <p:sldId id="267" r:id="rId14"/>
    <p:sldId id="269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infSzuED5ZB3NFV9GtZTY+B6eJ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0" autoAdjust="0"/>
    <p:restoredTop sz="94660"/>
  </p:normalViewPr>
  <p:slideViewPr>
    <p:cSldViewPr snapToGrid="0">
      <p:cViewPr>
        <p:scale>
          <a:sx n="75" d="100"/>
          <a:sy n="75" d="100"/>
        </p:scale>
        <p:origin x="7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4622825a4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e4622825a4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4622825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4622825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056031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4622825a4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4622825a4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4622825a4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e4622825a4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4622825a4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e4622825a4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4622825a4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e4622825a4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463950" y="2104886"/>
            <a:ext cx="11264100" cy="217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ru-RU" sz="4800" b="1" dirty="0"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Формы переживания </a:t>
            </a:r>
            <a:r>
              <a:rPr lang="ru-RU" sz="4800" b="1" dirty="0">
                <a:solidFill>
                  <a:srgbClr val="C00000"/>
                </a:solidFill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чувств</a:t>
            </a:r>
            <a:r>
              <a:rPr lang="ru-RU" sz="4800" b="1" dirty="0"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.</a:t>
            </a:r>
            <a:br>
              <a:rPr lang="ru-RU" sz="4800" b="1" dirty="0"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</a:br>
            <a:r>
              <a:rPr lang="ru-RU" sz="4800" b="1" dirty="0"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Их характеристика, сходства и различия.</a:t>
            </a:r>
            <a:endParaRPr sz="4800" b="1" dirty="0">
              <a:latin typeface="Bahnschrift Condensed" panose="020B0502040204020203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2369925" y="5236714"/>
            <a:ext cx="91440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dirty="0"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Доклад выполнили студенты группы ФАЯ 0-24-11 </a:t>
            </a:r>
            <a:endParaRPr dirty="0">
              <a:latin typeface="Bahnschrift Condensed" panose="020B0502040204020203" pitchFamily="34" charset="0"/>
              <a:ea typeface="Times New Roman"/>
              <a:cs typeface="Times New Roman"/>
              <a:sym typeface="Times New Roman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dirty="0"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Афиногенова Владислава и Семенова Владислава.</a:t>
            </a:r>
            <a:endParaRPr dirty="0">
              <a:latin typeface="Bahnschrift Condensed" panose="020B0502040204020203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029050" y="2162775"/>
            <a:ext cx="14355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chemeClr val="dk1"/>
                </a:solidFill>
                <a:latin typeface="Bahnschrift Condensed" panose="020B0502040204020203" pitchFamily="34" charset="0"/>
                <a:ea typeface="Calibri"/>
                <a:cs typeface="Calibri"/>
                <a:sym typeface="Calibri"/>
              </a:rPr>
              <a:t>АФФЕКТ</a:t>
            </a:r>
            <a:endParaRPr sz="2400" dirty="0">
              <a:solidFill>
                <a:schemeClr val="dk1"/>
              </a:solidFill>
              <a:latin typeface="Bahnschrift Condensed" panose="020B0502040204020203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3270262" y="804311"/>
            <a:ext cx="1166300" cy="5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Bahnschrift Condensed" panose="020B0502040204020203" pitchFamily="34" charset="0"/>
                <a:ea typeface="Calibri"/>
                <a:cs typeface="Calibri"/>
                <a:sym typeface="Calibri"/>
              </a:rPr>
              <a:t>ЭМОЦИЯ</a:t>
            </a:r>
            <a:endParaRPr sz="2400">
              <a:solidFill>
                <a:schemeClr val="dk1"/>
              </a:solidFill>
              <a:latin typeface="Bahnschrift Condensed" panose="020B0502040204020203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7373875" y="816665"/>
            <a:ext cx="1080200" cy="513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Bahnschrift Condensed" panose="020B0502040204020203" pitchFamily="34" charset="0"/>
                <a:ea typeface="Calibri"/>
                <a:cs typeface="Calibri"/>
                <a:sym typeface="Calibri"/>
              </a:rPr>
              <a:t>ЧУВСТВО</a:t>
            </a:r>
            <a:endParaRPr sz="2400">
              <a:solidFill>
                <a:schemeClr val="dk1"/>
              </a:solidFill>
              <a:latin typeface="Bahnschrift Condensed" panose="020B0502040204020203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8861100" y="1187486"/>
            <a:ext cx="1080200" cy="55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chemeClr val="dk1"/>
                </a:solidFill>
                <a:latin typeface="Bahnschrift Condensed" panose="020B0502040204020203" pitchFamily="34" charset="0"/>
                <a:ea typeface="Calibri"/>
                <a:cs typeface="Calibri"/>
                <a:sym typeface="Calibri"/>
              </a:rPr>
              <a:t>СТРАСТЬ</a:t>
            </a:r>
            <a:endParaRPr sz="2400" dirty="0">
              <a:solidFill>
                <a:schemeClr val="dk1"/>
              </a:solidFill>
              <a:latin typeface="Bahnschrift Condensed" panose="020B0502040204020203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C32A84-37FA-4622-B02A-AFA5B39194F3}"/>
              </a:ext>
            </a:extLst>
          </p:cNvPr>
          <p:cNvSpPr txBox="1"/>
          <p:nvPr/>
        </p:nvSpPr>
        <p:spPr>
          <a:xfrm>
            <a:off x="1658837" y="1265733"/>
            <a:ext cx="1611425" cy="477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Bahnschrift Condensed" panose="020B0502040204020203" pitchFamily="34" charset="0"/>
              </a:rPr>
              <a:t>НАСТРОЕНИЕ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058B4B-756B-452B-89D4-AB466541BF76}"/>
              </a:ext>
            </a:extLst>
          </p:cNvPr>
          <p:cNvSpPr txBox="1"/>
          <p:nvPr/>
        </p:nvSpPr>
        <p:spPr>
          <a:xfrm>
            <a:off x="4881687" y="799008"/>
            <a:ext cx="2060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Bahnschrift Condensed" panose="020B0502040204020203" pitchFamily="34" charset="0"/>
              </a:rPr>
              <a:t>ЧУВСТВЕННЫЙ ТОН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CFBBF9-2DF5-47D4-A364-A6059823CDF7}"/>
              </a:ext>
            </a:extLst>
          </p:cNvPr>
          <p:cNvSpPr txBox="1"/>
          <p:nvPr/>
        </p:nvSpPr>
        <p:spPr>
          <a:xfrm>
            <a:off x="10178100" y="2255078"/>
            <a:ext cx="1085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Bahnschrift Condensed" panose="020B0502040204020203" pitchFamily="34" charset="0"/>
              </a:rPr>
              <a:t>СТРЕСС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CB5D88-5340-4533-9F8C-1C9FB3FA8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08" y="1295259"/>
            <a:ext cx="6643687" cy="581025"/>
          </a:xfrm>
        </p:spPr>
        <p:txBody>
          <a:bodyPr>
            <a:noAutofit/>
          </a:bodyPr>
          <a:lstStyle/>
          <a:p>
            <a:r>
              <a:rPr lang="ru-RU" sz="4000" b="1" dirty="0">
                <a:solidFill>
                  <a:srgbClr val="C00000"/>
                </a:solidFill>
                <a:latin typeface="Bahnschrift Condensed" panose="020B0502040204020203" pitchFamily="34" charset="0"/>
              </a:rPr>
              <a:t>ЧУВСТВЕННЫЙ (ЭМОЦИОНАЛЬНЫЙ) ТОН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9D8B8D-C92E-47CA-91B4-F31F0C1E27EE}"/>
              </a:ext>
            </a:extLst>
          </p:cNvPr>
          <p:cNvSpPr txBox="1"/>
          <p:nvPr/>
        </p:nvSpPr>
        <p:spPr>
          <a:xfrm>
            <a:off x="2509519" y="2830830"/>
            <a:ext cx="6394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rgbClr val="C00000"/>
                </a:solidFill>
                <a:latin typeface="Bahnschrift Condensed" panose="020B0502040204020203" pitchFamily="34" charset="0"/>
              </a:rPr>
              <a:t>ЭТО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C2A9D1-6218-4108-9BF5-C1B97FA22B05}"/>
              </a:ext>
            </a:extLst>
          </p:cNvPr>
          <p:cNvSpPr txBox="1"/>
          <p:nvPr/>
        </p:nvSpPr>
        <p:spPr>
          <a:xfrm>
            <a:off x="1029335" y="3165604"/>
            <a:ext cx="40671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>
                <a:latin typeface="Bahnschrift Condensed" panose="020B0502040204020203" pitchFamily="34" charset="0"/>
              </a:rPr>
              <a:t>ПРОСТЕЙШАЯ, СЛАБОВЫРАЖЕННАЯ ЭМОЦИОНАЛЬНАЯ ОКРАСКА ПСИХИЧЕСКИХ ПРОЦЕССОВ, КОТОРАЯ СОПРОВОЖДАЕТ НАШИ ОЩУЩЕНИЯ, МЫСЛИ И ДЕЙСТВИЯ.</a:t>
            </a:r>
          </a:p>
          <a:p>
            <a:pPr algn="just"/>
            <a:r>
              <a:rPr lang="ru-RU" sz="2000" dirty="0">
                <a:latin typeface="Bahnschrift Condensed" panose="020B0502040204020203" pitchFamily="34" charset="0"/>
              </a:rPr>
              <a:t>СООБЩАЕТ НАМ ПРИЯТНО ИЛИ НЕПРИЯТНО ПРОИСХОЖДЕНИЕ.</a:t>
            </a:r>
          </a:p>
        </p:txBody>
      </p:sp>
      <p:sp>
        <p:nvSpPr>
          <p:cNvPr id="9" name="Стрелка: вправо 8">
            <a:extLst>
              <a:ext uri="{FF2B5EF4-FFF2-40B4-BE49-F238E27FC236}">
                <a16:creationId xmlns:a16="http://schemas.microsoft.com/office/drawing/2014/main" id="{EE5E2274-A33A-4D50-AA70-B2BBAE45C563}"/>
              </a:ext>
            </a:extLst>
          </p:cNvPr>
          <p:cNvSpPr/>
          <p:nvPr/>
        </p:nvSpPr>
        <p:spPr>
          <a:xfrm flipH="1">
            <a:off x="7844025" y="1456865"/>
            <a:ext cx="1279150" cy="257811"/>
          </a:xfrm>
          <a:prstGeom prst="rightArrow">
            <a:avLst>
              <a:gd name="adj1" fmla="val 100000"/>
              <a:gd name="adj2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B630BD-9A3D-41FD-8048-08F21B6AC4F2}"/>
              </a:ext>
            </a:extLst>
          </p:cNvPr>
          <p:cNvSpPr txBox="1"/>
          <p:nvPr/>
        </p:nvSpPr>
        <p:spPr>
          <a:xfrm>
            <a:off x="9804905" y="1262604"/>
            <a:ext cx="1553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Bahnschrift Condensed" panose="020B0502040204020203" pitchFamily="34" charset="0"/>
              </a:rPr>
              <a:t>СТИМУЛ</a:t>
            </a:r>
          </a:p>
        </p:txBody>
      </p:sp>
      <p:sp>
        <p:nvSpPr>
          <p:cNvPr id="11" name="Знак ''плюс'' 10">
            <a:extLst>
              <a:ext uri="{FF2B5EF4-FFF2-40B4-BE49-F238E27FC236}">
                <a16:creationId xmlns:a16="http://schemas.microsoft.com/office/drawing/2014/main" id="{724F5B80-853A-45D2-992B-763FC1C232F8}"/>
              </a:ext>
            </a:extLst>
          </p:cNvPr>
          <p:cNvSpPr/>
          <p:nvPr/>
        </p:nvSpPr>
        <p:spPr>
          <a:xfrm>
            <a:off x="8397877" y="4449419"/>
            <a:ext cx="812800" cy="838200"/>
          </a:xfrm>
          <a:prstGeom prst="mathPlus">
            <a:avLst>
              <a:gd name="adj1" fmla="val 13764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Знак ''минус'' 11">
            <a:extLst>
              <a:ext uri="{FF2B5EF4-FFF2-40B4-BE49-F238E27FC236}">
                <a16:creationId xmlns:a16="http://schemas.microsoft.com/office/drawing/2014/main" id="{B4241FC0-016E-48E6-8F4D-72EDAF845CF0}"/>
              </a:ext>
            </a:extLst>
          </p:cNvPr>
          <p:cNvSpPr/>
          <p:nvPr/>
        </p:nvSpPr>
        <p:spPr>
          <a:xfrm>
            <a:off x="8316121" y="3642413"/>
            <a:ext cx="976313" cy="660400"/>
          </a:xfrm>
          <a:prstGeom prst="mathMinus">
            <a:avLst>
              <a:gd name="adj1" fmla="val 17366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31647D-FE8D-4A3F-96F4-33EF5BC9F069}"/>
              </a:ext>
            </a:extLst>
          </p:cNvPr>
          <p:cNvSpPr txBox="1"/>
          <p:nvPr/>
        </p:nvSpPr>
        <p:spPr>
          <a:xfrm>
            <a:off x="7132957" y="2858136"/>
            <a:ext cx="3342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Bahnschrift Condensed" panose="020B0502040204020203" pitchFamily="34" charset="0"/>
              </a:rPr>
              <a:t>СПИСОК ОТСУТСТВУЮЩИХ: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F06F57-973B-474C-BB01-C79551EE89CC}"/>
              </a:ext>
            </a:extLst>
          </p:cNvPr>
          <p:cNvSpPr txBox="1"/>
          <p:nvPr/>
        </p:nvSpPr>
        <p:spPr>
          <a:xfrm>
            <a:off x="7676546" y="3717959"/>
            <a:ext cx="5074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latin typeface="Bahnschrift Condensed" panose="020B0502040204020203" pitchFamily="34" charset="0"/>
              </a:rPr>
              <a:t>1.</a:t>
            </a:r>
          </a:p>
          <a:p>
            <a:endParaRPr lang="ru-RU" sz="3200" dirty="0">
              <a:latin typeface="Bahnschrift Condensed" panose="020B0502040204020203" pitchFamily="34" charset="0"/>
            </a:endParaRPr>
          </a:p>
          <a:p>
            <a:r>
              <a:rPr lang="ru-RU" sz="3200" dirty="0">
                <a:latin typeface="Bahnschrift Condensed" panose="020B0502040204020203" pitchFamily="34" charset="0"/>
              </a:rPr>
              <a:t>2.</a:t>
            </a: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77319EFB-DA55-42B7-94B1-C6A123D1C329}"/>
              </a:ext>
            </a:extLst>
          </p:cNvPr>
          <p:cNvCxnSpPr>
            <a:cxnSpLocks/>
          </p:cNvCxnSpPr>
          <p:nvPr/>
        </p:nvCxnSpPr>
        <p:spPr>
          <a:xfrm>
            <a:off x="11582400" y="-50800"/>
            <a:ext cx="0" cy="690880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2FEC0AD-3013-45CB-98B7-F89BA206DBB1}"/>
              </a:ext>
            </a:extLst>
          </p:cNvPr>
          <p:cNvSpPr txBox="1"/>
          <p:nvPr/>
        </p:nvSpPr>
        <p:spPr>
          <a:xfrm>
            <a:off x="9424513" y="5287619"/>
            <a:ext cx="16560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ahnschrift Condensed" panose="020B0502040204020203" pitchFamily="34" charset="0"/>
              </a:rPr>
              <a:t>ПРОГУЛЬЩИКИ</a:t>
            </a:r>
          </a:p>
        </p:txBody>
      </p:sp>
    </p:spTree>
    <p:extLst>
      <p:ext uri="{BB962C8B-B14F-4D97-AF65-F5344CB8AC3E}">
        <p14:creationId xmlns:p14="http://schemas.microsoft.com/office/powerpoint/2010/main" val="4253025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9E2C406B-27A4-4EC2-9152-58B426400C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103" y="1272900"/>
            <a:ext cx="2347570" cy="2347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" name="Google Shape;112;g3e4622825a4_0_23"/>
          <p:cNvSpPr txBox="1">
            <a:spLocks noGrp="1"/>
          </p:cNvSpPr>
          <p:nvPr>
            <p:ph type="title"/>
          </p:nvPr>
        </p:nvSpPr>
        <p:spPr>
          <a:xfrm>
            <a:off x="521343" y="168070"/>
            <a:ext cx="10515600" cy="1119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C00000"/>
                </a:solidFill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НАСТРОЕНИЕ</a:t>
            </a:r>
            <a:endParaRPr sz="5400" dirty="0">
              <a:solidFill>
                <a:srgbClr val="C00000"/>
              </a:solidFill>
              <a:latin typeface="Bahnschrift Condensed" panose="020B0502040204020203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5849C8-86FA-4734-AEEA-638CF73252C9}"/>
              </a:ext>
            </a:extLst>
          </p:cNvPr>
          <p:cNvSpPr txBox="1"/>
          <p:nvPr/>
        </p:nvSpPr>
        <p:spPr>
          <a:xfrm>
            <a:off x="6673021" y="1989254"/>
            <a:ext cx="414346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dirty="0">
                <a:solidFill>
                  <a:srgbClr val="C00000"/>
                </a:solidFill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ЭТО</a:t>
            </a:r>
            <a:r>
              <a:rPr lang="ru-RU" sz="2400" dirty="0"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 устойчивый эмоциональный фон, формирующий общее отношение человека к происходящему.</a:t>
            </a:r>
          </a:p>
          <a:p>
            <a:pPr algn="just"/>
            <a:endParaRPr lang="ru-RU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7832E0-4A39-43D7-BF57-88045245DEC6}"/>
              </a:ext>
            </a:extLst>
          </p:cNvPr>
          <p:cNvSpPr txBox="1"/>
          <p:nvPr/>
        </p:nvSpPr>
        <p:spPr>
          <a:xfrm>
            <a:off x="521343" y="3235784"/>
            <a:ext cx="5817725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rtl="0">
              <a:spcBef>
                <a:spcPts val="0"/>
              </a:spcBef>
              <a:spcAft>
                <a:spcPts val="0"/>
              </a:spcAft>
            </a:pPr>
            <a:r>
              <a:rPr lang="ru-RU" sz="2000" b="1" dirty="0">
                <a:solidFill>
                  <a:schemeClr val="dk1"/>
                </a:solidFill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ВИДЫ НАСТРОЕНИЯ:</a:t>
            </a:r>
          </a:p>
          <a:p>
            <a:pPr lvl="0" algn="ctr" rtl="0">
              <a:spcBef>
                <a:spcPts val="0"/>
              </a:spcBef>
              <a:spcAft>
                <a:spcPts val="0"/>
              </a:spcAft>
            </a:pPr>
            <a:endParaRPr lang="ru-RU" sz="2000" b="1" dirty="0">
              <a:solidFill>
                <a:schemeClr val="dk1"/>
              </a:solidFill>
              <a:latin typeface="Bahnschrift Condensed" panose="020B0502040204020203" pitchFamily="34" charset="0"/>
              <a:ea typeface="Times New Roman"/>
              <a:cs typeface="Times New Roman"/>
              <a:sym typeface="Times New Roman"/>
            </a:endParaRPr>
          </a:p>
          <a:p>
            <a:pPr marL="457200" lvl="0" indent="-4191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Wingdings" panose="05000000000000000000" pitchFamily="2" charset="2"/>
              <a:buChar char="Ø"/>
            </a:pPr>
            <a:r>
              <a:rPr lang="ru-RU" sz="2000" dirty="0">
                <a:solidFill>
                  <a:schemeClr val="dk1"/>
                </a:solidFill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По эмоциональному тону: ровное, пониженное, повышенное, тревожное и др.</a:t>
            </a:r>
          </a:p>
          <a:p>
            <a:pPr marL="457200" lvl="0" indent="-4191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Wingdings" panose="05000000000000000000" pitchFamily="2" charset="2"/>
              <a:buChar char="Ø"/>
            </a:pPr>
            <a:r>
              <a:rPr lang="ru-RU" sz="2000" dirty="0">
                <a:solidFill>
                  <a:schemeClr val="dk1"/>
                </a:solidFill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По содержанию или качеству. Например: радостное (счастье, восторг, умиление, любовь), грустное (печаль, тоска, ностальгия, одиночество), тревожное (беспокойство, страх, опасение, неуверенность).</a:t>
            </a:r>
          </a:p>
          <a:p>
            <a:pPr marL="457200" lvl="0" indent="-4191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Wingdings" panose="05000000000000000000" pitchFamily="2" charset="2"/>
              <a:buChar char="Ø"/>
            </a:pPr>
            <a:r>
              <a:rPr lang="ru-RU" sz="2000" dirty="0">
                <a:solidFill>
                  <a:schemeClr val="dk1"/>
                </a:solidFill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По динамике: кратковременное и долговременное.</a:t>
            </a:r>
          </a:p>
          <a:p>
            <a:endParaRPr lang="ru-RU" sz="1200" dirty="0"/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87F358B1-7FD6-4746-9F9D-3B26542155D1}"/>
              </a:ext>
            </a:extLst>
          </p:cNvPr>
          <p:cNvCxnSpPr>
            <a:cxnSpLocks/>
          </p:cNvCxnSpPr>
          <p:nvPr/>
        </p:nvCxnSpPr>
        <p:spPr>
          <a:xfrm>
            <a:off x="11582400" y="-50800"/>
            <a:ext cx="0" cy="690880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050" name="Picture 2">
            <a:extLst>
              <a:ext uri="{FF2B5EF4-FFF2-40B4-BE49-F238E27FC236}">
                <a16:creationId xmlns:a16="http://schemas.microsoft.com/office/drawing/2014/main" id="{13F9D4DC-B98C-4C2F-BC33-A5BA66C393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69" t="32365" r="19226" b="7939"/>
          <a:stretch/>
        </p:blipFill>
        <p:spPr bwMode="auto">
          <a:xfrm>
            <a:off x="7641702" y="3759950"/>
            <a:ext cx="2445313" cy="2225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712E7CDA-CD89-4249-BB25-E2D3B56D5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4825" y="1120176"/>
            <a:ext cx="2766349" cy="2766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4" name="Google Shape;94;g3e4622825a4_0_0"/>
          <p:cNvSpPr txBox="1">
            <a:spLocks noGrp="1"/>
          </p:cNvSpPr>
          <p:nvPr>
            <p:ph type="title"/>
          </p:nvPr>
        </p:nvSpPr>
        <p:spPr>
          <a:xfrm>
            <a:off x="0" y="1384350"/>
            <a:ext cx="3083560" cy="1119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C00000"/>
                </a:solidFill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АФФЕКТ</a:t>
            </a:r>
            <a:endParaRPr dirty="0">
              <a:solidFill>
                <a:srgbClr val="C00000"/>
              </a:solidFill>
              <a:latin typeface="Bahnschrift Condensed" panose="020B0502040204020203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9A7D89-4F92-490A-9BD6-FA1B44C34547}"/>
              </a:ext>
            </a:extLst>
          </p:cNvPr>
          <p:cNvSpPr txBox="1"/>
          <p:nvPr/>
        </p:nvSpPr>
        <p:spPr>
          <a:xfrm>
            <a:off x="675639" y="2258420"/>
            <a:ext cx="653626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(от лат. </a:t>
            </a:r>
            <a:r>
              <a:rPr lang="ru-RU" sz="2400" dirty="0" err="1"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affectus</a:t>
            </a:r>
            <a:r>
              <a:rPr lang="ru-RU" sz="2400" dirty="0"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 —  «страсть», «душевное волнение») </a:t>
            </a:r>
          </a:p>
          <a:p>
            <a:pPr algn="just"/>
            <a:endParaRPr lang="ru-RU" sz="2400" dirty="0">
              <a:latin typeface="Bahnschrift Condensed" panose="020B0502040204020203" pitchFamily="34" charset="0"/>
              <a:ea typeface="Times New Roman"/>
              <a:cs typeface="Times New Roman"/>
              <a:sym typeface="Times New Roman"/>
            </a:endParaRPr>
          </a:p>
          <a:p>
            <a:pPr algn="just"/>
            <a:r>
              <a:rPr lang="ru-RU" sz="4000" dirty="0">
                <a:solidFill>
                  <a:srgbClr val="C00000"/>
                </a:solidFill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это</a:t>
            </a:r>
            <a:r>
              <a:rPr lang="ru-RU" sz="3200" dirty="0"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dirty="0"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кратковременное (от нескольких секунд до нескольких минут), но интенсивное эмоциональное состояние, которое возникает внезапно в ответ на сильный раздражитель или психотравмирующую ситуацию.</a:t>
            </a:r>
          </a:p>
          <a:p>
            <a:pPr algn="just"/>
            <a:endParaRPr lang="ru-RU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0932B9-705F-4FE3-9B04-0A665421DF31}"/>
              </a:ext>
            </a:extLst>
          </p:cNvPr>
          <p:cNvSpPr txBox="1"/>
          <p:nvPr/>
        </p:nvSpPr>
        <p:spPr>
          <a:xfrm>
            <a:off x="7701280" y="3429000"/>
            <a:ext cx="339344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dk1"/>
                </a:solidFill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Виды аффекта: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ru-RU" sz="2400" b="1" dirty="0">
              <a:solidFill>
                <a:schemeClr val="dk1"/>
              </a:solidFill>
              <a:latin typeface="Bahnschrift Condensed" panose="020B0502040204020203" pitchFamily="34" charset="0"/>
              <a:ea typeface="Times New Roman"/>
              <a:cs typeface="Times New Roman"/>
              <a:sym typeface="Times New Roman"/>
            </a:endParaRPr>
          </a:p>
          <a:p>
            <a:pPr marL="4953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Wingdings" panose="05000000000000000000" pitchFamily="2" charset="2"/>
              <a:buChar char="Ø"/>
            </a:pPr>
            <a:r>
              <a:rPr lang="ru-RU" sz="2400" dirty="0">
                <a:solidFill>
                  <a:schemeClr val="dk1"/>
                </a:solidFill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физиологический</a:t>
            </a:r>
          </a:p>
          <a:p>
            <a:pPr marL="4953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Wingdings" panose="05000000000000000000" pitchFamily="2" charset="2"/>
              <a:buChar char="Ø"/>
            </a:pPr>
            <a:r>
              <a:rPr lang="ru-RU" sz="2400" dirty="0">
                <a:solidFill>
                  <a:schemeClr val="dk1"/>
                </a:solidFill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патологический</a:t>
            </a:r>
          </a:p>
          <a:p>
            <a:pPr marL="4953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Wingdings" panose="05000000000000000000" pitchFamily="2" charset="2"/>
              <a:buChar char="Ø"/>
            </a:pPr>
            <a:r>
              <a:rPr lang="ru-RU" sz="2400" dirty="0">
                <a:solidFill>
                  <a:schemeClr val="dk1"/>
                </a:solidFill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кумулятивный (накопительный)</a:t>
            </a:r>
          </a:p>
          <a:p>
            <a:pPr marL="4953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Wingdings" panose="05000000000000000000" pitchFamily="2" charset="2"/>
              <a:buChar char="Ø"/>
            </a:pPr>
            <a:r>
              <a:rPr lang="ru-RU" sz="2400" dirty="0">
                <a:solidFill>
                  <a:schemeClr val="dk1"/>
                </a:solidFill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прерванный</a:t>
            </a:r>
          </a:p>
          <a:p>
            <a:endParaRPr lang="ru-RU" sz="2400" dirty="0"/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9BD740BF-6A50-463B-A327-73D488D2EFA4}"/>
              </a:ext>
            </a:extLst>
          </p:cNvPr>
          <p:cNvCxnSpPr>
            <a:cxnSpLocks/>
          </p:cNvCxnSpPr>
          <p:nvPr/>
        </p:nvCxnSpPr>
        <p:spPr>
          <a:xfrm>
            <a:off x="11582400" y="-50800"/>
            <a:ext cx="0" cy="690880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56AC60B5-2000-4413-B121-97D53D76F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6753" y="2183500"/>
            <a:ext cx="4828174" cy="701254"/>
          </a:xfrm>
        </p:spPr>
        <p:txBody>
          <a:bodyPr>
            <a:noAutofit/>
          </a:bodyPr>
          <a:lstStyle/>
          <a:p>
            <a:pPr marL="25400" indent="0">
              <a:buNone/>
            </a:pPr>
            <a:r>
              <a:rPr lang="ru-RU" sz="4400" dirty="0">
                <a:solidFill>
                  <a:srgbClr val="C00000"/>
                </a:solidFill>
                <a:latin typeface="Bahnschrift Condensed" panose="020B0502040204020203" pitchFamily="34" charset="0"/>
              </a:rPr>
              <a:t>10</a:t>
            </a:r>
            <a:r>
              <a:rPr lang="ru-RU" sz="4400" dirty="0">
                <a:latin typeface="Bahnschrift Condensed" panose="020B0502040204020203" pitchFamily="34" charset="0"/>
              </a:rPr>
              <a:t> БАЗОВЫХ ЭМОЦИЙ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066ECC9-3DFF-4E66-A4CA-8950436E3F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640" y="4805879"/>
            <a:ext cx="2046511" cy="2046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D2DF69-AF46-43EE-BD8F-2A3F2A502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2717"/>
            <a:ext cx="3932237" cy="1600200"/>
          </a:xfrm>
        </p:spPr>
        <p:txBody>
          <a:bodyPr>
            <a:normAutofit/>
          </a:bodyPr>
          <a:lstStyle/>
          <a:p>
            <a:r>
              <a:rPr lang="ru-RU" sz="4400" dirty="0">
                <a:solidFill>
                  <a:srgbClr val="C00000"/>
                </a:solidFill>
                <a:latin typeface="Bahnschrift Condensed" panose="020B0502040204020203" pitchFamily="34" charset="0"/>
              </a:rPr>
              <a:t>ЭМОЦИИ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A3200C7-524C-4CEE-87ED-FC87ECF202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4451" y="1882399"/>
            <a:ext cx="5541252" cy="3811588"/>
          </a:xfrm>
        </p:spPr>
        <p:txBody>
          <a:bodyPr>
            <a:normAutofit/>
          </a:bodyPr>
          <a:lstStyle/>
          <a:p>
            <a:pPr algn="just"/>
            <a:r>
              <a:rPr lang="ru-RU" sz="2400" b="0" i="0" dirty="0">
                <a:solidFill>
                  <a:srgbClr val="0A0A0A"/>
                </a:solidFill>
                <a:effectLst/>
                <a:latin typeface="Bahnschrift Condensed" panose="020B0502040204020203" pitchFamily="34" charset="0"/>
              </a:rPr>
              <a:t> </a:t>
            </a:r>
            <a:r>
              <a:rPr lang="ru-RU" sz="3600" b="0" i="0" dirty="0">
                <a:solidFill>
                  <a:srgbClr val="C00000"/>
                </a:solidFill>
                <a:effectLst/>
                <a:latin typeface="Bahnschrift Condensed" panose="020B0502040204020203" pitchFamily="34" charset="0"/>
              </a:rPr>
              <a:t>эт</a:t>
            </a:r>
            <a:r>
              <a:rPr lang="ru-RU" sz="3600" dirty="0">
                <a:solidFill>
                  <a:srgbClr val="C00000"/>
                </a:solidFill>
                <a:latin typeface="Bahnschrift Condensed" panose="020B0502040204020203" pitchFamily="34" charset="0"/>
              </a:rPr>
              <a:t>о</a:t>
            </a:r>
            <a:r>
              <a:rPr lang="ru-RU" sz="2400" dirty="0">
                <a:latin typeface="Bahnschrift Condensed" panose="020B0502040204020203" pitchFamily="34" charset="0"/>
              </a:rPr>
              <a:t> психический процесс или состояние, отражающее субъективную оценку текущих или возможных ситуаций и явлений</a:t>
            </a:r>
            <a:r>
              <a:rPr lang="ru-RU" sz="2400" b="0" i="0" dirty="0">
                <a:solidFill>
                  <a:srgbClr val="0A0A0A"/>
                </a:solidFill>
                <a:effectLst/>
                <a:latin typeface="Bahnschrift Condensed" panose="020B0502040204020203" pitchFamily="34" charset="0"/>
              </a:rPr>
              <a:t>. Она выражает то, насколько значимо происходящее для удовлетворения актуальных потребностей человека, и переживается как удовольствие или неудовольствие.</a:t>
            </a:r>
            <a:endParaRPr lang="ru-RU" sz="2400" dirty="0">
              <a:latin typeface="Bahnschrift Condensed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4E57BC-C2EF-4DB9-AAB4-1E33852F741A}"/>
              </a:ext>
            </a:extLst>
          </p:cNvPr>
          <p:cNvSpPr txBox="1"/>
          <p:nvPr/>
        </p:nvSpPr>
        <p:spPr>
          <a:xfrm>
            <a:off x="10098738" y="1149941"/>
            <a:ext cx="1323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Bahnschrift Condensed" panose="020B0502040204020203" pitchFamily="34" charset="0"/>
              </a:rPr>
              <a:t>ИНТЕРЕС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CC82F7-30B3-4554-B4A2-E4D950510B9E}"/>
              </a:ext>
            </a:extLst>
          </p:cNvPr>
          <p:cNvSpPr txBox="1"/>
          <p:nvPr/>
        </p:nvSpPr>
        <p:spPr>
          <a:xfrm>
            <a:off x="8027797" y="1060013"/>
            <a:ext cx="13451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Bahnschrift Condensed" panose="020B0502040204020203" pitchFamily="34" charset="0"/>
              </a:rPr>
              <a:t>РАДОСТЬ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CFC372-317E-404A-AB25-29D7A99AAF0A}"/>
              </a:ext>
            </a:extLst>
          </p:cNvPr>
          <p:cNvSpPr txBox="1"/>
          <p:nvPr/>
        </p:nvSpPr>
        <p:spPr>
          <a:xfrm>
            <a:off x="8230857" y="3421144"/>
            <a:ext cx="1455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Bahnschrift Condensed" panose="020B0502040204020203" pitchFamily="34" charset="0"/>
              </a:rPr>
              <a:t>УДИВЛЕНИЕ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75A63F-77B2-4D85-8C4B-996276C583E1}"/>
              </a:ext>
            </a:extLst>
          </p:cNvPr>
          <p:cNvSpPr txBox="1"/>
          <p:nvPr/>
        </p:nvSpPr>
        <p:spPr>
          <a:xfrm>
            <a:off x="9188015" y="686468"/>
            <a:ext cx="924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Bahnschrift Condensed" panose="020B0502040204020203" pitchFamily="34" charset="0"/>
              </a:rPr>
              <a:t>СТРАХ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2329BD-B3B0-4511-8712-0D06123F9AF9}"/>
              </a:ext>
            </a:extLst>
          </p:cNvPr>
          <p:cNvSpPr txBox="1"/>
          <p:nvPr/>
        </p:nvSpPr>
        <p:spPr>
          <a:xfrm>
            <a:off x="5788017" y="1185445"/>
            <a:ext cx="1859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Bahnschrift Condensed" panose="020B0502040204020203" pitchFamily="34" charset="0"/>
              </a:rPr>
              <a:t>ПРЕЗРЕНИЕ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2A1865-9437-4E6A-820C-2697FE7FB5F4}"/>
              </a:ext>
            </a:extLst>
          </p:cNvPr>
          <p:cNvSpPr txBox="1"/>
          <p:nvPr/>
        </p:nvSpPr>
        <p:spPr>
          <a:xfrm>
            <a:off x="7286118" y="693361"/>
            <a:ext cx="86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Bahnschrift Condensed" panose="020B0502040204020203" pitchFamily="34" charset="0"/>
              </a:rPr>
              <a:t>ГОРЕ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924F33-4B64-4AD1-9605-F2E0BA011C3F}"/>
              </a:ext>
            </a:extLst>
          </p:cNvPr>
          <p:cNvSpPr txBox="1"/>
          <p:nvPr/>
        </p:nvSpPr>
        <p:spPr>
          <a:xfrm>
            <a:off x="9735479" y="3980827"/>
            <a:ext cx="1223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Bahnschrift Condensed" panose="020B0502040204020203" pitchFamily="34" charset="0"/>
              </a:rPr>
              <a:t>ГНЕВ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F12F5D-1A37-4DC9-A7C9-E5A7E027F319}"/>
              </a:ext>
            </a:extLst>
          </p:cNvPr>
          <p:cNvSpPr txBox="1"/>
          <p:nvPr/>
        </p:nvSpPr>
        <p:spPr>
          <a:xfrm>
            <a:off x="6121278" y="3455097"/>
            <a:ext cx="1544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Bahnschrift Condensed" panose="020B0502040204020203" pitchFamily="34" charset="0"/>
              </a:rPr>
              <a:t>ОТВРАЩЕНИЕ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2592EA-DDC8-440F-A7D1-88D51C9F91B6}"/>
              </a:ext>
            </a:extLst>
          </p:cNvPr>
          <p:cNvSpPr txBox="1"/>
          <p:nvPr/>
        </p:nvSpPr>
        <p:spPr>
          <a:xfrm>
            <a:off x="10517667" y="3455096"/>
            <a:ext cx="7409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Bahnschrift Condensed" panose="020B0502040204020203" pitchFamily="34" charset="0"/>
              </a:rPr>
              <a:t>СТЫД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CC07B6-7AD3-414B-8BE8-625C634AFD4E}"/>
              </a:ext>
            </a:extLst>
          </p:cNvPr>
          <p:cNvSpPr txBox="1"/>
          <p:nvPr/>
        </p:nvSpPr>
        <p:spPr>
          <a:xfrm>
            <a:off x="7613892" y="3946876"/>
            <a:ext cx="1178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Bahnschrift Condensed" panose="020B0502040204020203" pitchFamily="34" charset="0"/>
              </a:rPr>
              <a:t>ВИНА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6AB896-29F5-4B87-B976-848347E6D173}"/>
              </a:ext>
            </a:extLst>
          </p:cNvPr>
          <p:cNvSpPr txBox="1"/>
          <p:nvPr/>
        </p:nvSpPr>
        <p:spPr>
          <a:xfrm>
            <a:off x="8568413" y="1993221"/>
            <a:ext cx="2949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C00000"/>
                </a:solidFill>
                <a:latin typeface="Bahnschrift Condensed" panose="020B0502040204020203" pitchFamily="34" charset="0"/>
              </a:rPr>
              <a:t>ПО КЭРОЛЛУ ИЗАРДУ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1F4342-F6D6-4DF3-80C5-48F725254AC8}"/>
              </a:ext>
            </a:extLst>
          </p:cNvPr>
          <p:cNvSpPr txBox="1"/>
          <p:nvPr/>
        </p:nvSpPr>
        <p:spPr>
          <a:xfrm>
            <a:off x="7045180" y="5355433"/>
            <a:ext cx="42856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rgbClr val="C00000"/>
                </a:solidFill>
                <a:latin typeface="Bahnschrift Condensed" panose="020B0502040204020203" pitchFamily="34" charset="0"/>
              </a:rPr>
              <a:t>СИМПАТИЧЕСКАЯ И ПАРАСИМПАТИЧЕСКАЯ СИСТЕМЫ</a:t>
            </a:r>
          </a:p>
        </p:txBody>
      </p:sp>
      <p:sp>
        <p:nvSpPr>
          <p:cNvPr id="22" name="Стрелка: вправо 21">
            <a:extLst>
              <a:ext uri="{FF2B5EF4-FFF2-40B4-BE49-F238E27FC236}">
                <a16:creationId xmlns:a16="http://schemas.microsoft.com/office/drawing/2014/main" id="{1546735E-41EF-480E-AF25-AE44EAA44325}"/>
              </a:ext>
            </a:extLst>
          </p:cNvPr>
          <p:cNvSpPr/>
          <p:nvPr/>
        </p:nvSpPr>
        <p:spPr>
          <a:xfrm rot="16200000">
            <a:off x="8428631" y="4602150"/>
            <a:ext cx="930678" cy="387199"/>
          </a:xfrm>
          <a:prstGeom prst="rightArrow">
            <a:avLst>
              <a:gd name="adj1" fmla="val 100000"/>
              <a:gd name="adj2" fmla="val 124733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4E6122D6-F37D-4035-AD66-FC81B89EB682}"/>
              </a:ext>
            </a:extLst>
          </p:cNvPr>
          <p:cNvCxnSpPr>
            <a:cxnSpLocks/>
          </p:cNvCxnSpPr>
          <p:nvPr/>
        </p:nvCxnSpPr>
        <p:spPr>
          <a:xfrm>
            <a:off x="11582400" y="-50800"/>
            <a:ext cx="0" cy="690880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873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EFF99808-DD5F-4704-BE42-DC887FCBB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8935" y="2148985"/>
            <a:ext cx="2265680" cy="2265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B6B73D-4B07-4E76-BB74-624FD8DF6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443" y="946490"/>
            <a:ext cx="1781492" cy="866204"/>
          </a:xfrm>
        </p:spPr>
        <p:txBody>
          <a:bodyPr>
            <a:normAutofit/>
          </a:bodyPr>
          <a:lstStyle/>
          <a:p>
            <a:r>
              <a:rPr lang="ru-RU" sz="4400" dirty="0">
                <a:solidFill>
                  <a:srgbClr val="C00000"/>
                </a:solidFill>
                <a:latin typeface="Bahnschrift Condensed" panose="020B0502040204020203" pitchFamily="34" charset="0"/>
              </a:rPr>
              <a:t>ЧУВСТВО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DD9A7D1-CDEC-40E9-8442-1786BAC5E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860" y="3856237"/>
            <a:ext cx="4463621" cy="2430684"/>
          </a:xfrm>
        </p:spPr>
        <p:txBody>
          <a:bodyPr>
            <a:normAutofit/>
          </a:bodyPr>
          <a:lstStyle/>
          <a:p>
            <a:pPr algn="just"/>
            <a:r>
              <a:rPr lang="ru-RU" sz="1400" dirty="0">
                <a:latin typeface="Bahnschrift Condensed" panose="020B0502040204020203" pitchFamily="34" charset="0"/>
              </a:rPr>
              <a:t>СОСТОИТ ИЗ:</a:t>
            </a:r>
          </a:p>
          <a:p>
            <a:pPr marL="571500" indent="-342900" algn="just">
              <a:buFont typeface="Wingdings" panose="05000000000000000000" pitchFamily="2" charset="2"/>
              <a:buChar char="Ø"/>
            </a:pPr>
            <a:r>
              <a:rPr lang="ru-RU" sz="2400" dirty="0">
                <a:solidFill>
                  <a:srgbClr val="C00000"/>
                </a:solidFill>
                <a:latin typeface="Bahnschrift Condensed" panose="020B0502040204020203" pitchFamily="34" charset="0"/>
              </a:rPr>
              <a:t>ЭМОЦИИ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 (динамический компонент)</a:t>
            </a:r>
            <a:r>
              <a:rPr lang="ru-RU" sz="2400" dirty="0">
                <a:solidFill>
                  <a:srgbClr val="000000"/>
                </a:solidFill>
                <a:latin typeface="Bahnschrift Condensed" panose="020B0502040204020203" pitchFamily="34" charset="0"/>
              </a:rPr>
              <a:t> </a:t>
            </a:r>
          </a:p>
          <a:p>
            <a:pPr marL="571500" indent="-342900" algn="just">
              <a:buFont typeface="Wingdings" panose="05000000000000000000" pitchFamily="2" charset="2"/>
              <a:buChar char="Ø"/>
            </a:pPr>
            <a:r>
              <a:rPr lang="ru-RU" sz="2400" dirty="0">
                <a:solidFill>
                  <a:srgbClr val="C00000"/>
                </a:solidFill>
                <a:latin typeface="Bahnschrift Condensed" panose="020B0502040204020203" pitchFamily="34" charset="0"/>
              </a:rPr>
              <a:t>МЫСЛИ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 (убеждений)</a:t>
            </a:r>
          </a:p>
          <a:p>
            <a:pPr marL="571500" indent="-342900" algn="just">
              <a:buFont typeface="Wingdings" panose="05000000000000000000" pitchFamily="2" charset="2"/>
              <a:buChar char="Ø"/>
            </a:pPr>
            <a:r>
              <a:rPr lang="ru-RU" sz="2400" dirty="0">
                <a:solidFill>
                  <a:srgbClr val="C00000"/>
                </a:solidFill>
                <a:latin typeface="Bahnschrift Condensed" panose="020B0502040204020203" pitchFamily="34" charset="0"/>
              </a:rPr>
              <a:t>ОТНОШЕНИЯ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 (нравственных оценок)</a:t>
            </a:r>
          </a:p>
          <a:p>
            <a:pPr marL="571500" indent="-342900" algn="just">
              <a:buFont typeface="Wingdings" panose="05000000000000000000" pitchFamily="2" charset="2"/>
              <a:buChar char="Ø"/>
            </a:pPr>
            <a:r>
              <a:rPr lang="ru-RU" sz="2400" dirty="0">
                <a:solidFill>
                  <a:srgbClr val="C00000"/>
                </a:solidFill>
                <a:latin typeface="Bahnschrift Condensed" panose="020B0502040204020203" pitchFamily="34" charset="0"/>
              </a:rPr>
              <a:t>ПОВЕДЕНЧЕСКИЕ</a:t>
            </a:r>
            <a:r>
              <a:rPr lang="ru-RU" sz="2400" dirty="0">
                <a:solidFill>
                  <a:srgbClr val="000000"/>
                </a:solidFill>
                <a:latin typeface="Bahnschrift Condensed" panose="020B0502040204020203" pitchFamily="34" charset="0"/>
              </a:rPr>
              <a:t> </a:t>
            </a:r>
            <a:r>
              <a:rPr lang="ru-RU" sz="2400" dirty="0">
                <a:solidFill>
                  <a:srgbClr val="C00000"/>
                </a:solidFill>
                <a:latin typeface="Bahnschrift Condensed" panose="020B0502040204020203" pitchFamily="34" charset="0"/>
              </a:rPr>
              <a:t>ГОТОВНОСТИ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B392F19-5274-42F2-8963-855F9F3D0871}"/>
              </a:ext>
            </a:extLst>
          </p:cNvPr>
          <p:cNvCxnSpPr>
            <a:cxnSpLocks/>
          </p:cNvCxnSpPr>
          <p:nvPr/>
        </p:nvCxnSpPr>
        <p:spPr>
          <a:xfrm>
            <a:off x="11582400" y="-50800"/>
            <a:ext cx="0" cy="690880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D5D99C3-E59C-4492-A0B6-25852A444ABC}"/>
              </a:ext>
            </a:extLst>
          </p:cNvPr>
          <p:cNvSpPr txBox="1"/>
          <p:nvPr/>
        </p:nvSpPr>
        <p:spPr>
          <a:xfrm>
            <a:off x="6648086" y="4311311"/>
            <a:ext cx="2777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7200" dirty="0">
                <a:solidFill>
                  <a:srgbClr val="C00000"/>
                </a:solidFill>
                <a:latin typeface="Bahnschrift Condensed" panose="020B0502040204020203" pitchFamily="34" charset="0"/>
              </a:rPr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24E488-2EFD-4F9F-98B8-1B9FC60D512E}"/>
              </a:ext>
            </a:extLst>
          </p:cNvPr>
          <p:cNvSpPr txBox="1"/>
          <p:nvPr/>
        </p:nvSpPr>
        <p:spPr>
          <a:xfrm>
            <a:off x="7152890" y="4576746"/>
            <a:ext cx="29971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ГЛАВНЫХ СВОЙСТВА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985588-EA06-40FE-90A3-5307D75EAD47}"/>
              </a:ext>
            </a:extLst>
          </p:cNvPr>
          <p:cNvSpPr txBox="1"/>
          <p:nvPr/>
        </p:nvSpPr>
        <p:spPr>
          <a:xfrm>
            <a:off x="7542591" y="4988181"/>
            <a:ext cx="322421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1800" b="0" i="0" dirty="0">
                <a:solidFill>
                  <a:srgbClr val="C00000"/>
                </a:solidFill>
                <a:effectLst/>
                <a:latin typeface="Bahnschrift Condensed" panose="020B0502040204020203" pitchFamily="34" charset="0"/>
              </a:rPr>
              <a:t>ПРЕДМЕТНОСТЬ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800" dirty="0">
                <a:solidFill>
                  <a:srgbClr val="C00000"/>
                </a:solidFill>
                <a:latin typeface="Bahnschrift Condensed" panose="020B0502040204020203" pitchFamily="34" charset="0"/>
              </a:rPr>
              <a:t>АМБИВАЛЕНТНОСТЬ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800" dirty="0">
                <a:solidFill>
                  <a:srgbClr val="C00000"/>
                </a:solidFill>
                <a:latin typeface="Bahnschrift Condensed" panose="020B0502040204020203" pitchFamily="34" charset="0"/>
              </a:rPr>
              <a:t>КУЛЬТУРНАЯ</a:t>
            </a:r>
            <a:r>
              <a:rPr lang="ru-RU" sz="1800" dirty="0">
                <a:latin typeface="Bahnschrift Condensed" panose="020B0502040204020203" pitchFamily="34" charset="0"/>
              </a:rPr>
              <a:t> ОБУСЛОВЛЕННОСТЬ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75DCAD-0D67-473D-99B8-0ECE187F065C}"/>
              </a:ext>
            </a:extLst>
          </p:cNvPr>
          <p:cNvSpPr txBox="1"/>
          <p:nvPr/>
        </p:nvSpPr>
        <p:spPr>
          <a:xfrm>
            <a:off x="5864056" y="946489"/>
            <a:ext cx="477691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latin typeface="Bahnschrift Condensed" panose="020B0502040204020203" pitchFamily="34" charset="0"/>
              </a:rPr>
              <a:t>КЛАССИФИКАЦИЯ ПО </a:t>
            </a:r>
            <a:r>
              <a:rPr lang="ru-RU" sz="2000" dirty="0">
                <a:solidFill>
                  <a:srgbClr val="C00000"/>
                </a:solidFill>
                <a:latin typeface="Bahnschrift Condensed" panose="020B0502040204020203" pitchFamily="34" charset="0"/>
              </a:rPr>
              <a:t>РУБИНШТЕЙНУ</a:t>
            </a:r>
            <a:r>
              <a:rPr lang="ru-RU" sz="2000" dirty="0">
                <a:latin typeface="Bahnschrift Condensed" panose="020B0502040204020203" pitchFamily="34" charset="0"/>
              </a:rPr>
              <a:t>:</a:t>
            </a:r>
          </a:p>
          <a:p>
            <a:pPr algn="just"/>
            <a:endParaRPr lang="ru-RU" sz="2000" b="0" i="0" dirty="0">
              <a:solidFill>
                <a:srgbClr val="000000"/>
              </a:solidFill>
              <a:effectLst/>
              <a:latin typeface="Bahnschrift Condensed" panose="020B0502040204020203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ru-RU" sz="2000" b="0" i="0" dirty="0">
                <a:solidFill>
                  <a:srgbClr val="C00000"/>
                </a:solidFill>
                <a:effectLst/>
                <a:latin typeface="Bahnschrift Condensed" panose="020B0502040204020203" pitchFamily="34" charset="0"/>
              </a:rPr>
              <a:t>НРАВСТВЕННЫЕ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 (совесть, долг, дружба)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ru-RU" sz="2000" b="0" i="0" dirty="0">
                <a:solidFill>
                  <a:srgbClr val="C00000"/>
                </a:solidFill>
                <a:effectLst/>
                <a:latin typeface="Bahnschrift Condensed" panose="020B0502040204020203" pitchFamily="34" charset="0"/>
              </a:rPr>
              <a:t>ИНТЕЛЛЕКТУАЛЬНЫЕ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 (любознательность, сомнение, радость познания)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ru-RU" sz="2000" b="0" i="0" dirty="0">
                <a:solidFill>
                  <a:srgbClr val="C00000"/>
                </a:solidFill>
                <a:effectLst/>
                <a:latin typeface="Bahnschrift Condensed" panose="020B0502040204020203" pitchFamily="34" charset="0"/>
              </a:rPr>
              <a:t>ЭСТЕТИЧЕСКИЕ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 (чувство прекрасного, возвышенного)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ru-RU" sz="2000" b="0" i="0" dirty="0">
                <a:solidFill>
                  <a:srgbClr val="C00000"/>
                </a:solidFill>
                <a:effectLst/>
                <a:latin typeface="Bahnschrift Condensed" panose="020B0502040204020203" pitchFamily="34" charset="0"/>
              </a:rPr>
              <a:t>ПРАКСИЧЕСКИЕ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 (связанные с трудом — например, гордость за результат)</a:t>
            </a:r>
            <a:endParaRPr lang="ru-RU" sz="2000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6413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C5A8DEF-E500-40A7-A462-2CD51BC79A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9" t="6428" r="1851" b="8466"/>
          <a:stretch/>
        </p:blipFill>
        <p:spPr bwMode="auto">
          <a:xfrm>
            <a:off x="7112795" y="3099238"/>
            <a:ext cx="2916821" cy="262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1" name="Google Shape;101;g3e4622825a4_0_7"/>
          <p:cNvSpPr txBox="1">
            <a:spLocks noGrp="1"/>
          </p:cNvSpPr>
          <p:nvPr>
            <p:ph type="title"/>
          </p:nvPr>
        </p:nvSpPr>
        <p:spPr>
          <a:xfrm>
            <a:off x="609599" y="245697"/>
            <a:ext cx="10515600" cy="1119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rgbClr val="C00000"/>
                </a:solidFill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СТРАСТЬ</a:t>
            </a:r>
            <a:endParaRPr b="1" dirty="0">
              <a:solidFill>
                <a:srgbClr val="C00000"/>
              </a:solidFill>
              <a:latin typeface="Bahnschrift Condensed" panose="020B0502040204020203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g3e4622825a4_0_7"/>
          <p:cNvSpPr txBox="1"/>
          <p:nvPr/>
        </p:nvSpPr>
        <p:spPr>
          <a:xfrm>
            <a:off x="7283648" y="1553362"/>
            <a:ext cx="2228879" cy="57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chemeClr val="dk1"/>
                </a:solidFill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ВИДЫ СТРАСТИ</a:t>
            </a:r>
            <a:endParaRPr sz="2000" b="1" dirty="0">
              <a:solidFill>
                <a:schemeClr val="dk1"/>
              </a:solidFill>
              <a:latin typeface="Bahnschrift Condensed" panose="020B0502040204020203" pitchFamily="34" charset="0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4" name="Google Shape;104;g3e4622825a4_0_7"/>
          <p:cNvCxnSpPr>
            <a:cxnSpLocks/>
          </p:cNvCxnSpPr>
          <p:nvPr/>
        </p:nvCxnSpPr>
        <p:spPr>
          <a:xfrm flipH="1">
            <a:off x="7650866" y="2065613"/>
            <a:ext cx="747222" cy="1210022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6" name="Google Shape;106;g3e4622825a4_0_7"/>
          <p:cNvCxnSpPr>
            <a:cxnSpLocks/>
          </p:cNvCxnSpPr>
          <p:nvPr/>
        </p:nvCxnSpPr>
        <p:spPr>
          <a:xfrm>
            <a:off x="8398162" y="2065463"/>
            <a:ext cx="815245" cy="1202411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5" name="Google Shape;105;g3e4622825a4_0_7"/>
          <p:cNvSpPr txBox="1"/>
          <p:nvPr/>
        </p:nvSpPr>
        <p:spPr>
          <a:xfrm>
            <a:off x="5957062" y="5273883"/>
            <a:ext cx="2469317" cy="57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chemeClr val="dk1"/>
                </a:solidFill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гармоничная</a:t>
            </a:r>
            <a:endParaRPr sz="2400" dirty="0">
              <a:solidFill>
                <a:schemeClr val="dk1"/>
              </a:solidFill>
              <a:latin typeface="Bahnschrift Condensed" panose="020B0502040204020203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g3e4622825a4_0_7"/>
          <p:cNvSpPr txBox="1"/>
          <p:nvPr/>
        </p:nvSpPr>
        <p:spPr>
          <a:xfrm>
            <a:off x="8769731" y="5308530"/>
            <a:ext cx="2469317" cy="509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chemeClr val="dk1"/>
                </a:solidFill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деструктивная</a:t>
            </a:r>
            <a:endParaRPr sz="2400" dirty="0">
              <a:solidFill>
                <a:schemeClr val="dk1"/>
              </a:solidFill>
              <a:latin typeface="Bahnschrift Condensed" panose="020B0502040204020203" pitchFamily="34" charset="0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4CB3244E-32B3-412C-A73D-AB45C38F5895}"/>
              </a:ext>
            </a:extLst>
          </p:cNvPr>
          <p:cNvCxnSpPr>
            <a:cxnSpLocks/>
          </p:cNvCxnSpPr>
          <p:nvPr/>
        </p:nvCxnSpPr>
        <p:spPr>
          <a:xfrm>
            <a:off x="11582400" y="-50800"/>
            <a:ext cx="0" cy="690880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15975BC-417A-4F9A-AE6F-E2E4BECBD577}"/>
              </a:ext>
            </a:extLst>
          </p:cNvPr>
          <p:cNvSpPr txBox="1"/>
          <p:nvPr/>
        </p:nvSpPr>
        <p:spPr>
          <a:xfrm>
            <a:off x="839180" y="2717687"/>
            <a:ext cx="4924871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200" dirty="0">
                <a:solidFill>
                  <a:srgbClr val="C00000"/>
                </a:solidFill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это</a:t>
            </a:r>
            <a:r>
              <a:rPr lang="ru-RU" sz="2400" dirty="0"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 интенсивное, всепоглощающее чувство, которое проявляется в сильном влечении, энтузиазме и глубокой заинтересованности в чём-либо или ком-либо. </a:t>
            </a:r>
          </a:p>
          <a:p>
            <a:pPr algn="just"/>
            <a:endParaRPr lang="ru-RU" sz="2000" dirty="0">
              <a:latin typeface="Bahnschrift Condensed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743A85-42F9-4B92-8691-B446EEBBD370}"/>
              </a:ext>
            </a:extLst>
          </p:cNvPr>
          <p:cNvSpPr txBox="1"/>
          <p:nvPr/>
        </p:nvSpPr>
        <p:spPr>
          <a:xfrm>
            <a:off x="839180" y="2409910"/>
            <a:ext cx="15849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ahnschrift Condensed" panose="020B0502040204020203" pitchFamily="34" charset="0"/>
              </a:rPr>
              <a:t>ЛИЧНОЕ ДЕЛО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4622825a4_0_36"/>
          <p:cNvSpPr txBox="1">
            <a:spLocks noGrp="1"/>
          </p:cNvSpPr>
          <p:nvPr>
            <p:ph type="title"/>
          </p:nvPr>
        </p:nvSpPr>
        <p:spPr>
          <a:xfrm>
            <a:off x="838200" y="153900"/>
            <a:ext cx="10515600" cy="1119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rgbClr val="C00000"/>
                </a:solidFill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СТРЕСС</a:t>
            </a:r>
            <a:endParaRPr b="1" dirty="0">
              <a:solidFill>
                <a:srgbClr val="C00000"/>
              </a:solidFill>
              <a:latin typeface="Bahnschrift Condensed" panose="020B0502040204020203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A2FE41-6FB9-4DAC-BF67-B986868E5E7C}"/>
              </a:ext>
            </a:extLst>
          </p:cNvPr>
          <p:cNvSpPr txBox="1"/>
          <p:nvPr/>
        </p:nvSpPr>
        <p:spPr>
          <a:xfrm>
            <a:off x="1102041" y="1883240"/>
            <a:ext cx="447940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200" dirty="0">
                <a:solidFill>
                  <a:srgbClr val="C00000"/>
                </a:solidFill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ЭТО</a:t>
            </a:r>
            <a:r>
              <a:rPr lang="ru-RU" sz="2400" dirty="0"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 неспецифическая (общая) реакция организма на воздействие (физическое или психологическое), нарушающее его гомеостаз (стабильность внутренней среды), а также соответствующее состояние нервной системы организма или организма в целом.</a:t>
            </a:r>
          </a:p>
          <a:p>
            <a:endParaRPr lang="ru-RU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65FBBD-DE4F-46FC-95CB-51321909BC77}"/>
              </a:ext>
            </a:extLst>
          </p:cNvPr>
          <p:cNvSpPr txBox="1"/>
          <p:nvPr/>
        </p:nvSpPr>
        <p:spPr>
          <a:xfrm>
            <a:off x="1102041" y="1575463"/>
            <a:ext cx="15849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ahnschrift Condensed" panose="020B0502040204020203" pitchFamily="34" charset="0"/>
              </a:rPr>
              <a:t>ЛИЧНОЕ ДЕЛО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DB011423-D706-4781-9C5B-051E37E48262}"/>
              </a:ext>
            </a:extLst>
          </p:cNvPr>
          <p:cNvCxnSpPr>
            <a:cxnSpLocks/>
          </p:cNvCxnSpPr>
          <p:nvPr/>
        </p:nvCxnSpPr>
        <p:spPr>
          <a:xfrm>
            <a:off x="11582400" y="-50800"/>
            <a:ext cx="0" cy="690880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074" name="Picture 2">
            <a:extLst>
              <a:ext uri="{FF2B5EF4-FFF2-40B4-BE49-F238E27FC236}">
                <a16:creationId xmlns:a16="http://schemas.microsoft.com/office/drawing/2014/main" id="{AAA50D3F-2585-4E0F-83B3-0AF3F9B737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76" t="24354" r="11257" b="3241"/>
          <a:stretch/>
        </p:blipFill>
        <p:spPr bwMode="auto">
          <a:xfrm>
            <a:off x="3186708" y="4637016"/>
            <a:ext cx="1711821" cy="1719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2BC00B-08B7-44F5-90B9-7A5C8B88DCAE}"/>
              </a:ext>
            </a:extLst>
          </p:cNvPr>
          <p:cNvSpPr txBox="1"/>
          <p:nvPr/>
        </p:nvSpPr>
        <p:spPr>
          <a:xfrm>
            <a:off x="4529603" y="6041713"/>
            <a:ext cx="32915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C00000"/>
                </a:solidFill>
                <a:latin typeface="Bahnschrift Condensed" panose="020B0502040204020203" pitchFamily="34" charset="0"/>
              </a:rPr>
              <a:t>КУРЕНИЕ РВЕДИТ ВАШЕМУ ЗДОРОВЬЮ!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A3ABA4BC-49A3-4358-8E9C-BDCE18FA4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5678" y="913434"/>
            <a:ext cx="4683887" cy="4683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4622825a4_0_44"/>
          <p:cNvSpPr txBox="1">
            <a:spLocks noGrp="1"/>
          </p:cNvSpPr>
          <p:nvPr>
            <p:ph type="title"/>
          </p:nvPr>
        </p:nvSpPr>
        <p:spPr>
          <a:xfrm>
            <a:off x="838200" y="153900"/>
            <a:ext cx="10515600" cy="1119000"/>
          </a:xfrm>
          <a:prstGeom prst="rect">
            <a:avLst/>
          </a:prstGeom>
          <a:ln w="19050"/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rgbClr val="C00000"/>
                </a:solidFill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ВИДЫ</a:t>
            </a:r>
            <a:r>
              <a:rPr lang="ru-RU" b="1" dirty="0"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 СТРЕССА</a:t>
            </a:r>
            <a:endParaRPr b="1" dirty="0">
              <a:latin typeface="Bahnschrift Condensed" panose="020B0502040204020203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19243D-859E-44D1-AE26-498F23A22BD9}"/>
              </a:ext>
            </a:extLst>
          </p:cNvPr>
          <p:cNvSpPr txBox="1"/>
          <p:nvPr/>
        </p:nvSpPr>
        <p:spPr>
          <a:xfrm>
            <a:off x="335665" y="1515656"/>
            <a:ext cx="5972537" cy="1913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500" lvl="0" algn="just" rtl="0">
              <a:spcBef>
                <a:spcPts val="1000"/>
              </a:spcBef>
              <a:spcAft>
                <a:spcPts val="0"/>
              </a:spcAft>
              <a:buSzPts val="2600"/>
            </a:pPr>
            <a:r>
              <a:rPr lang="ru-RU" sz="2400" b="1" dirty="0"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ПО ХАКАРКТЕРУ </a:t>
            </a:r>
            <a:r>
              <a:rPr lang="ru-RU" sz="2400" b="1" dirty="0">
                <a:solidFill>
                  <a:srgbClr val="C00000"/>
                </a:solidFill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ВОЗДЕЙСТВИЯ</a:t>
            </a:r>
            <a:r>
              <a:rPr lang="ru-RU" sz="2400" b="1" dirty="0"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 И </a:t>
            </a:r>
            <a:r>
              <a:rPr lang="ru-RU" sz="2400" b="1" dirty="0">
                <a:solidFill>
                  <a:srgbClr val="C00000"/>
                </a:solidFill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РЕЗУЛЬТАТАМ</a:t>
            </a:r>
            <a:r>
              <a:rPr lang="ru-RU" sz="2400" b="1" dirty="0"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:</a:t>
            </a:r>
          </a:p>
          <a:p>
            <a:pPr marL="63500" lvl="0" algn="just" rtl="0">
              <a:spcBef>
                <a:spcPts val="1000"/>
              </a:spcBef>
              <a:spcAft>
                <a:spcPts val="0"/>
              </a:spcAft>
              <a:buSzPts val="2600"/>
            </a:pPr>
            <a:endParaRPr lang="ru-RU" sz="2400" b="1" dirty="0">
              <a:latin typeface="Bahnschrift Condensed" panose="020B0502040204020203" pitchFamily="34" charset="0"/>
              <a:ea typeface="Times New Roman"/>
              <a:cs typeface="Times New Roman"/>
              <a:sym typeface="Times New Roman"/>
            </a:endParaRPr>
          </a:p>
          <a:p>
            <a:pPr marL="977900" lvl="1" indent="-457200" algn="just" rtl="0">
              <a:spcBef>
                <a:spcPts val="0"/>
              </a:spcBef>
              <a:spcAft>
                <a:spcPts val="0"/>
              </a:spcAft>
              <a:buSzPts val="2600"/>
              <a:buFont typeface="Wingdings" panose="05000000000000000000" pitchFamily="2" charset="2"/>
              <a:buChar char="Ø"/>
            </a:pPr>
            <a:r>
              <a:rPr lang="ru-RU" sz="2400" dirty="0" err="1"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эустресс</a:t>
            </a:r>
            <a:r>
              <a:rPr lang="ru-RU" sz="2400" dirty="0"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 (положительная форма стресса) </a:t>
            </a:r>
          </a:p>
          <a:p>
            <a:pPr marL="977900" lvl="1" indent="-457200" algn="just" rtl="0">
              <a:spcBef>
                <a:spcPts val="0"/>
              </a:spcBef>
              <a:spcAft>
                <a:spcPts val="0"/>
              </a:spcAft>
              <a:buSzPts val="2600"/>
              <a:buFont typeface="Wingdings" panose="05000000000000000000" pitchFamily="2" charset="2"/>
              <a:buChar char="Ø"/>
            </a:pPr>
            <a:r>
              <a:rPr lang="ru-RU" sz="2400" dirty="0"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дистресс (разрушительная форма стресса)</a:t>
            </a:r>
          </a:p>
          <a:p>
            <a:endParaRPr lang="ru-RU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654C3B-123F-4DF2-8D2B-FFA27497C0ED}"/>
              </a:ext>
            </a:extLst>
          </p:cNvPr>
          <p:cNvSpPr txBox="1"/>
          <p:nvPr/>
        </p:nvSpPr>
        <p:spPr>
          <a:xfrm>
            <a:off x="335665" y="3429000"/>
            <a:ext cx="10324618" cy="3177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r>
              <a:rPr lang="ru-RU" sz="2400" b="1" i="0" u="none" strike="noStrike" dirty="0"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ПО </a:t>
            </a:r>
            <a:r>
              <a:rPr lang="ru-RU" sz="2400" b="1" i="0" u="none" strike="noStrike" dirty="0">
                <a:solidFill>
                  <a:srgbClr val="C00000"/>
                </a:solidFill>
                <a:effectLst/>
                <a:latin typeface="Bahnschrift Condensed" panose="020B0502040204020203" pitchFamily="34" charset="0"/>
              </a:rPr>
              <a:t>ПРОДОЛЖИТЕЛЬНОСТИ</a:t>
            </a:r>
            <a:r>
              <a:rPr lang="ru-RU" sz="2800" b="1" i="0" u="none" strike="noStrike" dirty="0"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: </a:t>
            </a:r>
          </a:p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endParaRPr lang="ru-RU" sz="2800" b="1" i="0" u="none" strike="noStrike" dirty="0">
              <a:solidFill>
                <a:srgbClr val="000000"/>
              </a:solidFill>
              <a:effectLst/>
              <a:latin typeface="Bahnschrift Condensed" panose="020B0502040204020203" pitchFamily="34" charset="0"/>
            </a:endParaRPr>
          </a:p>
          <a:p>
            <a:pPr marL="800100" lvl="1" indent="-342900" algn="just" rtl="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ru-RU" sz="2400" b="0" i="0" u="none" strike="noStrike" dirty="0"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острый стресс (кратковременная реакция на неожиданное событие – авария, шоковое известие, публичное выступление).</a:t>
            </a:r>
          </a:p>
          <a:p>
            <a:pPr marL="800100" lvl="1" indent="-342900" algn="just" rtl="0" fontAlgn="base">
              <a:spcBef>
                <a:spcPts val="5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ru-RU" sz="2400" b="0" i="0" u="none" strike="noStrike" dirty="0"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хронический стресс (длительное напряжение, часто с низкой интенсивностью, но постоянным воздействием провокаторов – неудовлетворённость работой, сложные межличностные отношения, финансовые трудности).</a:t>
            </a:r>
          </a:p>
          <a:p>
            <a:endParaRPr lang="ru-RU" sz="1200" b="1" dirty="0">
              <a:latin typeface="Bahnschrift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914097-E8EB-44CB-8A56-851E87C51A60}"/>
              </a:ext>
            </a:extLst>
          </p:cNvPr>
          <p:cNvSpPr txBox="1"/>
          <p:nvPr/>
        </p:nvSpPr>
        <p:spPr>
          <a:xfrm>
            <a:off x="5868363" y="1284673"/>
            <a:ext cx="566002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 fontAlgn="base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</a:pPr>
            <a:r>
              <a:rPr lang="ru-RU" sz="2400" b="1" i="0" u="none" strike="noStrike" dirty="0"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ПО ТИПУ </a:t>
            </a:r>
            <a:r>
              <a:rPr lang="ru-RU" sz="2400" b="1" i="0" u="none" strike="noStrike" dirty="0">
                <a:solidFill>
                  <a:srgbClr val="C00000"/>
                </a:solidFill>
                <a:effectLst/>
                <a:latin typeface="Bahnschrift Condensed" panose="020B0502040204020203" pitchFamily="34" charset="0"/>
              </a:rPr>
              <a:t>СТРЕССОРА</a:t>
            </a:r>
            <a:r>
              <a:rPr lang="ru-RU" sz="2400" b="1" i="0" u="none" strike="noStrike" dirty="0"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: </a:t>
            </a:r>
          </a:p>
          <a:p>
            <a:pPr marL="800100" lvl="1" indent="-342900" algn="just" rtl="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ru-RU" sz="2400" b="0" i="0" u="none" strike="noStrike" dirty="0"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информационный стресс (возникает при информационных перегрузках)</a:t>
            </a:r>
          </a:p>
          <a:p>
            <a:pPr marL="800100" lvl="1" indent="-342900" algn="just" rtl="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ru-RU" sz="2400" b="0" i="0" u="none" strike="noStrike" dirty="0"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эмоциональный стресс (проявляется в ситуациях угрозы, обиды, конфликта, когда блокируются значимые потребности)</a:t>
            </a:r>
          </a:p>
          <a:p>
            <a:endParaRPr lang="ru-RU" sz="1200" dirty="0"/>
          </a:p>
        </p:txBody>
      </p:sp>
      <p:sp>
        <p:nvSpPr>
          <p:cNvPr id="9" name="Взрыв: 14 точек 8">
            <a:extLst>
              <a:ext uri="{FF2B5EF4-FFF2-40B4-BE49-F238E27FC236}">
                <a16:creationId xmlns:a16="http://schemas.microsoft.com/office/drawing/2014/main" id="{8321689D-943D-47C1-A4B3-214ACE6B7E4B}"/>
              </a:ext>
            </a:extLst>
          </p:cNvPr>
          <p:cNvSpPr/>
          <p:nvPr/>
        </p:nvSpPr>
        <p:spPr>
          <a:xfrm>
            <a:off x="9963873" y="-2512175"/>
            <a:ext cx="4550780" cy="4294676"/>
          </a:xfrm>
          <a:prstGeom prst="irregularSeal2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4622825a4_0_52"/>
          <p:cNvSpPr txBox="1">
            <a:spLocks noGrp="1"/>
          </p:cNvSpPr>
          <p:nvPr>
            <p:ph type="title"/>
          </p:nvPr>
        </p:nvSpPr>
        <p:spPr>
          <a:xfrm>
            <a:off x="-186642" y="92129"/>
            <a:ext cx="12565284" cy="1119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rgbClr val="C00000"/>
                </a:solidFill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СТАДИИ</a:t>
            </a:r>
            <a:r>
              <a:rPr lang="ru-RU" b="1" dirty="0">
                <a:latin typeface="Bahnschrift Condensed" panose="020B0502040204020203" pitchFamily="34" charset="0"/>
                <a:ea typeface="Times New Roman"/>
                <a:cs typeface="Times New Roman"/>
                <a:sym typeface="Times New Roman"/>
              </a:rPr>
              <a:t> СТРЕССА ПО ГАНСУ СЕЛЬЕ</a:t>
            </a:r>
            <a:endParaRPr b="1" dirty="0">
              <a:latin typeface="Bahnschrift Condensed" panose="020B0502040204020203" pitchFamily="34" charset="0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2" name="Google Shape;132;g3e4622825a4_0_52" title="3683-04.triada-sely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8750" y="1160225"/>
            <a:ext cx="9636299" cy="55079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Взрыв: 14 точек 1">
            <a:extLst>
              <a:ext uri="{FF2B5EF4-FFF2-40B4-BE49-F238E27FC236}">
                <a16:creationId xmlns:a16="http://schemas.microsoft.com/office/drawing/2014/main" id="{4CD7FC30-6114-4211-9FA4-719810275AC5}"/>
              </a:ext>
            </a:extLst>
          </p:cNvPr>
          <p:cNvSpPr/>
          <p:nvPr/>
        </p:nvSpPr>
        <p:spPr>
          <a:xfrm>
            <a:off x="9963873" y="-2512175"/>
            <a:ext cx="4585504" cy="4618767"/>
          </a:xfrm>
          <a:prstGeom prst="irregularSeal2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AC87EA0B-6E8E-426F-9815-ED9143517AE7}"/>
              </a:ext>
            </a:extLst>
          </p:cNvPr>
          <p:cNvCxnSpPr>
            <a:cxnSpLocks/>
          </p:cNvCxnSpPr>
          <p:nvPr/>
        </p:nvCxnSpPr>
        <p:spPr>
          <a:xfrm>
            <a:off x="-598488" y="937549"/>
            <a:ext cx="2334691" cy="3818954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EF25B5A5-077D-4CDE-901F-53BB6C8EA804}"/>
              </a:ext>
            </a:extLst>
          </p:cNvPr>
          <p:cNvCxnSpPr>
            <a:cxnSpLocks/>
          </p:cNvCxnSpPr>
          <p:nvPr/>
        </p:nvCxnSpPr>
        <p:spPr>
          <a:xfrm flipH="1" flipV="1">
            <a:off x="-53656" y="222250"/>
            <a:ext cx="1880233" cy="4534253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263404B3-20DB-49CA-92F4-6E31C8D16023}"/>
              </a:ext>
            </a:extLst>
          </p:cNvPr>
          <p:cNvCxnSpPr>
            <a:cxnSpLocks/>
          </p:cNvCxnSpPr>
          <p:nvPr/>
        </p:nvCxnSpPr>
        <p:spPr>
          <a:xfrm flipH="1" flipV="1">
            <a:off x="-3811" y="-30478"/>
            <a:ext cx="2560320" cy="4899376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FB21EE-7072-444C-A68E-2797A1091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  <a:latin typeface="Bahnschrift Condensed" panose="020B0502040204020203" pitchFamily="34" charset="0"/>
              </a:rPr>
              <a:t>ЛИНИИ</a:t>
            </a:r>
            <a:r>
              <a:rPr lang="ru-RU" dirty="0">
                <a:latin typeface="Bahnschrift Condensed" panose="020B0502040204020203" pitchFamily="34" charset="0"/>
              </a:rPr>
              <a:t> ОТЛИЧИЯ</a:t>
            </a:r>
          </a:p>
        </p:txBody>
      </p:sp>
      <p:graphicFrame>
        <p:nvGraphicFramePr>
          <p:cNvPr id="3" name="Таблица 3">
            <a:extLst>
              <a:ext uri="{FF2B5EF4-FFF2-40B4-BE49-F238E27FC236}">
                <a16:creationId xmlns:a16="http://schemas.microsoft.com/office/drawing/2014/main" id="{9E1B9672-A665-4B77-8F18-E098718FA2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306414"/>
              </p:ext>
            </p:extLst>
          </p:nvPr>
        </p:nvGraphicFramePr>
        <p:xfrm>
          <a:off x="1590675" y="1958622"/>
          <a:ext cx="9324976" cy="2940756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637210">
                  <a:extLst>
                    <a:ext uri="{9D8B030D-6E8A-4147-A177-3AD203B41FA5}">
                      <a16:colId xmlns:a16="http://schemas.microsoft.com/office/drawing/2014/main" val="3641403412"/>
                    </a:ext>
                  </a:extLst>
                </a:gridCol>
                <a:gridCol w="2019784">
                  <a:extLst>
                    <a:ext uri="{9D8B030D-6E8A-4147-A177-3AD203B41FA5}">
                      <a16:colId xmlns:a16="http://schemas.microsoft.com/office/drawing/2014/main" val="3506133356"/>
                    </a:ext>
                  </a:extLst>
                </a:gridCol>
                <a:gridCol w="1352587">
                  <a:extLst>
                    <a:ext uri="{9D8B030D-6E8A-4147-A177-3AD203B41FA5}">
                      <a16:colId xmlns:a16="http://schemas.microsoft.com/office/drawing/2014/main" val="3576400573"/>
                    </a:ext>
                  </a:extLst>
                </a:gridCol>
                <a:gridCol w="1498582">
                  <a:extLst>
                    <a:ext uri="{9D8B030D-6E8A-4147-A177-3AD203B41FA5}">
                      <a16:colId xmlns:a16="http://schemas.microsoft.com/office/drawing/2014/main" val="3289175751"/>
                    </a:ext>
                  </a:extLst>
                </a:gridCol>
                <a:gridCol w="2816813">
                  <a:extLst>
                    <a:ext uri="{9D8B030D-6E8A-4147-A177-3AD203B41FA5}">
                      <a16:colId xmlns:a16="http://schemas.microsoft.com/office/drawing/2014/main" val="342456823"/>
                    </a:ext>
                  </a:extLst>
                </a:gridCol>
              </a:tblGrid>
              <a:tr h="469618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Bahnschrift Condensed" panose="020B0502040204020203" pitchFamily="34" charset="0"/>
                        </a:rPr>
                        <a:t>ПАРМЕТР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Bahnschrift Condensed" panose="020B0502040204020203" pitchFamily="34" charset="0"/>
                        </a:rPr>
                        <a:t>АФФЕКТ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Bahnschrift Condensed" panose="020B0502040204020203" pitchFamily="34" charset="0"/>
                        </a:rPr>
                        <a:t>ЭМОЦИЯ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Bahnschrift Condensed" panose="020B0502040204020203" pitchFamily="34" charset="0"/>
                        </a:rPr>
                        <a:t>ЧУВСТВО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Bahnschrift Condensed" panose="020B0502040204020203" pitchFamily="34" charset="0"/>
                        </a:rPr>
                        <a:t>НАСТРОЕНИЕ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6937162"/>
                  </a:ext>
                </a:extLst>
              </a:tr>
              <a:tr h="830862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Bahnschrift Condensed" panose="020B0502040204020203" pitchFamily="34" charset="0"/>
                        </a:rPr>
                        <a:t>СИЛА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Bahnschrift Condensed" panose="020B0502040204020203" pitchFamily="34" charset="0"/>
                        </a:rPr>
                        <a:t>МАКСИМАЛЬНАЯ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Bahnschrift Condensed" panose="020B0502040204020203" pitchFamily="34" charset="0"/>
                        </a:rPr>
                        <a:t>СРЕДНЯЯ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Bahnschrift Condensed" panose="020B0502040204020203" pitchFamily="34" charset="0"/>
                        </a:rPr>
                        <a:t>СРЕДНЯЯ/</a:t>
                      </a:r>
                    </a:p>
                    <a:p>
                      <a:pPr algn="ctr"/>
                      <a:r>
                        <a:rPr lang="ru-RU" sz="2000" dirty="0">
                          <a:latin typeface="Bahnschrift Condensed" panose="020B0502040204020203" pitchFamily="34" charset="0"/>
                        </a:rPr>
                        <a:t>СЛАБАЯ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Bahnschrift Condensed" panose="020B0502040204020203" pitchFamily="34" charset="0"/>
                        </a:rPr>
                        <a:t>МИНИМАЛЬНАЯ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281678"/>
                  </a:ext>
                </a:extLst>
              </a:tr>
              <a:tr h="469618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Bahnschrift Condensed" panose="020B0502040204020203" pitchFamily="34" charset="0"/>
                        </a:rPr>
                        <a:t>ДЛИТЕЛЬНОСТЬ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Bahnschrift Condensed" panose="020B0502040204020203" pitchFamily="34" charset="0"/>
                        </a:rPr>
                        <a:t>СЕКУНДЫ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Bahnschrift Condensed" panose="020B0502040204020203" pitchFamily="34" charset="0"/>
                        </a:rPr>
                        <a:t>МИНУТЫ/ ЧАСЫ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Bahnschrift Condensed" panose="020B0502040204020203" pitchFamily="34" charset="0"/>
                        </a:rPr>
                        <a:t>ГОДЫ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Bahnschrift Condensed" panose="020B0502040204020203" pitchFamily="34" charset="0"/>
                        </a:rPr>
                        <a:t>ЧАСЫ/ ДНИ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352416"/>
                  </a:ext>
                </a:extLst>
              </a:tr>
              <a:tr h="469618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Bahnschrift Condensed" panose="020B0502040204020203" pitchFamily="34" charset="0"/>
                        </a:rPr>
                        <a:t>ОСОЗНАННОСТЬ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Bahnschrift Condensed" panose="020B0502040204020203" pitchFamily="34" charset="0"/>
                        </a:rPr>
                        <a:t>МИНИМАЛЬНАЯ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Bahnschrift Condensed" panose="020B0502040204020203" pitchFamily="34" charset="0"/>
                        </a:rPr>
                        <a:t>ХОРОШАЯ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Bahnschrift Condensed" panose="020B0502040204020203" pitchFamily="34" charset="0"/>
                        </a:rPr>
                        <a:t>ЯСНАЯ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Bahnschrift Condensed" panose="020B0502040204020203" pitchFamily="34" charset="0"/>
                        </a:rPr>
                        <a:t>СЛАБАЯ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670600"/>
                  </a:ext>
                </a:extLst>
              </a:tr>
              <a:tr h="469618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Bahnschrift Condensed" panose="020B0502040204020203" pitchFamily="34" charset="0"/>
                        </a:rPr>
                        <a:t>ПРИЧИНА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Bahnschrift Condensed" panose="020B0502040204020203" pitchFamily="34" charset="0"/>
                        </a:rPr>
                        <a:t>ВСЕГДА ЕСТЬ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Bahnschrift Condensed" panose="020B0502040204020203" pitchFamily="34" charset="0"/>
                        </a:rPr>
                        <a:t>ВСЕГДА ЕСТЬ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Bahnschrift Condensed" panose="020B0502040204020203" pitchFamily="34" charset="0"/>
                        </a:rPr>
                        <a:t>К ОБЪЕКТУ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Bahnschrift Condensed" panose="020B0502040204020203" pitchFamily="34" charset="0"/>
                        </a:rPr>
                        <a:t>ЧАСТО НЕПОНЯТНА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73042"/>
                  </a:ext>
                </a:extLst>
              </a:tr>
            </a:tbl>
          </a:graphicData>
        </a:graphic>
      </p:graphicFrame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BA530F37-4DD0-43E1-9974-C4C3360B78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875719"/>
              </p:ext>
            </p:extLst>
          </p:nvPr>
        </p:nvGraphicFramePr>
        <p:xfrm>
          <a:off x="1590675" y="4868898"/>
          <a:ext cx="9324975" cy="75396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38300">
                  <a:extLst>
                    <a:ext uri="{9D8B030D-6E8A-4147-A177-3AD203B41FA5}">
                      <a16:colId xmlns:a16="http://schemas.microsoft.com/office/drawing/2014/main" val="2889602954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3561527156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1664053879"/>
                    </a:ext>
                  </a:extLst>
                </a:gridCol>
                <a:gridCol w="1497330">
                  <a:extLst>
                    <a:ext uri="{9D8B030D-6E8A-4147-A177-3AD203B41FA5}">
                      <a16:colId xmlns:a16="http://schemas.microsoft.com/office/drawing/2014/main" val="2170444658"/>
                    </a:ext>
                  </a:extLst>
                </a:gridCol>
                <a:gridCol w="2817495">
                  <a:extLst>
                    <a:ext uri="{9D8B030D-6E8A-4147-A177-3AD203B41FA5}">
                      <a16:colId xmlns:a16="http://schemas.microsoft.com/office/drawing/2014/main" val="120974264"/>
                    </a:ext>
                  </a:extLst>
                </a:gridCol>
              </a:tblGrid>
              <a:tr h="753963"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Bahnschrift Condensed" panose="020B0502040204020203" pitchFamily="34" charset="0"/>
                        </a:rPr>
                        <a:t>ВВЛИЯНИЕ НА ВОЛЮ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Bahnschrift Condensed" panose="020B0502040204020203" pitchFamily="34" charset="0"/>
                        </a:rPr>
                        <a:t>ПОТЕРЯ КОНТРОЛЯ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Bahnschrift Condensed" panose="020B0502040204020203" pitchFamily="34" charset="0"/>
                        </a:rPr>
                        <a:t>ОСЛАБЛЕНИЕ КОНТРОЛЯ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Bahnschrift Condensed" panose="020B0502040204020203" pitchFamily="34" charset="0"/>
                        </a:rPr>
                        <a:t>МОТИВИРУЕТ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 dirty="0">
                          <a:solidFill>
                            <a:schemeClr val="tx1"/>
                          </a:solidFill>
                          <a:latin typeface="Bahnschrift Condensed" panose="020B0502040204020203" pitchFamily="34" charset="0"/>
                        </a:rPr>
                        <a:t>ТОНИЗИРУЕТ/ УГНЕТАЕТ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594963"/>
                  </a:ext>
                </a:extLst>
              </a:tr>
            </a:tbl>
          </a:graphicData>
        </a:graphic>
      </p:graphicFrame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953C03A8-ADB4-4EC8-97D5-BF037C579DF5}"/>
              </a:ext>
            </a:extLst>
          </p:cNvPr>
          <p:cNvCxnSpPr>
            <a:cxnSpLocks/>
          </p:cNvCxnSpPr>
          <p:nvPr/>
        </p:nvCxnSpPr>
        <p:spPr>
          <a:xfrm>
            <a:off x="-156211" y="-142873"/>
            <a:ext cx="1746885" cy="372198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117D98B6-FEF7-4825-B966-71A123E86BD6}"/>
              </a:ext>
            </a:extLst>
          </p:cNvPr>
          <p:cNvCxnSpPr>
            <a:cxnSpLocks/>
          </p:cNvCxnSpPr>
          <p:nvPr/>
        </p:nvCxnSpPr>
        <p:spPr>
          <a:xfrm>
            <a:off x="-598488" y="931578"/>
            <a:ext cx="2189162" cy="422052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CF42E2E1-34B1-4BEA-9826-A0A037E39603}"/>
              </a:ext>
            </a:extLst>
          </p:cNvPr>
          <p:cNvSpPr/>
          <p:nvPr/>
        </p:nvSpPr>
        <p:spPr>
          <a:xfrm>
            <a:off x="11717019" y="365124"/>
            <a:ext cx="1859280" cy="160020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336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DDB459-F435-4C5B-A16B-7E00F44C4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351" y="365124"/>
            <a:ext cx="2446656" cy="1325563"/>
          </a:xfrm>
        </p:spPr>
        <p:txBody>
          <a:bodyPr/>
          <a:lstStyle/>
          <a:p>
            <a:r>
              <a:rPr lang="ru-RU" dirty="0">
                <a:solidFill>
                  <a:srgbClr val="C00000"/>
                </a:solidFill>
                <a:latin typeface="Bahnschrift Condensed" panose="020B0502040204020203" pitchFamily="34" charset="0"/>
              </a:rPr>
              <a:t>РАЗЛИЧИЯ…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8ADF2D-DF7A-43FE-9FDB-7F8282AD55E1}"/>
              </a:ext>
            </a:extLst>
          </p:cNvPr>
          <p:cNvSpPr txBox="1"/>
          <p:nvPr/>
        </p:nvSpPr>
        <p:spPr>
          <a:xfrm>
            <a:off x="5082539" y="846931"/>
            <a:ext cx="663448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0" i="0" dirty="0">
                <a:solidFill>
                  <a:srgbClr val="C00000"/>
                </a:solidFill>
                <a:effectLst/>
                <a:latin typeface="Bahnschrift Condensed" panose="020B0502040204020203" pitchFamily="34" charset="0"/>
              </a:rPr>
              <a:t>АФФЕКТ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VS.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 </a:t>
            </a:r>
            <a:r>
              <a:rPr lang="ru-RU" sz="2400" b="0" i="0" dirty="0">
                <a:solidFill>
                  <a:srgbClr val="C00000"/>
                </a:solidFill>
                <a:effectLst/>
                <a:latin typeface="Bahnschrift Condensed" panose="020B0502040204020203" pitchFamily="34" charset="0"/>
              </a:rPr>
              <a:t>СТРЕСС</a:t>
            </a:r>
            <a:br>
              <a:rPr lang="ru-RU" sz="1800" dirty="0">
                <a:latin typeface="Bahnschrift Condensed" panose="020B0502040204020203" pitchFamily="34" charset="0"/>
              </a:rPr>
            </a:br>
            <a:r>
              <a:rPr lang="ru-RU" sz="1800" b="0" i="0" dirty="0"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Аффект — краткий взрыв. </a:t>
            </a:r>
          </a:p>
          <a:p>
            <a:pPr algn="just"/>
            <a:r>
              <a:rPr lang="ru-RU" sz="1800" b="0" i="0" dirty="0"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Стресс — длительное напряжение. </a:t>
            </a:r>
          </a:p>
          <a:p>
            <a:pPr algn="just"/>
            <a:r>
              <a:rPr lang="ru-RU" sz="1800" b="0" i="0" dirty="0"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Можно быть в состоянии хронического стресса и НИ РАЗУ не впасть в аффект.</a:t>
            </a:r>
          </a:p>
          <a:p>
            <a:br>
              <a:rPr lang="ru-RU" sz="1800" dirty="0">
                <a:latin typeface="Bahnschrift Condensed" panose="020B0502040204020203" pitchFamily="34" charset="0"/>
              </a:rPr>
            </a:br>
            <a:r>
              <a:rPr lang="ru-RU" sz="2400" dirty="0">
                <a:solidFill>
                  <a:srgbClr val="C00000"/>
                </a:solidFill>
                <a:latin typeface="Bahnschrift Condensed" panose="020B0502040204020203" pitchFamily="34" charset="0"/>
              </a:rPr>
              <a:t>ЧУВСТВО</a:t>
            </a:r>
            <a:r>
              <a:rPr lang="ru-RU" sz="2400" dirty="0">
                <a:latin typeface="Bahnschrift Condensed" panose="020B0502040204020203" pitchFamily="34" charset="0"/>
              </a:rPr>
              <a:t> </a:t>
            </a:r>
            <a:r>
              <a:rPr lang="en-US" sz="2400" dirty="0">
                <a:latin typeface="Bahnschrift Condensed" panose="020B0502040204020203" pitchFamily="34" charset="0"/>
              </a:rPr>
              <a:t>VS. </a:t>
            </a:r>
            <a:r>
              <a:rPr lang="ru-RU" sz="2400" dirty="0">
                <a:solidFill>
                  <a:srgbClr val="C00000"/>
                </a:solidFill>
                <a:latin typeface="Bahnschrift Condensed" panose="020B0502040204020203" pitchFamily="34" charset="0"/>
              </a:rPr>
              <a:t>СТРАСТЬ</a:t>
            </a:r>
            <a:br>
              <a:rPr lang="ru-RU" sz="1800" dirty="0">
                <a:latin typeface="Bahnschrift Condensed" panose="020B0502040204020203" pitchFamily="34" charset="0"/>
              </a:rPr>
            </a:br>
            <a:r>
              <a:rPr lang="ru-RU" sz="1800" b="0" i="0" dirty="0"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Страсть — всегда сильная, часто разрушительная, может быть к неодушевлённому (коллекционирование). </a:t>
            </a:r>
          </a:p>
          <a:p>
            <a:pPr algn="just"/>
            <a:r>
              <a:rPr lang="ru-RU" sz="1800" b="0" i="0" dirty="0"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Чувство — может быть спокойным (уважение), направлено на человека/общество/идею.</a:t>
            </a:r>
          </a:p>
          <a:p>
            <a:br>
              <a:rPr lang="ru-RU" sz="1800" dirty="0">
                <a:latin typeface="Bahnschrift Condensed" panose="020B0502040204020203" pitchFamily="34" charset="0"/>
              </a:rPr>
            </a:br>
            <a:r>
              <a:rPr lang="ru-RU" sz="2400" dirty="0">
                <a:solidFill>
                  <a:srgbClr val="C00000"/>
                </a:solidFill>
                <a:latin typeface="Bahnschrift Condensed" panose="020B0502040204020203" pitchFamily="34" charset="0"/>
              </a:rPr>
              <a:t>НАСТРОЕНИЕ</a:t>
            </a:r>
            <a:r>
              <a:rPr lang="ru-RU" sz="2400" dirty="0">
                <a:latin typeface="Bahnschrift Condensed" panose="020B0502040204020203" pitchFamily="34" charset="0"/>
              </a:rPr>
              <a:t> </a:t>
            </a:r>
            <a:r>
              <a:rPr lang="en-US" sz="2400" dirty="0">
                <a:latin typeface="Bahnschrift Condensed" panose="020B0502040204020203" pitchFamily="34" charset="0"/>
              </a:rPr>
              <a:t>VS.</a:t>
            </a:r>
            <a:r>
              <a:rPr lang="ru-RU" sz="2400" dirty="0">
                <a:latin typeface="Bahnschrift Condensed" panose="020B0502040204020203" pitchFamily="34" charset="0"/>
              </a:rPr>
              <a:t> </a:t>
            </a:r>
            <a:r>
              <a:rPr lang="ru-RU" sz="2400" dirty="0">
                <a:solidFill>
                  <a:srgbClr val="C00000"/>
                </a:solidFill>
                <a:latin typeface="Bahnschrift Condensed" panose="020B0502040204020203" pitchFamily="34" charset="0"/>
              </a:rPr>
              <a:t>ЧУВСТВЕННЫЙ ТОН</a:t>
            </a:r>
            <a:br>
              <a:rPr lang="ru-RU" sz="2400" dirty="0">
                <a:latin typeface="Bahnschrift Condensed" panose="020B0502040204020203" pitchFamily="34" charset="0"/>
              </a:rPr>
            </a:br>
            <a:r>
              <a:rPr lang="ru-RU" sz="1800" b="0" i="0" dirty="0"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Чувственный тон — физиологическая оценка прямо сейчас («вам вкусно?»). </a:t>
            </a:r>
          </a:p>
          <a:p>
            <a:pPr algn="just"/>
            <a:r>
              <a:rPr lang="ru-RU" sz="1800" b="0" i="0" dirty="0"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Настроение — глобальное состояние («как вы себя чувствуете в целом?»).</a:t>
            </a:r>
          </a:p>
          <a:p>
            <a:br>
              <a:rPr lang="ru-RU" sz="1800" dirty="0">
                <a:latin typeface="Bahnschrift Condensed" panose="020B0502040204020203" pitchFamily="34" charset="0"/>
              </a:rPr>
            </a:br>
            <a:r>
              <a:rPr lang="ru-RU" sz="2400" dirty="0">
                <a:solidFill>
                  <a:srgbClr val="C00000"/>
                </a:solidFill>
                <a:latin typeface="Bahnschrift Condensed" panose="020B0502040204020203" pitchFamily="34" charset="0"/>
              </a:rPr>
              <a:t>ПАРАДОКС СТРЕССА</a:t>
            </a:r>
            <a:br>
              <a:rPr lang="ru-RU" sz="1800" dirty="0">
                <a:latin typeface="Bahnschrift Condensed" panose="020B0502040204020203" pitchFamily="34" charset="0"/>
              </a:rPr>
            </a:br>
            <a:r>
              <a:rPr lang="ru-RU" sz="1800" b="0" i="0" dirty="0"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Полное отсутствие стресса (абсолютный покой) вызывает скуку и деградацию. </a:t>
            </a:r>
          </a:p>
          <a:p>
            <a:r>
              <a:rPr lang="ru-RU" sz="1800" b="0" i="0" dirty="0"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Без </a:t>
            </a:r>
            <a:r>
              <a:rPr lang="ru-RU" sz="1800" b="0" i="0" dirty="0" err="1"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эустресса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 атрофируется способность к радости.</a:t>
            </a:r>
            <a:endParaRPr lang="ru-RU" sz="1800" dirty="0">
              <a:latin typeface="Bahnschrift Condensed" panose="020B0502040204020203" pitchFamily="34" charset="0"/>
            </a:endParaRPr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9EC15D95-9817-4A2D-9974-797747E834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31" t="69667" r="3554" b="6658"/>
          <a:stretch/>
        </p:blipFill>
        <p:spPr bwMode="auto">
          <a:xfrm>
            <a:off x="684532" y="2332752"/>
            <a:ext cx="3630294" cy="3193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B1642624-373F-41B8-9809-8F5936C8A6E2}"/>
              </a:ext>
            </a:extLst>
          </p:cNvPr>
          <p:cNvSpPr/>
          <p:nvPr/>
        </p:nvSpPr>
        <p:spPr>
          <a:xfrm>
            <a:off x="11717019" y="365124"/>
            <a:ext cx="1859280" cy="160020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485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0" name="Picture 4">
            <a:extLst>
              <a:ext uri="{FF2B5EF4-FFF2-40B4-BE49-F238E27FC236}">
                <a16:creationId xmlns:a16="http://schemas.microsoft.com/office/drawing/2014/main" id="{F746CE7B-694B-4CE9-8519-B9F210DA0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760" y="563880"/>
            <a:ext cx="4084320" cy="408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081BCE-9494-4EE5-AD43-713FF129A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400" dirty="0">
                <a:solidFill>
                  <a:srgbClr val="C00000"/>
                </a:solidFill>
                <a:latin typeface="Bahnschrift Condensed" panose="020B0502040204020203" pitchFamily="34" charset="0"/>
              </a:rPr>
              <a:t>СХОДСТВА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C4F6393-CF3C-43A4-80AC-2B5F57312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470416"/>
            <a:ext cx="6172200" cy="3249295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ru-RU" sz="2400" b="0" i="0" dirty="0">
                <a:solidFill>
                  <a:srgbClr val="C00000"/>
                </a:solidFill>
                <a:effectLst/>
                <a:latin typeface="Bahnschrift Condensed" panose="020B0502040204020203" pitchFamily="34" charset="0"/>
              </a:rPr>
              <a:t>Все они 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— формы переживания человеком его отношения к миру и себе.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2400" b="0" i="0" dirty="0"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Все имеют знак (положительные или отрицательные).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2400" b="0" i="0" dirty="0">
                <a:solidFill>
                  <a:srgbClr val="C00000"/>
                </a:solidFill>
                <a:effectLst/>
                <a:latin typeface="Bahnschrift Condensed" panose="020B0502040204020203" pitchFamily="34" charset="0"/>
              </a:rPr>
              <a:t>Все влияют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 на физиологию (пульс, гормоны).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2400" b="0" i="0" dirty="0">
                <a:solidFill>
                  <a:srgbClr val="C00000"/>
                </a:solidFill>
                <a:effectLst/>
                <a:latin typeface="Bahnschrift Condensed" panose="020B0502040204020203" pitchFamily="34" charset="0"/>
              </a:rPr>
              <a:t>Связаны с потребностями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:</a:t>
            </a:r>
          </a:p>
          <a:p>
            <a:pPr marL="25400" indent="0" algn="just">
              <a:buNone/>
            </a:pPr>
            <a:r>
              <a:rPr lang="ru-RU" sz="2400" b="0" i="0" dirty="0">
                <a:solidFill>
                  <a:srgbClr val="C00000"/>
                </a:solidFill>
                <a:effectLst/>
                <a:latin typeface="Bahnschrift Condensed" panose="020B0502040204020203" pitchFamily="34" charset="0"/>
              </a:rPr>
              <a:t>удовлетворение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 → </a:t>
            </a:r>
            <a:r>
              <a:rPr lang="ru-RU" sz="2400" b="0" i="0" dirty="0">
                <a:solidFill>
                  <a:srgbClr val="C00000"/>
                </a:solidFill>
                <a:effectLst/>
                <a:latin typeface="Bahnschrift Condensed" panose="020B0502040204020203" pitchFamily="34" charset="0"/>
              </a:rPr>
              <a:t>положительная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 форма</a:t>
            </a:r>
          </a:p>
          <a:p>
            <a:pPr marL="25400" indent="0" algn="just">
              <a:buNone/>
            </a:pPr>
            <a:r>
              <a:rPr lang="ru-RU" sz="2400" b="0" i="0" dirty="0">
                <a:solidFill>
                  <a:srgbClr val="C00000"/>
                </a:solidFill>
                <a:effectLst/>
                <a:latin typeface="Bahnschrift Condensed" panose="020B0502040204020203" pitchFamily="34" charset="0"/>
              </a:rPr>
              <a:t>нет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 → </a:t>
            </a:r>
            <a:r>
              <a:rPr lang="ru-RU" sz="2400" b="0" i="0" dirty="0">
                <a:solidFill>
                  <a:srgbClr val="C00000"/>
                </a:solidFill>
                <a:effectLst/>
                <a:latin typeface="Bahnschrift Condensed" panose="020B0502040204020203" pitchFamily="34" charset="0"/>
              </a:rPr>
              <a:t>отрицательная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Bahnschrift Condensed" panose="020B0502040204020203" pitchFamily="34" charset="0"/>
              </a:rPr>
              <a:t>.</a:t>
            </a:r>
            <a:endParaRPr lang="ru-RU" sz="2400" dirty="0">
              <a:latin typeface="Bahnschrift Condensed" panose="020B0502040204020203" pitchFamily="34" charset="0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18847F5C-62A4-4C2A-B2A0-FC9B1A99C967}"/>
              </a:ext>
            </a:extLst>
          </p:cNvPr>
          <p:cNvSpPr/>
          <p:nvPr/>
        </p:nvSpPr>
        <p:spPr>
          <a:xfrm>
            <a:off x="11717019" y="365124"/>
            <a:ext cx="1859280" cy="160020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222" name="Picture 6">
            <a:extLst>
              <a:ext uri="{FF2B5EF4-FFF2-40B4-BE49-F238E27FC236}">
                <a16:creationId xmlns:a16="http://schemas.microsoft.com/office/drawing/2014/main" id="{7A5EDCA0-F753-4AD7-836E-34EA8B0333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96" t="7648" r="27068" b="9809"/>
          <a:stretch/>
        </p:blipFill>
        <p:spPr bwMode="auto">
          <a:xfrm>
            <a:off x="9374028" y="2606040"/>
            <a:ext cx="1547972" cy="3113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698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64EDF3-A10C-412A-888C-32253F741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ahnschrift Condensed" panose="020B0502040204020203" pitchFamily="34" charset="0"/>
              </a:rPr>
              <a:t>СПАСИБО ЗА ВНИМАНИЕ!</a:t>
            </a:r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1C4C829C-130B-47DE-84CC-46B2EC3CAB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42" t="11695" r="28510" b="63038"/>
          <a:stretch/>
        </p:blipFill>
        <p:spPr bwMode="auto">
          <a:xfrm>
            <a:off x="6096000" y="914400"/>
            <a:ext cx="5208609" cy="4725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BF6CFD9-7D60-49C7-925C-18134C733312}"/>
              </a:ext>
            </a:extLst>
          </p:cNvPr>
          <p:cNvSpPr/>
          <p:nvPr/>
        </p:nvSpPr>
        <p:spPr>
          <a:xfrm>
            <a:off x="5636871" y="2465408"/>
            <a:ext cx="2604304" cy="10648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41691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707</Words>
  <Application>Microsoft Office PowerPoint</Application>
  <PresentationFormat>Широкоэкранный</PresentationFormat>
  <Paragraphs>142</Paragraphs>
  <Slides>14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Bahnschrift Condensed</vt:lpstr>
      <vt:lpstr>Calibri</vt:lpstr>
      <vt:lpstr>Wingdings</vt:lpstr>
      <vt:lpstr>Тема Office</vt:lpstr>
      <vt:lpstr>Формы переживания чувств. Их характеристика, сходства и различия.</vt:lpstr>
      <vt:lpstr>ЧУВСТВЕННЫЙ (ЭМОЦИОНАЛЬНЫЙ) ТОН</vt:lpstr>
      <vt:lpstr>НАСТРОЕНИЕ</vt:lpstr>
      <vt:lpstr>АФФЕКТ</vt:lpstr>
      <vt:lpstr>ЭМОЦИИ</vt:lpstr>
      <vt:lpstr>ЧУВСТВО</vt:lpstr>
      <vt:lpstr>СТРАСТЬ</vt:lpstr>
      <vt:lpstr>СТРЕСС</vt:lpstr>
      <vt:lpstr>ВИДЫ СТРЕССА</vt:lpstr>
      <vt:lpstr>СТАДИИ СТРЕССА ПО ГАНСУ СЕЛЬЕ</vt:lpstr>
      <vt:lpstr>ЛИНИИ ОТЛИЧИЯ</vt:lpstr>
      <vt:lpstr>РАЗЛИЧИЯ…</vt:lpstr>
      <vt:lpstr>СХОДСТВА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Формы переживания чувств. Их характеристика, сходства и различия.</dc:title>
  <dc:creator>Лада Семенова</dc:creator>
  <cp:lastModifiedBy>COMP</cp:lastModifiedBy>
  <cp:revision>25</cp:revision>
  <dcterms:created xsi:type="dcterms:W3CDTF">2026-05-17T13:56:06Z</dcterms:created>
  <dcterms:modified xsi:type="dcterms:W3CDTF">2026-05-25T00:48:10Z</dcterms:modified>
</cp:coreProperties>
</file>
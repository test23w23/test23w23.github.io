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Montserrat SemiBold"/>
      <p:regular r:id="rId17"/>
      <p:bold r:id="rId18"/>
      <p:italic r:id="rId19"/>
      <p:boldItalic r:id="rId20"/>
    </p:embeddedFont>
    <p:embeddedFont>
      <p:font typeface="Playfair Display"/>
      <p:regular r:id="rId21"/>
      <p:bold r:id="rId22"/>
      <p:italic r:id="rId23"/>
      <p:boldItalic r:id="rId24"/>
    </p:embeddedFont>
    <p:embeddedFont>
      <p:font typeface="Montserra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jvpvC6vTjp4U/O1hQHLvaz54pF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B1B7F1-A6EE-4EE8-AC3D-799567924914}">
  <a:tblStyle styleId="{B4B1B7F1-A6EE-4EE8-AC3D-79956792491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boldItalic.fntdata"/><Relationship Id="rId22" Type="http://schemas.openxmlformats.org/officeDocument/2006/relationships/font" Target="fonts/PlayfairDisplay-bold.fntdata"/><Relationship Id="rId21" Type="http://schemas.openxmlformats.org/officeDocument/2006/relationships/font" Target="fonts/PlayfairDisplay-regular.fntdata"/><Relationship Id="rId24" Type="http://schemas.openxmlformats.org/officeDocument/2006/relationships/font" Target="fonts/PlayfairDisplay-boldItalic.fntdata"/><Relationship Id="rId23" Type="http://schemas.openxmlformats.org/officeDocument/2006/relationships/font" Target="fonts/PlayfairDisplay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MontserratSemiBold-regular.fntdata"/><Relationship Id="rId16" Type="http://schemas.openxmlformats.org/officeDocument/2006/relationships/slide" Target="slides/slide10.xml"/><Relationship Id="rId19" Type="http://schemas.openxmlformats.org/officeDocument/2006/relationships/font" Target="fonts/MontserratSemiBold-italic.fntdata"/><Relationship Id="rId18" Type="http://schemas.openxmlformats.org/officeDocument/2006/relationships/font" Target="fonts/Montserrat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095375" y="1362223"/>
            <a:ext cx="10001250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5D40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Струĸтура сознания по А.Н. Леонтьеву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571500" y="3251745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C0808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Роль языĸа в формировании сознания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5619750" y="4059435"/>
            <a:ext cx="952500" cy="38100"/>
          </a:xfrm>
          <a:prstGeom prst="rect">
            <a:avLst/>
          </a:prstGeom>
          <a:solidFill>
            <a:srgbClr val="FFD1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71500" y="4383285"/>
            <a:ext cx="1104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Выполнили студентки</a:t>
            </a:r>
            <a:r>
              <a:rPr i="1" lang="en-US" sz="1800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0" i="1" lang="en-US" sz="18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второго курса ФНЯ 0-24-2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8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 Седова Арина, Дикова Дарья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9F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90800"/>
            <a:ext cx="523875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590800"/>
            <a:ext cx="5238750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/>
          <p:cNvSpPr txBox="1"/>
          <p:nvPr/>
        </p:nvSpPr>
        <p:spPr>
          <a:xfrm>
            <a:off x="857250" y="2876550"/>
            <a:ext cx="490061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C0808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1. Коллективный труд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857250" y="3371850"/>
            <a:ext cx="46672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Появление целенаправленных действий и «промежуточных целей». Возникает способность мысленно примеривать действие к результату в общественном производстве.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6667500" y="2876550"/>
            <a:ext cx="490061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C0808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2. Предметная речь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6667500" y="3371850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Общение с помощью языка, указывающего на объекты. Именно язык превращает психическое отражение в </a:t>
            </a:r>
            <a:r>
              <a:rPr b="1" i="0" lang="en-US" sz="15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сознательное</a:t>
            </a:r>
            <a:r>
              <a:rPr b="0" i="0" lang="en-US" sz="15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5D40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Условия возникновения сознания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571500" y="571500"/>
            <a:ext cx="47625" cy="533400"/>
          </a:xfrm>
          <a:prstGeom prst="rect">
            <a:avLst/>
          </a:prstGeom>
          <a:solidFill>
            <a:srgbClr val="FFD1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9FA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 txBox="1"/>
          <p:nvPr/>
        </p:nvSpPr>
        <p:spPr>
          <a:xfrm>
            <a:off x="762000" y="1714500"/>
            <a:ext cx="500062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5D40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Разрыв «порочного круга»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71500" y="1714500"/>
            <a:ext cx="47625" cy="1066800"/>
          </a:xfrm>
          <a:prstGeom prst="rect">
            <a:avLst/>
          </a:prstGeom>
          <a:solidFill>
            <a:srgbClr val="FFD1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571500" y="31623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Чтобы действовать осознанно, нужен образ цели, но чтобы появился образ, нужно действие.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714375" y="3962400"/>
            <a:ext cx="48101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Круг разрывается в практическом действии: человек сначала «примеряет» действие в уме, а затем действует реально. Так образ и действие оказываются в одной плоскости.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571500" y="3962400"/>
            <a:ext cx="28575" cy="1219200"/>
          </a:xfrm>
          <a:prstGeom prst="rect">
            <a:avLst/>
          </a:prstGeom>
          <a:solidFill>
            <a:srgbClr val="C080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63174" y="354725"/>
            <a:ext cx="5533099" cy="6224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9FA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57437"/>
            <a:ext cx="3492549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57437"/>
            <a:ext cx="3492549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57437"/>
            <a:ext cx="3492549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 txBox="1"/>
          <p:nvPr/>
        </p:nvSpPr>
        <p:spPr>
          <a:xfrm>
            <a:off x="844231" y="3357562"/>
            <a:ext cx="294708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C0808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Чувственная ткань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914400" y="3852862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Живой состав образов: то, что мы видим, слышим, осязаем.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4622530" y="3357562"/>
            <a:ext cx="294708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C0808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Значение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4692699" y="3852862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Содержание, выработанное человечеством и закрепленное в языке.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8400830" y="3357562"/>
            <a:ext cx="294708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C0808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Личностный смысл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8470999" y="3852862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Субъективное отношение мотива к цели деятельности.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7" name="Google Shape;12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03387" y="2738437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73843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83799" y="27384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5D40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Три образующие сознания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571500" y="571500"/>
            <a:ext cx="47625" cy="533400"/>
          </a:xfrm>
          <a:prstGeom prst="rect">
            <a:avLst/>
          </a:prstGeom>
          <a:solidFill>
            <a:srgbClr val="FFD1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9FA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812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 txBox="1"/>
          <p:nvPr/>
        </p:nvSpPr>
        <p:spPr>
          <a:xfrm>
            <a:off x="571500" y="268322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Это «материя» сознания, его связь с миром «здесь и сейчас». Она придает картине мира качество </a:t>
            </a:r>
            <a:r>
              <a:rPr b="1" i="0" lang="en-US" sz="15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реальности</a:t>
            </a:r>
            <a:r>
              <a:rPr b="0" i="0" lang="en-US" sz="15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571500" y="378812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Мир открывается нам не как «картинка в голове», а как существующий вне нас объективно.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571500" y="4540597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08081"/>
                </a:solidFill>
                <a:latin typeface="Montserrat"/>
                <a:ea typeface="Montserrat"/>
                <a:cs typeface="Montserrat"/>
                <a:sym typeface="Montserrat"/>
              </a:rPr>
              <a:t>Без чувственной основы связь с реальностью нарушается.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1" name="Google Shape;14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812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5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5D40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1. Чувственная ткань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571500" y="571500"/>
            <a:ext cx="47625" cy="533400"/>
          </a:xfrm>
          <a:prstGeom prst="rect">
            <a:avLst/>
          </a:prstGeom>
          <a:solidFill>
            <a:srgbClr val="FFD1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9F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 txBox="1"/>
          <p:nvPr/>
        </p:nvSpPr>
        <p:spPr>
          <a:xfrm>
            <a:off x="571500" y="23431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Значение — это «клеточка» человеческого сознания. Оно общественно-исторично по своей природе.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0" name="Google Shape;150;p6"/>
          <p:cNvGraphicFramePr/>
          <p:nvPr/>
        </p:nvGraphicFramePr>
        <p:xfrm>
          <a:off x="571500" y="30289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{B4B1B7F1-A6EE-4EE8-AC3D-799567924914}</a:tableStyleId>
              </a:tblPr>
              <a:tblGrid>
                <a:gridCol w="3547025"/>
                <a:gridCol w="7501975"/>
              </a:tblGrid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5D4037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Характеристика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5D4037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Описание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1DC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5D4037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Носитель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D4037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Язык, слово как «тело» значения.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5D4037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Природа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D4037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Усваивается человеком из опыта человечества.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5D4037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Функция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D4037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Обобщенное представление о предметах и явлениях.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1" name="Google Shape;151;p6"/>
          <p:cNvSpPr/>
          <p:nvPr/>
        </p:nvSpPr>
        <p:spPr>
          <a:xfrm>
            <a:off x="571500" y="4271962"/>
            <a:ext cx="3547020" cy="9525"/>
          </a:xfrm>
          <a:prstGeom prst="rect">
            <a:avLst/>
          </a:prstGeom>
          <a:solidFill>
            <a:srgbClr val="FFD1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118520" y="4271962"/>
            <a:ext cx="7501979" cy="9525"/>
          </a:xfrm>
          <a:prstGeom prst="rect">
            <a:avLst/>
          </a:prstGeom>
          <a:solidFill>
            <a:srgbClr val="FFD1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571500" y="4843462"/>
            <a:ext cx="3547020" cy="9525"/>
          </a:xfrm>
          <a:prstGeom prst="rect">
            <a:avLst/>
          </a:prstGeom>
          <a:solidFill>
            <a:srgbClr val="FFD1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118520" y="4843462"/>
            <a:ext cx="7501979" cy="9525"/>
          </a:xfrm>
          <a:prstGeom prst="rect">
            <a:avLst/>
          </a:prstGeom>
          <a:solidFill>
            <a:srgbClr val="FFD1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71500" y="5414962"/>
            <a:ext cx="3547020" cy="9525"/>
          </a:xfrm>
          <a:prstGeom prst="rect">
            <a:avLst/>
          </a:prstGeom>
          <a:solidFill>
            <a:srgbClr val="FFD1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4118520" y="5414962"/>
            <a:ext cx="7501979" cy="9525"/>
          </a:xfrm>
          <a:prstGeom prst="rect">
            <a:avLst/>
          </a:prstGeom>
          <a:solidFill>
            <a:srgbClr val="FFD1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5D40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2. Значение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71500" y="571500"/>
            <a:ext cx="47625" cy="533400"/>
          </a:xfrm>
          <a:prstGeom prst="rect">
            <a:avLst/>
          </a:prstGeom>
          <a:solidFill>
            <a:srgbClr val="FFD1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9FA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8120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812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7"/>
          <p:cNvSpPr txBox="1"/>
          <p:nvPr/>
        </p:nvSpPr>
        <p:spPr>
          <a:xfrm>
            <a:off x="6381750" y="259080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Создается отношением </a:t>
            </a:r>
            <a:r>
              <a:rPr b="1" i="0" lang="en-US" sz="15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мотива к цели</a:t>
            </a:r>
            <a:r>
              <a:rPr b="0" i="0" lang="en-US" sz="15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. Он пристрастен и субъективен.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7" name="Google Shape;16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390900"/>
            <a:ext cx="523875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7"/>
          <p:cNvSpPr txBox="1"/>
          <p:nvPr/>
        </p:nvSpPr>
        <p:spPr>
          <a:xfrm>
            <a:off x="6381750" y="457200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Личностный смысл «оживляет» мертвое значение, превращая знание в регулятор поведения.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5D40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3. Личностный смысл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571500" y="571500"/>
            <a:ext cx="47625" cy="533400"/>
          </a:xfrm>
          <a:prstGeom prst="rect">
            <a:avLst/>
          </a:prstGeom>
          <a:solidFill>
            <a:srgbClr val="FFD1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9FA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33900"/>
            <a:ext cx="11049000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"/>
          <p:cNvSpPr txBox="1"/>
          <p:nvPr/>
        </p:nvSpPr>
        <p:spPr>
          <a:xfrm>
            <a:off x="952500" y="23622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Для Значения:</a:t>
            </a:r>
            <a:r>
              <a:rPr b="0" i="0" lang="en-US" sz="15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 Язык — это форма его существования. Слово является «телом» значения.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 txBox="1"/>
          <p:nvPr/>
        </p:nvSpPr>
        <p:spPr>
          <a:xfrm>
            <a:off x="952500" y="2857500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Для Чувственной ткани:</a:t>
            </a:r>
            <a:r>
              <a:rPr b="0" i="0" lang="en-US" sz="15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 Язык позволяет «означить» ощущения, выделить устойчивые признаки предмета.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952500" y="36576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Для Личностного смысла:</a:t>
            </a:r>
            <a:r>
              <a:rPr b="0" i="0" lang="en-US" sz="15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 Дает возможность выразить его, поделиться им с другими людьми.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857250" y="48196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Без языка</a:t>
            </a:r>
            <a:r>
              <a:rPr b="0" i="0" lang="en-US" sz="15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 сознание остается на уровне животного (чувственные образы без обобщения).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1" name="Google Shape;18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050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003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0046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8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5D40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Роль языка в сознании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571500" y="571500"/>
            <a:ext cx="47625" cy="533400"/>
          </a:xfrm>
          <a:prstGeom prst="rect">
            <a:avLst/>
          </a:prstGeom>
          <a:solidFill>
            <a:srgbClr val="FFD1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4EC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9"/>
          <p:cNvSpPr txBox="1"/>
          <p:nvPr/>
        </p:nvSpPr>
        <p:spPr>
          <a:xfrm>
            <a:off x="295275" y="164589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5D40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Заключение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9"/>
          <p:cNvSpPr txBox="1"/>
          <p:nvPr/>
        </p:nvSpPr>
        <p:spPr>
          <a:xfrm>
            <a:off x="1809750" y="2560290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1. Сознание трехкомпонентно: чувственная ткань, значение и личностный смысл.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9"/>
          <p:cNvSpPr txBox="1"/>
          <p:nvPr/>
        </p:nvSpPr>
        <p:spPr>
          <a:xfrm>
            <a:off x="1809750" y="3055590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2. Язык — необходимое условие существования значений и человеческой формы сознания.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9"/>
          <p:cNvSpPr txBox="1"/>
          <p:nvPr/>
        </p:nvSpPr>
        <p:spPr>
          <a:xfrm>
            <a:off x="1809750" y="3855690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D4037"/>
                </a:solidFill>
                <a:latin typeface="Montserrat"/>
                <a:ea typeface="Montserrat"/>
                <a:cs typeface="Montserrat"/>
                <a:sym typeface="Montserrat"/>
              </a:rPr>
              <a:t>3. Без чувственной ткани сознание бесплотно, без значений — пусто, без смысла — безразлично.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9"/>
          <p:cNvSpPr txBox="1"/>
          <p:nvPr/>
        </p:nvSpPr>
        <p:spPr>
          <a:xfrm>
            <a:off x="1809750" y="4846290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808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Язык соединяет всё в живое целое.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0"/>
          <p:cNvSpPr txBox="1"/>
          <p:nvPr/>
        </p:nvSpPr>
        <p:spPr>
          <a:xfrm>
            <a:off x="1530429" y="2774602"/>
            <a:ext cx="9131141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5D40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Спасибо за внимание!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5381625" y="4035623"/>
            <a:ext cx="1428750" cy="47625"/>
          </a:xfrm>
          <a:prstGeom prst="rect">
            <a:avLst/>
          </a:prstGeom>
          <a:solidFill>
            <a:srgbClr val="C080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
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4" r:id="rId8"/>
    <p:sldId id="263" r:id="rId9"/>
    <p:sldId id="273" r:id="rId10"/>
    <p:sldId id="274" r:id="rId11"/>
    <p:sldId id="275" r:id="rId12"/>
    <p:sldId id="272" r:id="rId13"/>
  </p:sldIdLst>
  <p:sldSz cx="9144000" cy="5143500" type="screen16x9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99"/>
    <a:srgbClr val="009900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662" autoAdjust="0"/>
  </p:normalViewPr>
  <p:slideViewPr>
    <p:cSldViewPr>
      <p:cViewPr varScale="1">
        <p:scale>
          <a:sx n="123" d="100"/>
          <a:sy n="123" d="100"/>
        </p:scale>
        <p:origin x="302" y="8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597821"/>
            <a:ext cx="7772400" cy="1102519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0787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5297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98218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900115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900115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9259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30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30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56981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07467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7316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5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04790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5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3557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7101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4264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154783"/>
            <a:ext cx="2057400" cy="329088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54783"/>
            <a:ext cx="6019800" cy="329088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8801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3520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55576" y="1491630"/>
            <a:ext cx="7772400" cy="1784774"/>
          </a:xfrm>
        </p:spPr>
        <p:txBody>
          <a:bodyPr>
            <a:normAutofit/>
          </a:bodyPr>
          <a:lstStyle/>
          <a:p>
            <a:r>
              <a:rPr lang="ru-RU" dirty="0">
                <a:latin typeface="Century Schoolbook" panose="02040604050505020304" pitchFamily="18" charset="0"/>
              </a:rPr>
              <a:t>Моральное развитие по Лоуренсу </a:t>
            </a:r>
            <a:r>
              <a:rPr lang="ru-RU" dirty="0" err="1">
                <a:latin typeface="Century Schoolbook" panose="02040604050505020304" pitchFamily="18" charset="0"/>
              </a:rPr>
              <a:t>Кольбергу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Schoolbook" panose="02040604050505020304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475040" y="3867894"/>
            <a:ext cx="3489448" cy="936104"/>
          </a:xfrm>
        </p:spPr>
        <p:txBody>
          <a:bodyPr>
            <a:noAutofit/>
          </a:bodyPr>
          <a:lstStyle/>
          <a:p>
            <a:pPr algn="l"/>
            <a:r>
              <a:rPr lang="ru-RU" sz="1600" dirty="0">
                <a:solidFill>
                  <a:schemeClr val="tx1"/>
                </a:solidFill>
                <a:latin typeface="Century Schoolbook" pitchFamily="18" charset="0"/>
              </a:rPr>
              <a:t>Алина Калачинская, Илларионова Юлия ФАЯ 0-24-4</a:t>
            </a:r>
          </a:p>
        </p:txBody>
      </p:sp>
    </p:spTree>
    <p:extLst>
      <p:ext uri="{BB962C8B-B14F-4D97-AF65-F5344CB8AC3E}">
        <p14:creationId xmlns:p14="http://schemas.microsoft.com/office/powerpoint/2010/main" val="4225382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5" y="204787"/>
            <a:ext cx="5626963" cy="494755"/>
          </a:xfrm>
        </p:spPr>
        <p:txBody>
          <a:bodyPr>
            <a:noAutofit/>
          </a:bodyPr>
          <a:lstStyle/>
          <a:p>
            <a:pPr algn="ctr"/>
            <a:r>
              <a:rPr lang="ru-RU" sz="2800" dirty="0">
                <a:latin typeface="Century Schoolbook" panose="02040604050505020304" pitchFamily="18" charset="0"/>
              </a:rPr>
              <a:t>Теория </a:t>
            </a:r>
            <a:r>
              <a:rPr lang="ru-RU" sz="2800" dirty="0" err="1">
                <a:latin typeface="Century Schoolbook" panose="02040604050505020304" pitchFamily="18" charset="0"/>
              </a:rPr>
              <a:t>Кольберга</a:t>
            </a:r>
            <a:endParaRPr lang="ru-RU" sz="2800" dirty="0">
              <a:latin typeface="Century Schoolbook" panose="02040604050505020304" pitchFamily="18" charset="0"/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96655" y="1419622"/>
            <a:ext cx="5112567" cy="1944216"/>
          </a:xfrm>
        </p:spPr>
        <p:txBody>
          <a:bodyPr>
            <a:no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sz="1800" dirty="0">
                <a:latin typeface="Century Schoolbook" panose="02040604050505020304" pitchFamily="18" charset="0"/>
              </a:rPr>
              <a:t> Адаптация идей Пиаже, 6 стадий моральных рассуждений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sz="1800" dirty="0">
                <a:latin typeface="Century Schoolbook" panose="02040604050505020304" pitchFamily="18" charset="0"/>
              </a:rPr>
              <a:t>Ключевая роль справедливости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sz="1800" dirty="0">
                <a:latin typeface="Century Schoolbook" panose="02040604050505020304" pitchFamily="18" charset="0"/>
              </a:rPr>
              <a:t>Ни одна дилемма не имеет абсолютно правильного решения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sz="1800" dirty="0">
                <a:latin typeface="Century Schoolbook" panose="02040604050505020304" pitchFamily="18" charset="0"/>
              </a:rPr>
              <a:t>Важно не суждение, а рассуждение испытуемого</a:t>
            </a:r>
            <a:br>
              <a:rPr lang="ru-RU" sz="1800" dirty="0">
                <a:latin typeface="Century Schoolbook" panose="02040604050505020304" pitchFamily="18" charset="0"/>
              </a:rPr>
            </a:br>
            <a:endParaRPr lang="ru-RU" sz="1800" dirty="0">
              <a:latin typeface="Century Schoolbook" panose="02040604050505020304" pitchFamily="18" charset="0"/>
            </a:endParaRPr>
          </a:p>
        </p:txBody>
      </p:sp>
      <p:pic>
        <p:nvPicPr>
          <p:cNvPr id="8" name="Рисунок 7" descr="5 фактов о Лоуренсе Кольберге - Психологическая Газета &quot;Золотая Лестница&quot;">
            <a:extLst>
              <a:ext uri="{FF2B5EF4-FFF2-40B4-BE49-F238E27FC236}">
                <a16:creationId xmlns:a16="http://schemas.microsoft.com/office/drawing/2014/main" id="{31B79B99-2DF3-5F75-5B33-CB6915DC8D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9222" y="1059582"/>
            <a:ext cx="3232805" cy="3232805"/>
          </a:xfrm>
          <a:prstGeom prst="rect">
            <a:avLst/>
          </a:prstGeom>
          <a:solidFill>
            <a:srgbClr val="C00000"/>
          </a:solidFill>
        </p:spPr>
      </p:pic>
    </p:spTree>
    <p:extLst>
      <p:ext uri="{BB962C8B-B14F-4D97-AF65-F5344CB8AC3E}">
        <p14:creationId xmlns:p14="http://schemas.microsoft.com/office/powerpoint/2010/main" val="28755913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5" y="204787"/>
            <a:ext cx="5626963" cy="494755"/>
          </a:xfrm>
        </p:spPr>
        <p:txBody>
          <a:bodyPr>
            <a:normAutofit/>
          </a:bodyPr>
          <a:lstStyle/>
          <a:p>
            <a:pPr algn="ctr"/>
            <a:r>
              <a:rPr lang="ru-RU" sz="2400" dirty="0">
                <a:latin typeface="Century Schoolbook" panose="02040604050505020304" pitchFamily="18" charset="0"/>
              </a:rPr>
              <a:t>Дилемма Хайнца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512" y="843558"/>
            <a:ext cx="5976663" cy="4176464"/>
          </a:xfrm>
        </p:spPr>
        <p:txBody>
          <a:bodyPr>
            <a:norm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sz="1600" dirty="0">
                <a:latin typeface="Century Schoolbook" panose="02040604050505020304" pitchFamily="18" charset="0"/>
              </a:rPr>
              <a:t> В Европе женщина умирает от редкой формы рака</a:t>
            </a:r>
            <a:endParaRPr lang="ru-RU" sz="2800" dirty="0">
              <a:latin typeface="Century Schoolbook" panose="02040604050505020304" pitchFamily="18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sz="1600" dirty="0">
                <a:latin typeface="Century Schoolbook" panose="02040604050505020304" pitchFamily="18" charset="0"/>
              </a:rPr>
              <a:t>Единственное лекарство — радий (себестоимость 400 долларов)</a:t>
            </a:r>
            <a:endParaRPr lang="ru-RU" sz="2800" dirty="0">
              <a:latin typeface="Century Schoolbook" panose="02040604050505020304" pitchFamily="18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sz="1600" dirty="0">
                <a:latin typeface="Century Schoolbook" panose="02040604050505020304" pitchFamily="18" charset="0"/>
              </a:rPr>
              <a:t>Фармацевт назначил цену 4000 долларов</a:t>
            </a:r>
          </a:p>
          <a:p>
            <a:br>
              <a:rPr lang="ru-RU" sz="2800" dirty="0">
                <a:latin typeface="Century Schoolbook" panose="02040604050505020304" pitchFamily="18" charset="0"/>
              </a:rPr>
            </a:br>
            <a:r>
              <a:rPr lang="ru-RU" sz="1600" u="sng" dirty="0">
                <a:latin typeface="Century Schoolbook" panose="02040604050505020304" pitchFamily="18" charset="0"/>
              </a:rPr>
              <a:t>Поступок Хайнца:</a:t>
            </a:r>
            <a:endParaRPr lang="ru-RU" sz="2800" u="sng" dirty="0">
              <a:latin typeface="Century Schoolbook" panose="02040604050505020304" pitchFamily="18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sz="1600" dirty="0">
                <a:latin typeface="Century Schoolbook" panose="02040604050505020304" pitchFamily="18" charset="0"/>
              </a:rPr>
              <a:t>Собрал только 2000 долларов</a:t>
            </a:r>
            <a:endParaRPr lang="ru-RU" sz="2800" dirty="0">
              <a:latin typeface="Century Schoolbook" panose="02040604050505020304" pitchFamily="18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sz="1600" dirty="0">
                <a:latin typeface="Century Schoolbook" panose="02040604050505020304" pitchFamily="18" charset="0"/>
              </a:rPr>
              <a:t>Фармацевт отказался продать дешевле или в кредит</a:t>
            </a:r>
            <a:endParaRPr lang="ru-RU" sz="2800" dirty="0">
              <a:latin typeface="Century Schoolbook" panose="02040604050505020304" pitchFamily="18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sz="1600" dirty="0">
                <a:latin typeface="Century Schoolbook" panose="02040604050505020304" pitchFamily="18" charset="0"/>
              </a:rPr>
              <a:t>Хайнц взломал аптеку и украл лекарство</a:t>
            </a:r>
          </a:p>
          <a:p>
            <a:endParaRPr lang="ru-RU" sz="2800" dirty="0">
              <a:latin typeface="Century Schoolbook" panose="020406040505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sz="1600" dirty="0">
                <a:latin typeface="Century Schoolbook" panose="02040604050505020304" pitchFamily="18" charset="0"/>
              </a:rPr>
              <a:t> Ни одно решение не является абсолютно правильным</a:t>
            </a:r>
            <a:endParaRPr lang="ru-RU" sz="2800" dirty="0">
              <a:latin typeface="Century Schoolbook" panose="020406040505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sz="1600" dirty="0" err="1">
                <a:latin typeface="Century Schoolbook" panose="02040604050505020304" pitchFamily="18" charset="0"/>
              </a:rPr>
              <a:t>Кольберга</a:t>
            </a:r>
            <a:r>
              <a:rPr lang="ru-RU" sz="1600" dirty="0">
                <a:latin typeface="Century Schoolbook" panose="02040604050505020304" pitchFamily="18" charset="0"/>
              </a:rPr>
              <a:t> интересует не ответ, а ход рассуждений</a:t>
            </a:r>
          </a:p>
        </p:txBody>
      </p:sp>
      <p:pic>
        <p:nvPicPr>
          <p:cNvPr id="6" name="Рисунок 5" descr="Степанов Cергей | Лоуренс Кольберг (1927-1987) | Журнал «Школьный психолог»  № 37/2003">
            <a:extLst>
              <a:ext uri="{FF2B5EF4-FFF2-40B4-BE49-F238E27FC236}">
                <a16:creationId xmlns:a16="http://schemas.microsoft.com/office/drawing/2014/main" id="{630FF19F-35A2-E209-BFBF-444BDD95D9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2200" y="1059582"/>
            <a:ext cx="2520280" cy="3301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306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5" y="204787"/>
            <a:ext cx="5626963" cy="494755"/>
          </a:xfrm>
        </p:spPr>
        <p:txBody>
          <a:bodyPr>
            <a:normAutofit/>
          </a:bodyPr>
          <a:lstStyle/>
          <a:p>
            <a:pPr algn="ctr"/>
            <a:r>
              <a:rPr lang="ru-RU" sz="2400" dirty="0">
                <a:latin typeface="Century Schoolbook" panose="02040604050505020304" pitchFamily="18" charset="0"/>
              </a:rPr>
              <a:t>Дилемма Хайнца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512" y="843558"/>
            <a:ext cx="5976663" cy="4176464"/>
          </a:xfrm>
        </p:spPr>
        <p:txBody>
          <a:bodyPr>
            <a:normAutofit/>
          </a:bodyPr>
          <a:lstStyle/>
          <a:p>
            <a:r>
              <a:rPr lang="ru-RU" u="sng" dirty="0">
                <a:latin typeface="Century Schoolbook" panose="02040604050505020304" pitchFamily="18" charset="0"/>
              </a:rPr>
              <a:t>Ключевые вопросы:</a:t>
            </a:r>
            <a:br>
              <a:rPr lang="ru-RU" sz="1600" dirty="0">
                <a:latin typeface="Century Schoolbook" panose="02040604050505020304" pitchFamily="18" charset="0"/>
              </a:rPr>
            </a:br>
            <a:br>
              <a:rPr lang="ru-RU" sz="1600" dirty="0">
                <a:latin typeface="Century Schoolbook" panose="02040604050505020304" pitchFamily="18" charset="0"/>
              </a:rPr>
            </a:br>
            <a:r>
              <a:rPr lang="ru-RU" dirty="0">
                <a:latin typeface="Century Schoolbook" panose="02040604050505020304" pitchFamily="18" charset="0"/>
              </a:rPr>
              <a:t>· Должен ли Хайнц украсть лекарство?</a:t>
            </a:r>
            <a:br>
              <a:rPr lang="ru-RU" sz="1600" dirty="0">
                <a:latin typeface="Century Schoolbook" panose="02040604050505020304" pitchFamily="18" charset="0"/>
              </a:rPr>
            </a:br>
            <a:r>
              <a:rPr lang="ru-RU" dirty="0">
                <a:latin typeface="Century Schoolbook" panose="02040604050505020304" pitchFamily="18" charset="0"/>
              </a:rPr>
              <a:t>· Хорошо или дурно для него украсть?</a:t>
            </a:r>
            <a:br>
              <a:rPr lang="ru-RU" sz="1600" dirty="0">
                <a:latin typeface="Century Schoolbook" panose="02040604050505020304" pitchFamily="18" charset="0"/>
              </a:rPr>
            </a:br>
            <a:r>
              <a:rPr lang="ru-RU" dirty="0">
                <a:latin typeface="Century Schoolbook" panose="02040604050505020304" pitchFamily="18" charset="0"/>
              </a:rPr>
              <a:t>· Есть ли у него обязанность украсть?</a:t>
            </a:r>
            <a:br>
              <a:rPr lang="ru-RU" sz="1600" dirty="0">
                <a:latin typeface="Century Schoolbook" panose="02040604050505020304" pitchFamily="18" charset="0"/>
              </a:rPr>
            </a:br>
            <a:r>
              <a:rPr lang="ru-RU" dirty="0">
                <a:latin typeface="Century Schoolbook" panose="02040604050505020304" pitchFamily="18" charset="0"/>
              </a:rPr>
              <a:t>· Изменится ли решение, если он не любит жену? Если умирает чужой? Если это животное?</a:t>
            </a:r>
            <a:br>
              <a:rPr lang="ru-RU" sz="1600" dirty="0">
                <a:latin typeface="Century Schoolbook" panose="02040604050505020304" pitchFamily="18" charset="0"/>
              </a:rPr>
            </a:br>
            <a:br>
              <a:rPr lang="ru-RU" sz="1600" u="sng" dirty="0">
                <a:latin typeface="Century Schoolbook" panose="02040604050505020304" pitchFamily="18" charset="0"/>
              </a:rPr>
            </a:br>
            <a:r>
              <a:rPr lang="ru-RU" u="sng" dirty="0">
                <a:latin typeface="Century Schoolbook" panose="02040604050505020304" pitchFamily="18" charset="0"/>
              </a:rPr>
              <a:t>Дополнительные вопросы:</a:t>
            </a:r>
            <a:br>
              <a:rPr lang="ru-RU" sz="1600" dirty="0">
                <a:latin typeface="Century Schoolbook" panose="02040604050505020304" pitchFamily="18" charset="0"/>
              </a:rPr>
            </a:br>
            <a:br>
              <a:rPr lang="ru-RU" sz="1600" dirty="0">
                <a:latin typeface="Century Schoolbook" panose="02040604050505020304" pitchFamily="18" charset="0"/>
              </a:rPr>
            </a:br>
            <a:r>
              <a:rPr lang="ru-RU" dirty="0">
                <a:latin typeface="Century Schoolbook" panose="02040604050505020304" pitchFamily="18" charset="0"/>
              </a:rPr>
              <a:t>· Важно ли спасать жизнь другого человека?</a:t>
            </a:r>
            <a:br>
              <a:rPr lang="ru-RU" sz="1600" dirty="0">
                <a:latin typeface="Century Schoolbook" panose="02040604050505020304" pitchFamily="18" charset="0"/>
              </a:rPr>
            </a:br>
            <a:r>
              <a:rPr lang="ru-RU" dirty="0">
                <a:latin typeface="Century Schoolbook" panose="02040604050505020304" pitchFamily="18" charset="0"/>
              </a:rPr>
              <a:t>· Если воровать противозаконно — значит ли это, что аморально?</a:t>
            </a:r>
            <a:br>
              <a:rPr lang="ru-RU" sz="1600" dirty="0">
                <a:latin typeface="Century Schoolbook" panose="02040604050505020304" pitchFamily="18" charset="0"/>
              </a:rPr>
            </a:br>
            <a:r>
              <a:rPr lang="ru-RU" dirty="0">
                <a:latin typeface="Century Schoolbook" panose="02040604050505020304" pitchFamily="18" charset="0"/>
              </a:rPr>
              <a:t>· Должны ли люди всегда повиноваться закону?</a:t>
            </a:r>
            <a:br>
              <a:rPr lang="ru-RU" sz="1600" dirty="0">
                <a:latin typeface="Century Schoolbook" panose="02040604050505020304" pitchFamily="18" charset="0"/>
              </a:rPr>
            </a:br>
            <a:br>
              <a:rPr lang="ru-RU" sz="1600" dirty="0">
                <a:latin typeface="Century Schoolbook" panose="02040604050505020304" pitchFamily="18" charset="0"/>
              </a:rPr>
            </a:br>
            <a:r>
              <a:rPr lang="ru-RU" u="sng" dirty="0">
                <a:latin typeface="Century Schoolbook" panose="02040604050505020304" pitchFamily="18" charset="0"/>
              </a:rPr>
              <a:t>Вывод:</a:t>
            </a:r>
            <a:br>
              <a:rPr lang="ru-RU" sz="1600" dirty="0">
                <a:latin typeface="Century Schoolbook" panose="02040604050505020304" pitchFamily="18" charset="0"/>
              </a:rPr>
            </a:br>
            <a:br>
              <a:rPr lang="ru-RU" sz="1600" dirty="0">
                <a:latin typeface="Century Schoolbook" panose="02040604050505020304" pitchFamily="18" charset="0"/>
              </a:rPr>
            </a:br>
            <a:r>
              <a:rPr lang="ru-RU" dirty="0">
                <a:latin typeface="Century Schoolbook" panose="02040604050505020304" pitchFamily="18" charset="0"/>
              </a:rPr>
              <a:t>· Ответы зависят от стадии морального развития</a:t>
            </a:r>
            <a:br>
              <a:rPr lang="ru-RU" sz="1600" dirty="0">
                <a:latin typeface="Century Schoolbook" panose="02040604050505020304" pitchFamily="18" charset="0"/>
              </a:rPr>
            </a:br>
            <a:r>
              <a:rPr lang="ru-RU" dirty="0">
                <a:latin typeface="Century Schoolbook" panose="02040604050505020304" pitchFamily="18" charset="0"/>
              </a:rPr>
              <a:t>· Один и тот же поступок оценивается по-разному</a:t>
            </a:r>
            <a:endParaRPr lang="ru-RU" sz="1600" dirty="0">
              <a:latin typeface="Century Schoolbook" panose="020406040505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C868F52-B3DB-4F56-A676-B5DE426AF5E3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8676456" y="5308054"/>
            <a:ext cx="72008" cy="144016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endParaRPr lang="ru-RU" dirty="0"/>
          </a:p>
        </p:txBody>
      </p:sp>
      <p:pic>
        <p:nvPicPr>
          <p:cNvPr id="5" name="Рисунок 4" descr="Статья: Что такое хорошо и что такое плохо. Дилеммы Кольберга - Психологос">
            <a:extLst>
              <a:ext uri="{FF2B5EF4-FFF2-40B4-BE49-F238E27FC236}">
                <a16:creationId xmlns:a16="http://schemas.microsoft.com/office/drawing/2014/main" id="{01827BEE-B0CC-1737-0639-77202992EA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9564" y="1131590"/>
            <a:ext cx="2778900" cy="37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6244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3568" y="51470"/>
            <a:ext cx="5842987" cy="566763"/>
          </a:xfrm>
        </p:spPr>
        <p:txBody>
          <a:bodyPr/>
          <a:lstStyle/>
          <a:p>
            <a:pPr algn="ctr"/>
            <a:r>
              <a:rPr lang="ru-RU" dirty="0">
                <a:latin typeface="Century Schoolbook" panose="02040604050505020304" pitchFamily="18" charset="0"/>
              </a:rPr>
              <a:t>Другие моральные дилеммы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251520" y="843558"/>
            <a:ext cx="4896544" cy="2952328"/>
          </a:xfrm>
        </p:spPr>
        <p:txBody>
          <a:bodyPr>
            <a:noAutofit/>
          </a:bodyPr>
          <a:lstStyle/>
          <a:p>
            <a:r>
              <a:rPr lang="ru-RU" sz="1600" dirty="0">
                <a:latin typeface="Century Schoolbook" panose="02040604050505020304" pitchFamily="18" charset="0"/>
              </a:rPr>
              <a:t>II Полицейский Браун видел Хайнца. Сообщать ли?</a:t>
            </a:r>
            <a:br>
              <a:rPr lang="ru-RU" sz="1600" dirty="0">
                <a:latin typeface="Century Schoolbook" panose="02040604050505020304" pitchFamily="18" charset="0"/>
              </a:rPr>
            </a:br>
            <a:r>
              <a:rPr lang="ru-RU" sz="1600" dirty="0">
                <a:latin typeface="Century Schoolbook" panose="02040604050505020304" pitchFamily="18" charset="0"/>
              </a:rPr>
              <a:t>III Джо (14 лет) не хочет отдавать отцу деньги, накопленные в лагерь</a:t>
            </a:r>
            <a:br>
              <a:rPr lang="ru-RU" sz="1600" dirty="0">
                <a:latin typeface="Century Schoolbook" panose="02040604050505020304" pitchFamily="18" charset="0"/>
              </a:rPr>
            </a:br>
            <a:r>
              <a:rPr lang="ru-RU" sz="1600" dirty="0">
                <a:latin typeface="Century Schoolbook" panose="02040604050505020304" pitchFamily="18" charset="0"/>
              </a:rPr>
              <a:t>IV–V Эвтаназия: доктор Джефферсон и вопрос о доносе</a:t>
            </a:r>
            <a:br>
              <a:rPr lang="ru-RU" sz="1600" dirty="0">
                <a:latin typeface="Century Schoolbook" panose="02040604050505020304" pitchFamily="18" charset="0"/>
              </a:rPr>
            </a:br>
            <a:r>
              <a:rPr lang="ru-RU" sz="1600" dirty="0">
                <a:latin typeface="Century Schoolbook" panose="02040604050505020304" pitchFamily="18" charset="0"/>
              </a:rPr>
              <a:t>VI Джуди солгала матери. Сестра Луиза думает рассказать</a:t>
            </a:r>
            <a:br>
              <a:rPr lang="ru-RU" sz="1600" dirty="0">
                <a:latin typeface="Century Schoolbook" panose="02040604050505020304" pitchFamily="18" charset="0"/>
              </a:rPr>
            </a:br>
            <a:r>
              <a:rPr lang="ru-RU" sz="1600" dirty="0">
                <a:latin typeface="Century Schoolbook" panose="02040604050505020304" pitchFamily="18" charset="0"/>
              </a:rPr>
              <a:t>VII Взорвать мост ценой жизни. Капитан — единственный, кто знает путь отступления</a:t>
            </a:r>
            <a:br>
              <a:rPr lang="ru-RU" sz="1600" dirty="0">
                <a:latin typeface="Century Schoolbook" panose="02040604050505020304" pitchFamily="18" charset="0"/>
              </a:rPr>
            </a:br>
            <a:r>
              <a:rPr lang="ru-RU" sz="1600" dirty="0">
                <a:latin typeface="Century Schoolbook" panose="02040604050505020304" pitchFamily="18" charset="0"/>
              </a:rPr>
              <a:t>VIII Вальжан — беглый каторжник, который помогает людям</a:t>
            </a:r>
            <a:br>
              <a:rPr lang="ru-RU" sz="1600" dirty="0">
                <a:latin typeface="Century Schoolbook" panose="02040604050505020304" pitchFamily="18" charset="0"/>
              </a:rPr>
            </a:br>
            <a:r>
              <a:rPr lang="ru-RU" sz="1600" dirty="0">
                <a:latin typeface="Century Schoolbook" panose="02040604050505020304" pitchFamily="18" charset="0"/>
              </a:rPr>
              <a:t>IX Карл украл, Боб обманул старика</a:t>
            </a:r>
            <a:br>
              <a:rPr lang="ru-RU" sz="1600" dirty="0">
                <a:latin typeface="Century Schoolbook" panose="02040604050505020304" pitchFamily="18" charset="0"/>
              </a:rPr>
            </a:br>
            <a:r>
              <a:rPr lang="ru-RU" sz="1600" dirty="0">
                <a:latin typeface="Century Schoolbook" panose="02040604050505020304" pitchFamily="18" charset="0"/>
              </a:rPr>
              <a:t>· Все дилеммы не имеют идеального решения</a:t>
            </a:r>
            <a:br>
              <a:rPr lang="ru-RU" sz="1600" dirty="0">
                <a:latin typeface="Century Schoolbook" panose="02040604050505020304" pitchFamily="18" charset="0"/>
              </a:rPr>
            </a:br>
            <a:r>
              <a:rPr lang="ru-RU" sz="1600" dirty="0">
                <a:latin typeface="Century Schoolbook" panose="02040604050505020304" pitchFamily="18" charset="0"/>
              </a:rPr>
              <a:t>· Выбор отражает уровень нравственного сознания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C38113EB-644B-7924-9ECE-A4935010AC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52520" y="4876006"/>
            <a:ext cx="144016" cy="144016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B98CC54-AE82-4342-7976-5B87E3FDDC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4831" y="2472537"/>
            <a:ext cx="3829169" cy="2670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7686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42194" y="204787"/>
            <a:ext cx="5842987" cy="566763"/>
          </a:xfrm>
        </p:spPr>
        <p:txBody>
          <a:bodyPr>
            <a:normAutofit/>
          </a:bodyPr>
          <a:lstStyle/>
          <a:p>
            <a:pPr algn="ctr"/>
            <a:r>
              <a:rPr lang="ru-RU" sz="1600" dirty="0">
                <a:latin typeface="Century Schoolbook" panose="02040604050505020304" pitchFamily="18" charset="0"/>
              </a:rPr>
              <a:t>Уровень I: </a:t>
            </a:r>
            <a:r>
              <a:rPr lang="ru-RU" sz="1600" dirty="0" err="1">
                <a:latin typeface="Century Schoolbook" panose="02040604050505020304" pitchFamily="18" charset="0"/>
              </a:rPr>
              <a:t>Предконвенциональный</a:t>
            </a:r>
            <a:r>
              <a:rPr lang="ru-RU" sz="1600" dirty="0">
                <a:latin typeface="Century Schoolbook" panose="02040604050505020304" pitchFamily="18" charset="0"/>
              </a:rPr>
              <a:t> (стадии 1–2)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251520" y="987574"/>
            <a:ext cx="5760640" cy="3888432"/>
          </a:xfrm>
        </p:spPr>
        <p:txBody>
          <a:bodyPr>
            <a:normAutofit fontScale="92500" lnSpcReduction="10000"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sz="1600" u="sng" dirty="0">
                <a:latin typeface="Century Schoolbook" panose="02040604050505020304" pitchFamily="18" charset="0"/>
              </a:rPr>
              <a:t>Стадия 1 (до 3 лет):</a:t>
            </a:r>
            <a:br>
              <a:rPr lang="ru-RU" sz="1600" dirty="0">
                <a:latin typeface="Century Schoolbook" panose="02040604050505020304" pitchFamily="18" charset="0"/>
              </a:rPr>
            </a:br>
            <a:br>
              <a:rPr lang="ru-RU" sz="1600" dirty="0">
                <a:latin typeface="Century Schoolbook" panose="02040604050505020304" pitchFamily="18" charset="0"/>
              </a:rPr>
            </a:br>
            <a:r>
              <a:rPr lang="ru-RU" sz="1600" dirty="0">
                <a:latin typeface="Century Schoolbook" panose="02040604050505020304" pitchFamily="18" charset="0"/>
              </a:rPr>
              <a:t>· Послушание и наказание</a:t>
            </a:r>
            <a:br>
              <a:rPr lang="ru-RU" sz="1600" dirty="0">
                <a:latin typeface="Century Schoolbook" panose="02040604050505020304" pitchFamily="18" charset="0"/>
              </a:rPr>
            </a:br>
            <a:r>
              <a:rPr lang="ru-RU" sz="1600" dirty="0">
                <a:latin typeface="Century Schoolbook" panose="02040604050505020304" pitchFamily="18" charset="0"/>
              </a:rPr>
              <a:t>· Правила фиксированы и абсолютны</a:t>
            </a:r>
            <a:br>
              <a:rPr lang="ru-RU" sz="1600" dirty="0">
                <a:latin typeface="Century Schoolbook" panose="02040604050505020304" pitchFamily="18" charset="0"/>
              </a:rPr>
            </a:br>
            <a:r>
              <a:rPr lang="ru-RU" sz="1600" dirty="0">
                <a:latin typeface="Century Schoolbook" panose="02040604050505020304" pitchFamily="18" charset="0"/>
              </a:rPr>
              <a:t>· Главное — избежать наказания</a:t>
            </a:r>
            <a:br>
              <a:rPr lang="ru-RU" sz="1600" dirty="0">
                <a:latin typeface="Century Schoolbook" panose="02040604050505020304" pitchFamily="18" charset="0"/>
              </a:rPr>
            </a:br>
            <a:br>
              <a:rPr lang="ru-RU" sz="1600" dirty="0">
                <a:latin typeface="Century Schoolbook" panose="02040604050505020304" pitchFamily="18" charset="0"/>
              </a:rPr>
            </a:br>
            <a:r>
              <a:rPr lang="ru-RU" sz="1600" u="sng" dirty="0">
                <a:latin typeface="Century Schoolbook" panose="02040604050505020304" pitchFamily="18" charset="0"/>
              </a:rPr>
              <a:t>Стадия 2 (4–7 лет):</a:t>
            </a:r>
            <a:br>
              <a:rPr lang="ru-RU" sz="1600" dirty="0">
                <a:latin typeface="Century Schoolbook" panose="02040604050505020304" pitchFamily="18" charset="0"/>
              </a:rPr>
            </a:br>
            <a:br>
              <a:rPr lang="ru-RU" sz="1600" dirty="0">
                <a:latin typeface="Century Schoolbook" panose="02040604050505020304" pitchFamily="18" charset="0"/>
              </a:rPr>
            </a:br>
            <a:r>
              <a:rPr lang="ru-RU" sz="1600" dirty="0">
                <a:latin typeface="Century Schoolbook" panose="02040604050505020304" pitchFamily="18" charset="0"/>
              </a:rPr>
              <a:t>· Индивидуализм и обмен</a:t>
            </a:r>
            <a:br>
              <a:rPr lang="ru-RU" sz="1600" dirty="0">
                <a:latin typeface="Century Schoolbook" panose="02040604050505020304" pitchFamily="18" charset="0"/>
              </a:rPr>
            </a:br>
            <a:r>
              <a:rPr lang="ru-RU" sz="1600" dirty="0">
                <a:latin typeface="Century Schoolbook" panose="02040604050505020304" pitchFamily="18" charset="0"/>
              </a:rPr>
              <a:t>· Оценка через свои потребности</a:t>
            </a:r>
            <a:br>
              <a:rPr lang="ru-RU" sz="1600" dirty="0">
                <a:latin typeface="Century Schoolbook" panose="02040604050505020304" pitchFamily="18" charset="0"/>
              </a:rPr>
            </a:br>
            <a:r>
              <a:rPr lang="ru-RU" sz="1600" dirty="0">
                <a:latin typeface="Century Schoolbook" panose="02040604050505020304" pitchFamily="18" charset="0"/>
              </a:rPr>
              <a:t>· Взаимность только тогда, когда выгодна себе</a:t>
            </a:r>
            <a:br>
              <a:rPr lang="ru-RU" sz="1600" dirty="0">
                <a:latin typeface="Century Schoolbook" panose="02040604050505020304" pitchFamily="18" charset="0"/>
              </a:rPr>
            </a:br>
            <a:br>
              <a:rPr lang="ru-RU" sz="1600" dirty="0">
                <a:latin typeface="Century Schoolbook" panose="02040604050505020304" pitchFamily="18" charset="0"/>
              </a:rPr>
            </a:br>
            <a:endParaRPr lang="ru-RU" sz="1600" dirty="0">
              <a:latin typeface="Century Schoolbook" panose="020406040505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sz="1600" dirty="0">
                <a:latin typeface="Century Schoolbook" panose="02040604050505020304" pitchFamily="18" charset="0"/>
              </a:rPr>
              <a:t>Ребёнок реагирует на физические последствия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sz="1600" dirty="0">
                <a:latin typeface="Century Schoolbook" panose="02040604050505020304" pitchFamily="18" charset="0"/>
              </a:rPr>
              <a:t>Мораль определяется внешними силами (наказание, награда)</a:t>
            </a:r>
            <a:br>
              <a:rPr lang="ru-RU" sz="1600" dirty="0"/>
            </a:br>
            <a:endParaRPr lang="ru-RU" sz="1600" dirty="0">
              <a:latin typeface="Century Schoolbook" pitchFamily="18" charset="0"/>
            </a:endParaRP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A81DD6B5-B7DB-F208-5847-AA1174315A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0" y="5452070"/>
            <a:ext cx="586408" cy="150667"/>
          </a:xfrm>
        </p:spPr>
        <p:txBody>
          <a:bodyPr>
            <a:normAutofit fontScale="25000" lnSpcReduction="20000"/>
          </a:bodyPr>
          <a:lstStyle/>
          <a:p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411C170-6D90-C5D8-EC9D-3A68CDF48C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0011" y="1543118"/>
            <a:ext cx="3635896" cy="3635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8347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9552" y="347203"/>
            <a:ext cx="5842987" cy="566763"/>
          </a:xfrm>
        </p:spPr>
        <p:txBody>
          <a:bodyPr>
            <a:noAutofit/>
          </a:bodyPr>
          <a:lstStyle/>
          <a:p>
            <a:pPr algn="ctr"/>
            <a:r>
              <a:rPr lang="ru-RU" sz="1800" dirty="0">
                <a:latin typeface="Century Schoolbook" panose="02040604050505020304" pitchFamily="18" charset="0"/>
              </a:rPr>
              <a:t>Уровень II: Конвенциональный (стадии 3–4)</a:t>
            </a:r>
            <a:br>
              <a:rPr lang="ru-RU" sz="1800" dirty="0"/>
            </a:br>
            <a:endParaRPr lang="ru-RU" sz="1800" dirty="0">
              <a:latin typeface="Century Schoolbook" pitchFamily="18" charset="0"/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251520" y="843557"/>
            <a:ext cx="5400600" cy="4062140"/>
          </a:xfrm>
        </p:spPr>
        <p:txBody>
          <a:bodyPr>
            <a:noAutofit/>
          </a:bodyPr>
          <a:lstStyle/>
          <a:p>
            <a:r>
              <a:rPr lang="ru-RU" sz="1600" u="sng" dirty="0">
                <a:latin typeface="Century Schoolbook" panose="02040604050505020304" pitchFamily="18" charset="0"/>
              </a:rPr>
              <a:t>Стадия 3 (7–10 лет):</a:t>
            </a:r>
            <a:br>
              <a:rPr lang="ru-RU" sz="1600" dirty="0">
                <a:latin typeface="Century Schoolbook" panose="02040604050505020304" pitchFamily="18" charset="0"/>
              </a:rPr>
            </a:br>
            <a:br>
              <a:rPr lang="ru-RU" sz="1600" dirty="0">
                <a:latin typeface="Century Schoolbook" panose="02040604050505020304" pitchFamily="18" charset="0"/>
              </a:rPr>
            </a:br>
            <a:r>
              <a:rPr lang="ru-RU" sz="1600" dirty="0">
                <a:latin typeface="Century Schoolbook" panose="02040604050505020304" pitchFamily="18" charset="0"/>
              </a:rPr>
              <a:t>· Межличностные отношения («хороший мальчик / милая девочка»)</a:t>
            </a:r>
            <a:br>
              <a:rPr lang="ru-RU" sz="1600" dirty="0">
                <a:latin typeface="Century Schoolbook" panose="02040604050505020304" pitchFamily="18" charset="0"/>
              </a:rPr>
            </a:br>
            <a:r>
              <a:rPr lang="ru-RU" sz="1600" dirty="0">
                <a:latin typeface="Century Schoolbook" panose="02040604050505020304" pitchFamily="18" charset="0"/>
              </a:rPr>
              <a:t>· Конформизм, желание нравиться другим</a:t>
            </a:r>
            <a:br>
              <a:rPr lang="ru-RU" sz="1600" dirty="0">
                <a:latin typeface="Century Schoolbook" panose="02040604050505020304" pitchFamily="18" charset="0"/>
              </a:rPr>
            </a:br>
            <a:r>
              <a:rPr lang="ru-RU" sz="1600" dirty="0">
                <a:latin typeface="Century Schoolbook" panose="02040604050505020304" pitchFamily="18" charset="0"/>
              </a:rPr>
              <a:t>· Важно, как выбор повлияет на отношения</a:t>
            </a:r>
            <a:br>
              <a:rPr lang="ru-RU" sz="1600" dirty="0">
                <a:latin typeface="Century Schoolbook" panose="02040604050505020304" pitchFamily="18" charset="0"/>
              </a:rPr>
            </a:br>
            <a:br>
              <a:rPr lang="ru-RU" sz="1600" dirty="0">
                <a:latin typeface="Century Schoolbook" panose="02040604050505020304" pitchFamily="18" charset="0"/>
              </a:rPr>
            </a:br>
            <a:r>
              <a:rPr lang="ru-RU" sz="1600" u="sng" dirty="0">
                <a:latin typeface="Century Schoolbook" panose="02040604050505020304" pitchFamily="18" charset="0"/>
              </a:rPr>
              <a:t>Стадия 4 (10–12 лет):</a:t>
            </a:r>
            <a:br>
              <a:rPr lang="ru-RU" sz="1600" dirty="0">
                <a:latin typeface="Century Schoolbook" panose="02040604050505020304" pitchFamily="18" charset="0"/>
              </a:rPr>
            </a:br>
            <a:br>
              <a:rPr lang="ru-RU" sz="1600" dirty="0">
                <a:latin typeface="Century Schoolbook" panose="02040604050505020304" pitchFamily="18" charset="0"/>
              </a:rPr>
            </a:br>
            <a:r>
              <a:rPr lang="ru-RU" sz="1600" dirty="0">
                <a:latin typeface="Century Schoolbook" panose="02040604050505020304" pitchFamily="18" charset="0"/>
              </a:rPr>
              <a:t>· Поддержание общественного порядка</a:t>
            </a:r>
            <a:br>
              <a:rPr lang="ru-RU" sz="1600" dirty="0">
                <a:latin typeface="Century Schoolbook" panose="02040604050505020304" pitchFamily="18" charset="0"/>
              </a:rPr>
            </a:br>
            <a:r>
              <a:rPr lang="ru-RU" sz="1600" dirty="0">
                <a:latin typeface="Century Schoolbook" panose="02040604050505020304" pitchFamily="18" charset="0"/>
              </a:rPr>
              <a:t>· Закон и порядок важны сами по себе</a:t>
            </a:r>
            <a:br>
              <a:rPr lang="ru-RU" sz="1600" dirty="0">
                <a:latin typeface="Century Schoolbook" panose="02040604050505020304" pitchFamily="18" charset="0"/>
              </a:rPr>
            </a:br>
            <a:r>
              <a:rPr lang="ru-RU" sz="1600" dirty="0">
                <a:latin typeface="Century Schoolbook" panose="02040604050505020304" pitchFamily="18" charset="0"/>
              </a:rPr>
              <a:t>· Долг и уважение к власти</a:t>
            </a:r>
            <a:br>
              <a:rPr lang="ru-RU" sz="1600" dirty="0">
                <a:latin typeface="Century Schoolbook" panose="02040604050505020304" pitchFamily="18" charset="0"/>
              </a:rPr>
            </a:br>
            <a:endParaRPr lang="ru-RU" sz="1600" dirty="0">
              <a:latin typeface="Century Schoolbook" panose="020406040505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sz="1600" dirty="0">
                <a:latin typeface="Century Schoolbook" panose="02040604050505020304" pitchFamily="18" charset="0"/>
              </a:rPr>
              <a:t>Самоцель — исполнение ожиданий семьи, группы, общества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sz="1600" dirty="0">
                <a:latin typeface="Century Schoolbook" panose="02040604050505020304" pitchFamily="18" charset="0"/>
              </a:rPr>
              <a:t>Лояльность и поддержание порядка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C58AB042-96A2-3959-D986-8B95E6856D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52520" y="4905697"/>
            <a:ext cx="514400" cy="222675"/>
          </a:xfrm>
        </p:spPr>
        <p:txBody>
          <a:bodyPr>
            <a:normAutofit fontScale="32500" lnSpcReduction="20000"/>
          </a:bodyPr>
          <a:lstStyle/>
          <a:p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C2A56C8-8102-4723-2C64-7A6C6CADE0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2080" y="1779662"/>
            <a:ext cx="3851920" cy="2594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9458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5" y="204787"/>
            <a:ext cx="8219251" cy="566763"/>
          </a:xfrm>
        </p:spPr>
        <p:txBody>
          <a:bodyPr>
            <a:noAutofit/>
          </a:bodyPr>
          <a:lstStyle/>
          <a:p>
            <a:pPr algn="ctr"/>
            <a:r>
              <a:rPr lang="ru-RU" dirty="0">
                <a:latin typeface="Century Schoolbook" panose="02040604050505020304" pitchFamily="18" charset="0"/>
              </a:rPr>
              <a:t>Уровень III: </a:t>
            </a:r>
            <a:r>
              <a:rPr lang="ru-RU" dirty="0" err="1">
                <a:latin typeface="Century Schoolbook" panose="02040604050505020304" pitchFamily="18" charset="0"/>
              </a:rPr>
              <a:t>Постконвенциональный</a:t>
            </a:r>
            <a:r>
              <a:rPr lang="ru-RU" dirty="0">
                <a:latin typeface="Century Schoolbook" panose="02040604050505020304" pitchFamily="18" charset="0"/>
              </a:rPr>
              <a:t> (стадии 5–6)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251520" y="843558"/>
            <a:ext cx="6264696" cy="2561406"/>
          </a:xfrm>
        </p:spPr>
        <p:txBody>
          <a:bodyPr>
            <a:no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sz="1600" u="sng" dirty="0">
                <a:latin typeface="Century Schoolbook" panose="02040604050505020304" pitchFamily="18" charset="0"/>
              </a:rPr>
              <a:t>Стадия 5 (13–17 лет):</a:t>
            </a:r>
            <a:br>
              <a:rPr lang="ru-RU" sz="1600" dirty="0">
                <a:latin typeface="Century Schoolbook" panose="02040604050505020304" pitchFamily="18" charset="0"/>
              </a:rPr>
            </a:br>
            <a:br>
              <a:rPr lang="ru-RU" sz="1600" dirty="0">
                <a:latin typeface="Century Schoolbook" panose="02040604050505020304" pitchFamily="18" charset="0"/>
              </a:rPr>
            </a:br>
            <a:r>
              <a:rPr lang="ru-RU" sz="1600" dirty="0">
                <a:latin typeface="Century Schoolbook" panose="02040604050505020304" pitchFamily="18" charset="0"/>
              </a:rPr>
              <a:t>· Социальное соглашение и индивидуальные права</a:t>
            </a:r>
            <a:br>
              <a:rPr lang="ru-RU" sz="1600" dirty="0">
                <a:latin typeface="Century Schoolbook" panose="02040604050505020304" pitchFamily="18" charset="0"/>
              </a:rPr>
            </a:br>
            <a:r>
              <a:rPr lang="ru-RU" sz="1600" dirty="0">
                <a:latin typeface="Century Schoolbook" panose="02040604050505020304" pitchFamily="18" charset="0"/>
              </a:rPr>
              <a:t>· Учёт ценностей и убеждений других</a:t>
            </a:r>
            <a:br>
              <a:rPr lang="ru-RU" sz="1600" dirty="0">
                <a:latin typeface="Century Schoolbook" panose="02040604050505020304" pitchFamily="18" charset="0"/>
              </a:rPr>
            </a:br>
            <a:r>
              <a:rPr lang="ru-RU" sz="1600" dirty="0">
                <a:latin typeface="Century Schoolbook" panose="02040604050505020304" pitchFamily="18" charset="0"/>
              </a:rPr>
              <a:t>· Нормы важны, но есть и другие стандарты</a:t>
            </a:r>
            <a:br>
              <a:rPr lang="ru-RU" sz="1600" dirty="0">
                <a:latin typeface="Century Schoolbook" panose="02040604050505020304" pitchFamily="18" charset="0"/>
              </a:rPr>
            </a:br>
            <a:br>
              <a:rPr lang="ru-RU" sz="1600" dirty="0">
                <a:latin typeface="Century Schoolbook" panose="02040604050505020304" pitchFamily="18" charset="0"/>
              </a:rPr>
            </a:br>
            <a:r>
              <a:rPr lang="ru-RU" sz="1600" u="sng" dirty="0">
                <a:latin typeface="Century Schoolbook" panose="02040604050505020304" pitchFamily="18" charset="0"/>
              </a:rPr>
              <a:t>Стадия 6 (от 18 лет):</a:t>
            </a:r>
            <a:br>
              <a:rPr lang="ru-RU" sz="1600" dirty="0">
                <a:latin typeface="Century Schoolbook" panose="02040604050505020304" pitchFamily="18" charset="0"/>
              </a:rPr>
            </a:br>
            <a:br>
              <a:rPr lang="ru-RU" sz="1600" dirty="0">
                <a:latin typeface="Century Schoolbook" panose="02040604050505020304" pitchFamily="18" charset="0"/>
              </a:rPr>
            </a:br>
            <a:r>
              <a:rPr lang="ru-RU" sz="1600" dirty="0">
                <a:latin typeface="Century Schoolbook" panose="02040604050505020304" pitchFamily="18" charset="0"/>
              </a:rPr>
              <a:t>· Универсальные принципы</a:t>
            </a:r>
            <a:br>
              <a:rPr lang="ru-RU" sz="1600" dirty="0">
                <a:latin typeface="Century Schoolbook" panose="02040604050505020304" pitchFamily="18" charset="0"/>
              </a:rPr>
            </a:br>
            <a:r>
              <a:rPr lang="ru-RU" sz="1600" dirty="0">
                <a:latin typeface="Century Schoolbook" panose="02040604050505020304" pitchFamily="18" charset="0"/>
              </a:rPr>
              <a:t>· Абстрактное мышление</a:t>
            </a:r>
            <a:br>
              <a:rPr lang="ru-RU" sz="1600" dirty="0">
                <a:latin typeface="Century Schoolbook" panose="02040604050505020304" pitchFamily="18" charset="0"/>
              </a:rPr>
            </a:br>
            <a:r>
              <a:rPr lang="ru-RU" sz="1600" dirty="0">
                <a:latin typeface="Century Schoolbook" panose="02040604050505020304" pitchFamily="18" charset="0"/>
              </a:rPr>
              <a:t>· Справедливость выше законов</a:t>
            </a:r>
            <a:br>
              <a:rPr lang="ru-RU" sz="1600" dirty="0">
                <a:latin typeface="Century Schoolbook" panose="02040604050505020304" pitchFamily="18" charset="0"/>
              </a:rPr>
            </a:br>
            <a:endParaRPr lang="ru-RU" sz="1600" dirty="0">
              <a:latin typeface="Century Schoolbook" panose="020406040505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sz="1600" dirty="0">
                <a:latin typeface="Century Schoolbook" panose="02040604050505020304" pitchFamily="18" charset="0"/>
              </a:rPr>
              <a:t>Мораль определяется внутренними принципами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sz="1600" dirty="0">
                <a:latin typeface="Century Schoolbook" panose="02040604050505020304" pitchFamily="18" charset="0"/>
              </a:rPr>
              <a:t>Принципы могут конфликтовать с законом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sz="1600" dirty="0">
                <a:latin typeface="Century Schoolbook" panose="02040604050505020304" pitchFamily="18" charset="0"/>
              </a:rPr>
              <a:t>Высший уровень достигается не всеми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012160" y="1203598"/>
            <a:ext cx="2792109" cy="2376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8549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DD7162-5A1E-AF34-6AC8-B70113C63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b="1" dirty="0">
                <a:latin typeface="Century Schoolbook" panose="02040604050505020304" pitchFamily="18" charset="0"/>
              </a:rPr>
              <a:t>Базовые принципы теории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D023DBB-0D77-81DF-64FA-17EE11A9EC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7614"/>
            <a:ext cx="8229600" cy="3394472"/>
          </a:xfrm>
        </p:spPr>
        <p:txBody>
          <a:bodyPr>
            <a:normAutofit fontScale="77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entury Schoolbook" panose="02040604050505020304" pitchFamily="18" charset="0"/>
              </a:rPr>
              <a:t>11 ценностей едины для разных культур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entury Schoolbook" panose="02040604050505020304" pitchFamily="18" charset="0"/>
              </a:rPr>
              <a:t>Стадия определяется не ценностями, а стилем отношения к ним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entury Schoolbook" panose="02040604050505020304" pitchFamily="18" charset="0"/>
              </a:rPr>
              <a:t>Центральное понятие — справедливость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entury Schoolbook" panose="02040604050505020304" pitchFamily="18" charset="0"/>
              </a:rPr>
              <a:t>Справедливость = распределение прав и обязанностей через равенство и взаимность</a:t>
            </a:r>
            <a:br>
              <a:rPr lang="ru-RU" dirty="0">
                <a:latin typeface="Century Schoolbook" panose="02040604050505020304" pitchFamily="18" charset="0"/>
              </a:rPr>
            </a:br>
            <a:br>
              <a:rPr lang="ru-RU" dirty="0">
                <a:latin typeface="Century Schoolbook" panose="02040604050505020304" pitchFamily="18" charset="0"/>
              </a:rPr>
            </a:br>
            <a:br>
              <a:rPr lang="ru-RU" dirty="0">
                <a:latin typeface="Century Schoolbook" panose="02040604050505020304" pitchFamily="18" charset="0"/>
              </a:rPr>
            </a:br>
            <a:r>
              <a:rPr lang="ru-RU" dirty="0">
                <a:latin typeface="Century Schoolbook" panose="02040604050505020304" pitchFamily="18" charset="0"/>
              </a:rPr>
              <a:t>Различия между людьми — не в том, что они ценят, а в том, как обосновывают выбор</a:t>
            </a:r>
          </a:p>
        </p:txBody>
      </p:sp>
    </p:spTree>
    <p:extLst>
      <p:ext uri="{BB962C8B-B14F-4D97-AF65-F5344CB8AC3E}">
        <p14:creationId xmlns:p14="http://schemas.microsoft.com/office/powerpoint/2010/main" val="18648949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A5650D-6E53-E7ED-9041-CB18AF876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b="1" dirty="0">
                <a:latin typeface="Century Schoolbook" panose="02040604050505020304" pitchFamily="18" charset="0"/>
              </a:rPr>
              <a:t>Базовые принципы теории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A339103-084A-310E-D5FB-202812281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9622"/>
            <a:ext cx="8229600" cy="3394472"/>
          </a:xfrm>
        </p:spPr>
        <p:txBody>
          <a:bodyPr>
            <a:normAutofit fontScale="62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entury Schoolbook" panose="02040604050505020304" pitchFamily="18" charset="0"/>
              </a:rPr>
              <a:t>Моральная зрелость = универсальные принципы + своя этическая концепция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entury Schoolbook" panose="02040604050505020304" pitchFamily="18" charset="0"/>
              </a:rPr>
              <a:t>Моральные «операции» обратимы (можно встать на точку зрения другого)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entury Schoolbook" panose="02040604050505020304" pitchFamily="18" charset="0"/>
              </a:rPr>
              <a:t>Нормы вырабатываются в социальном взаимодействии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entury Schoolbook" panose="02040604050505020304" pitchFamily="18" charset="0"/>
              </a:rPr>
              <a:t>Процесс морального развития един для всех обществ</a:t>
            </a:r>
            <a:br>
              <a:rPr lang="ru-RU" dirty="0">
                <a:latin typeface="Century Schoolbook" panose="02040604050505020304" pitchFamily="18" charset="0"/>
              </a:rPr>
            </a:br>
            <a:br>
              <a:rPr lang="ru-RU" dirty="0">
                <a:latin typeface="Century Schoolbook" panose="02040604050505020304" pitchFamily="18" charset="0"/>
              </a:rPr>
            </a:br>
            <a:r>
              <a:rPr lang="ru-RU" u="sng" dirty="0">
                <a:latin typeface="Century Schoolbook" panose="02040604050505020304" pitchFamily="18" charset="0"/>
              </a:rPr>
              <a:t>Вывод:</a:t>
            </a:r>
            <a:br>
              <a:rPr lang="ru-RU" dirty="0">
                <a:latin typeface="Century Schoolbook" panose="02040604050505020304" pitchFamily="18" charset="0"/>
              </a:rPr>
            </a:br>
            <a:br>
              <a:rPr lang="ru-RU" dirty="0">
                <a:latin typeface="Century Schoolbook" panose="02040604050505020304" pitchFamily="18" charset="0"/>
              </a:rPr>
            </a:br>
            <a:r>
              <a:rPr lang="ru-RU" dirty="0">
                <a:latin typeface="Century Schoolbook" panose="02040604050505020304" pitchFamily="18" charset="0"/>
              </a:rPr>
              <a:t>· Мораль не усваивается через наказание и награду</a:t>
            </a:r>
            <a:br>
              <a:rPr lang="ru-RU" dirty="0">
                <a:latin typeface="Century Schoolbook" panose="02040604050505020304" pitchFamily="18" charset="0"/>
              </a:rPr>
            </a:br>
            <a:r>
              <a:rPr lang="ru-RU" dirty="0">
                <a:latin typeface="Century Schoolbook" panose="02040604050505020304" pitchFamily="18" charset="0"/>
              </a:rPr>
              <a:t>· Она формируется в общении и совместной деятельности</a:t>
            </a:r>
          </a:p>
        </p:txBody>
      </p:sp>
    </p:spTree>
    <p:extLst>
      <p:ext uri="{BB962C8B-B14F-4D97-AF65-F5344CB8AC3E}">
        <p14:creationId xmlns:p14="http://schemas.microsoft.com/office/powerpoint/2010/main" val="20177023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DA3E4A-F22A-A68E-5F42-2C2C0826F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3200" b="1" dirty="0">
                <a:latin typeface="Century Schoolbook" panose="02040604050505020304" pitchFamily="18" charset="0"/>
              </a:rPr>
              <a:t>Основные выводы по теории </a:t>
            </a:r>
            <a:r>
              <a:rPr lang="ru-RU" sz="3200" b="1" dirty="0" err="1">
                <a:latin typeface="Century Schoolbook" panose="02040604050505020304" pitchFamily="18" charset="0"/>
              </a:rPr>
              <a:t>Кольберга</a:t>
            </a:r>
            <a:r>
              <a:rPr lang="ru-RU" sz="3200" b="1" dirty="0">
                <a:latin typeface="Century Schoolbook" panose="02040604050505020304" pitchFamily="18" charset="0"/>
              </a:rPr>
              <a:t>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90A13C1-D62C-25F6-250B-972873B8B5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7614"/>
            <a:ext cx="8229600" cy="3394472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ru-RU" sz="7200" dirty="0">
                <a:latin typeface="Century Schoolbook" panose="02040604050505020304" pitchFamily="18" charset="0"/>
              </a:rPr>
              <a:t>1. Моральное развитие проходит три уровня и шесть стадий </a:t>
            </a:r>
          </a:p>
          <a:p>
            <a:pPr marL="0" indent="0">
              <a:buNone/>
            </a:pPr>
            <a:r>
              <a:rPr lang="ru-RU" sz="7200" dirty="0">
                <a:latin typeface="Century Schoolbook" panose="02040604050505020304" pitchFamily="18" charset="0"/>
              </a:rPr>
              <a:t>2. Движение идёт от внешнего контроля к внутренним принципам</a:t>
            </a:r>
            <a:br>
              <a:rPr lang="ru-RU" sz="7200" dirty="0">
                <a:latin typeface="Century Schoolbook" panose="02040604050505020304" pitchFamily="18" charset="0"/>
              </a:rPr>
            </a:br>
            <a:r>
              <a:rPr lang="ru-RU" sz="7200" dirty="0">
                <a:latin typeface="Century Schoolbook" panose="02040604050505020304" pitchFamily="18" charset="0"/>
              </a:rPr>
              <a:t>3. Моральные дилеммы показывают не ответ, а логику рассуждений</a:t>
            </a:r>
            <a:br>
              <a:rPr lang="ru-RU" sz="7200" dirty="0">
                <a:latin typeface="Century Schoolbook" panose="02040604050505020304" pitchFamily="18" charset="0"/>
              </a:rPr>
            </a:br>
            <a:r>
              <a:rPr lang="ru-RU" sz="7200" dirty="0">
                <a:latin typeface="Century Schoolbook" panose="02040604050505020304" pitchFamily="18" charset="0"/>
              </a:rPr>
              <a:t>4. Высшая стадия — справедливость выше закона, но достигается редко</a:t>
            </a:r>
            <a:br>
              <a:rPr lang="ru-RU" sz="7200" dirty="0">
                <a:latin typeface="Century Schoolbook" panose="02040604050505020304" pitchFamily="18" charset="0"/>
              </a:rPr>
            </a:br>
            <a:br>
              <a:rPr lang="ru-RU" sz="7200" dirty="0">
                <a:latin typeface="Century Schoolbook" panose="02040604050505020304" pitchFamily="18" charset="0"/>
              </a:rPr>
            </a:br>
            <a:r>
              <a:rPr lang="ru-RU" sz="7200" u="sng" dirty="0">
                <a:latin typeface="Century Schoolbook" panose="02040604050505020304" pitchFamily="18" charset="0"/>
              </a:rPr>
              <a:t>Границы теории:</a:t>
            </a:r>
            <a:br>
              <a:rPr lang="ru-RU" sz="7200" dirty="0">
                <a:latin typeface="Century Schoolbook" panose="02040604050505020304" pitchFamily="18" charset="0"/>
              </a:rPr>
            </a:br>
            <a:br>
              <a:rPr lang="ru-RU" sz="7200" dirty="0">
                <a:latin typeface="Century Schoolbook" panose="02040604050505020304" pitchFamily="18" charset="0"/>
              </a:rPr>
            </a:br>
            <a:r>
              <a:rPr lang="ru-RU" sz="7200" dirty="0">
                <a:latin typeface="Century Schoolbook" panose="02040604050505020304" pitchFamily="18" charset="0"/>
              </a:rPr>
              <a:t>· Критика: недоучёт различий между полами и культурами</a:t>
            </a:r>
            <a:br>
              <a:rPr lang="ru-RU" sz="7200" dirty="0">
                <a:latin typeface="Century Schoolbook" panose="02040604050505020304" pitchFamily="18" charset="0"/>
              </a:rPr>
            </a:br>
            <a:r>
              <a:rPr lang="ru-RU" sz="7200" dirty="0">
                <a:latin typeface="Century Schoolbook" panose="02040604050505020304" pitchFamily="18" charset="0"/>
              </a:rPr>
              <a:t>· Однако последовательность этапов принимается большинством исследователей</a:t>
            </a:r>
            <a:br>
              <a:rPr lang="ru-RU" sz="7200" dirty="0">
                <a:latin typeface="Century Schoolbook" panose="02040604050505020304" pitchFamily="18" charset="0"/>
              </a:rPr>
            </a:br>
            <a:br>
              <a:rPr lang="ru-RU" sz="7200" dirty="0">
                <a:latin typeface="Century Schoolbook" panose="02040604050505020304" pitchFamily="18" charset="0"/>
              </a:rPr>
            </a:br>
            <a:r>
              <a:rPr lang="ru-RU" sz="7200" u="sng" dirty="0">
                <a:latin typeface="Century Schoolbook" panose="02040604050505020304" pitchFamily="18" charset="0"/>
              </a:rPr>
              <a:t>Итоговая мысль:</a:t>
            </a:r>
            <a:br>
              <a:rPr lang="ru-RU" sz="7200" dirty="0">
                <a:latin typeface="Century Schoolbook" panose="02040604050505020304" pitchFamily="18" charset="0"/>
              </a:rPr>
            </a:br>
            <a:br>
              <a:rPr lang="ru-RU" sz="7200" dirty="0">
                <a:latin typeface="Century Schoolbook" panose="02040604050505020304" pitchFamily="18" charset="0"/>
              </a:rPr>
            </a:br>
            <a:r>
              <a:rPr lang="ru-RU" sz="7200" dirty="0">
                <a:latin typeface="Century Schoolbook" panose="02040604050505020304" pitchFamily="18" charset="0"/>
              </a:rPr>
              <a:t>· </a:t>
            </a:r>
            <a:r>
              <a:rPr lang="ru-RU" sz="7200" dirty="0" err="1">
                <a:latin typeface="Century Schoolbook" panose="02040604050505020304" pitchFamily="18" charset="0"/>
              </a:rPr>
              <a:t>Кольберг</a:t>
            </a:r>
            <a:r>
              <a:rPr lang="ru-RU" sz="7200" dirty="0">
                <a:latin typeface="Century Schoolbook" panose="02040604050505020304" pitchFamily="18" charset="0"/>
              </a:rPr>
              <a:t> показал, как человек учится различать добро и зло — от страха наказания до совести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28069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632492" y="2110085"/>
            <a:ext cx="787901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/>
            <a:r>
              <a:rPr lang="ru-RU" sz="5400" b="1" cap="all" spc="0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04583150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362</TotalTime>
  <Words>774</Words>
  <Application>Microsoft Office PowerPoint</Application>
  <PresentationFormat>Экран (16:9)</PresentationFormat>
  <Paragraphs>49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8" baseType="lpstr">
      <vt:lpstr>Arial</vt:lpstr>
      <vt:lpstr>Calibri</vt:lpstr>
      <vt:lpstr>Century Schoolbook</vt:lpstr>
      <vt:lpstr>Courier New</vt:lpstr>
      <vt:lpstr>Wingdings</vt:lpstr>
      <vt:lpstr>Тема Office</vt:lpstr>
      <vt:lpstr>Моральное развитие по Лоуренсу Кольбергу</vt:lpstr>
      <vt:lpstr>Теория Кольберга</vt:lpstr>
      <vt:lpstr>Дилемма Хайнца</vt:lpstr>
      <vt:lpstr>Дилемма Хайнца</vt:lpstr>
      <vt:lpstr>Другие моральные дилеммы</vt:lpstr>
      <vt:lpstr>Уровень I: Предконвенциональный (стадии 1–2)</vt:lpstr>
      <vt:lpstr>Уровень II: Конвенциональный (стадии 3–4) </vt:lpstr>
      <vt:lpstr>Уровень III: Постконвенциональный (стадии 5–6)</vt:lpstr>
      <vt:lpstr>Базовые принципы теории</vt:lpstr>
      <vt:lpstr>Базовые принципы теории </vt:lpstr>
      <vt:lpstr>Основные выводы по теории Кольберга: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Периодизация  Лоуренса Кольберга</dc:title>
  <dc:creator>Ирина Мартюшова</dc:creator>
  <cp:lastModifiedBy>Юлия Илларионова</cp:lastModifiedBy>
  <cp:revision>26</cp:revision>
  <dcterms:created xsi:type="dcterms:W3CDTF">2023-05-08T04:45:17Z</dcterms:created>
  <dcterms:modified xsi:type="dcterms:W3CDTF">2026-06-08T08:28:22Z</dcterms:modified>
</cp:coreProperties>
</file>
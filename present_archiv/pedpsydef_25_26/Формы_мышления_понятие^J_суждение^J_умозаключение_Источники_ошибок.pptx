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4195A0-9DAE-47D3-B691-0803A4503060}" v="2" dt="2026-04-07T21:57:44.6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24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3788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34545" y="4987636"/>
            <a:ext cx="7481455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6234545" y="1248987"/>
            <a:ext cx="5985164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Формы мышления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6234545" y="2327564"/>
            <a:ext cx="5818909" cy="21779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Мышление — это высшая форма познавательной деятельности человека, процесс опосредованного и обобщённого отражения объективной действительности в её существенных связях и отношениях. Согласно учебнику Б. А. Сосновского, мышление существует в трёх основных формах: понятии, суждении и умозаключении. Понятие — это форма мышления, в которой отражаются общие и существенные признаки предметов или явлений.</a:t>
            </a:r>
            <a:endParaRPr 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308280-1EB2-CCE4-8219-A3AA88C890E9}"/>
              </a:ext>
            </a:extLst>
          </p:cNvPr>
          <p:cNvSpPr txBox="1"/>
          <p:nvPr/>
        </p:nvSpPr>
        <p:spPr>
          <a:xfrm>
            <a:off x="7175577" y="5769617"/>
            <a:ext cx="559938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000000"/>
                </a:solidFill>
              </a:rPr>
              <a:t>Выполнили: Чудаков Дмитрий Александрович 0-24-1</a:t>
            </a:r>
          </a:p>
          <a:p>
            <a:pPr marL="0" indent="0" algn="l">
              <a:buNone/>
            </a:pPr>
            <a:r>
              <a:rPr lang="ru-RU" sz="1400" dirty="0" err="1">
                <a:solidFill>
                  <a:srgbClr val="000000"/>
                </a:solidFill>
              </a:rPr>
              <a:t>Фартдинова</a:t>
            </a:r>
            <a:r>
              <a:rPr lang="ru-RU" sz="1400" dirty="0">
                <a:solidFill>
                  <a:srgbClr val="000000"/>
                </a:solidFill>
              </a:rPr>
              <a:t> Диана </a:t>
            </a:r>
            <a:r>
              <a:rPr lang="ru-RU" sz="1400" dirty="0" err="1">
                <a:solidFill>
                  <a:srgbClr val="000000"/>
                </a:solidFill>
              </a:rPr>
              <a:t>Ильясовна</a:t>
            </a:r>
            <a:r>
              <a:rPr lang="ru-RU" sz="1400" dirty="0">
                <a:solidFill>
                  <a:srgbClr val="000000"/>
                </a:solidFill>
              </a:rPr>
              <a:t> 0-24-7</a:t>
            </a:r>
            <a:br>
              <a:rPr lang="ru-RU" sz="1400" dirty="0">
                <a:solidFill>
                  <a:srgbClr val="000000"/>
                </a:solidFill>
              </a:rPr>
            </a:b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46909" y="417715"/>
            <a:ext cx="10141528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Понятие как форма мышления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246909" y="1662545"/>
            <a:ext cx="9144000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Понятие — это форма мышления, в которой отражаются общие и существенные признаки предметов или явлений.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246909" y="4156364"/>
            <a:ext cx="4156364" cy="1679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Понятия делятся на конкретные (например, «стол», «яблоко») и абстрактные (например, «справедливость», «любовь»). Они формируются в процессе обобщения опыта и являются результатом длительного познания.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065818" y="4156364"/>
            <a:ext cx="4156364" cy="1180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Понятия служат инструментом для классификации объектов и явлений, облегчая тем самым процесс их восприятия и анализа.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18909" y="1082733"/>
            <a:ext cx="5985164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Суждение как форма мышления</a:t>
            </a:r>
            <a:endParaRPr lang="en-US" sz="2200" dirty="0"/>
          </a:p>
        </p:txBody>
      </p:sp>
      <p:sp>
        <p:nvSpPr>
          <p:cNvPr id="5" name="Text 1"/>
          <p:cNvSpPr/>
          <p:nvPr/>
        </p:nvSpPr>
        <p:spPr>
          <a:xfrm>
            <a:off x="5818909" y="2078182"/>
            <a:ext cx="5818909" cy="1679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Суждение — форма мышления, в которой что-либо утверждается или отрицается о предметах, их свойствах и отношениях. Пример: «Все люди смертны» или «Этот человек не является студентом». Суждения могут быть истинными или ложными, простыми и сложными, категорическими, условными и разделительными.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5818909" y="3757353"/>
            <a:ext cx="5818909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Суждения играют ключевую роль в логике и являются основой для формирования умозаключений.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46909" y="417715"/>
            <a:ext cx="10141528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Умозаключение как форма мышления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246909" y="1662545"/>
            <a:ext cx="9144000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Умозаключение — наиболее сложная форма мышления, когда из одного или нескольких известных суждений (посылок) выводится новое суждение (вывод).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246909" y="4156364"/>
            <a:ext cx="4156364" cy="1180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Основные виды: дедуктивные (от общего к частному), индуктивные (от частного к общему) и по аналогии — перенос знаний с одного объекта на другой по сходству.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065818" y="4156364"/>
            <a:ext cx="4156364" cy="1180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Умозаключение играет ключевую роль в научном методе, позволяя формулировать гипотезы и делать выводы на основе экспериментальных данных.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671" y="586597"/>
            <a:ext cx="12192000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18909" y="1082733"/>
            <a:ext cx="5985164" cy="9809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Источники ошибок в логических рассуждениях</a:t>
            </a:r>
            <a:endParaRPr lang="en-US" sz="2200" dirty="0"/>
          </a:p>
        </p:txBody>
      </p:sp>
      <p:sp>
        <p:nvSpPr>
          <p:cNvPr id="5" name="Text 1"/>
          <p:cNvSpPr/>
          <p:nvPr/>
        </p:nvSpPr>
        <p:spPr>
          <a:xfrm>
            <a:off x="5818909" y="2078182"/>
            <a:ext cx="5818909" cy="1679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Даже при правильном использовании форм мышления человек часто допускает ошибки. Учебники выделяют два основных источника: нарушение законов формальной логики (несоблюдение закона тождества, противоречия, исключённого третьего) и когнитивные искажения, связанные с работой мышления в условиях ограниченных ресурсов.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5818909" y="3757353"/>
            <a:ext cx="5818909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Например, такие ошибки могут возникать из-за стереотипов и предвзятости, которые влияют на восприятие и анализ информации.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417715"/>
            <a:ext cx="10141528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Эвристика доступности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1662545"/>
            <a:ext cx="4156364" cy="1429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Эвристика доступности (availability heuristic) заключается в том, что человек оценивает вероятность или частоту события по тому, насколько легко ему приходят на ум примеры этого события.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858000" y="1662545"/>
            <a:ext cx="4156364" cy="1928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Чем ярче и легче вспоминается пример, тем выше кажется вероятность. Классический пример: после громких новостей о авиакатастрофах люди начинают бояться летать самолётом больше, чем ездить на машине, хотя статистика показывает обратное.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1273" y="1082733"/>
            <a:ext cx="5985164" cy="581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Эвристика репрезентативности</a:t>
            </a:r>
            <a:endParaRPr lang="en-US" sz="2200" dirty="0"/>
          </a:p>
        </p:txBody>
      </p:sp>
      <p:sp>
        <p:nvSpPr>
          <p:cNvPr id="5" name="Text 1"/>
          <p:cNvSpPr/>
          <p:nvPr/>
        </p:nvSpPr>
        <p:spPr>
          <a:xfrm>
            <a:off x="831273" y="2078182"/>
            <a:ext cx="5818909" cy="1180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Эвристика репрезентативности (representativeness heuristic) — это оценка вероятности принадлежности объекта к той или иной категории по степени его сходства с типичным представителем этой категории (стереотипом).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831273" y="3740727"/>
            <a:ext cx="5818909" cy="1180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При этом игнорируется базовая частота (base-rate fallacy) — реальная вероятность события в общей популяции. Самый известный пример — задача Линды (Kahneman &amp; Tversky, описана в учебниках Аткинсона и Сосновского).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417715"/>
            <a:ext cx="10141528" cy="581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Задача Линды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1662545"/>
            <a:ext cx="6650182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«Линде 31 год, она не замужем, откровенна и очень умна.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454727" y="2909455"/>
            <a:ext cx="6650182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Она изучала философию. Будучи студенткой, она сильно интересовалась вопросами дискриминации и социальной справедливости и участвовала в антиядерных демонстрациях».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454727" y="3840480"/>
            <a:ext cx="6650182" cy="1180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Что вероятнее: а) Линда — банковский кассир; б) Линда — банковский кассир и активная участница феминистского движения. Большинство людей выбирают вариант б, хотя логически он менее вероятен (нарушение правила конъюнкции).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1273" y="1082733"/>
            <a:ext cx="5985164" cy="581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Заключение о формах мышления</a:t>
            </a:r>
            <a:endParaRPr lang="en-US" sz="2200" dirty="0"/>
          </a:p>
        </p:txBody>
      </p:sp>
      <p:sp>
        <p:nvSpPr>
          <p:cNvPr id="5" name="Text 1"/>
          <p:cNvSpPr/>
          <p:nvPr/>
        </p:nvSpPr>
        <p:spPr>
          <a:xfrm>
            <a:off x="831273" y="2078182"/>
            <a:ext cx="5818909" cy="1429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Формы мышления — понятие, суждение и умозаключение — составляют основу логического познания. Однако в реальной жизни мышление часто опирается на эвристики доступности и репрезентативности, что приводит к систематическим ошибкам в оценке вероятностей и принятии решений.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831273" y="3740727"/>
            <a:ext cx="5818909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Эти ошибки могут быть минимизированы путём осознания и применения методов критического мышления.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750224"/>
            <a:ext cx="10141528" cy="581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Значение понимания механизмов мышления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2078182"/>
            <a:ext cx="9975273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Понимание механизмов мышления помогает развивать критическое мышление и избегать когнитивных ловушек.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454727" y="3241964"/>
            <a:ext cx="9975273" cy="1180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Знание этих процессов особенно важно в повседневной жизни, профессии и научной деятельности. Осознание собственных когнитивных искажений — первый шаг к более рациональному мышлению. Это, в свою очередь, способствует принятию более взвешенных решений и повышению общей эффективности в различных сферах жизни.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46909" y="2080260"/>
            <a:ext cx="10141528" cy="781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0000"/>
                </a:solidFill>
              </a:rPr>
              <a:t>Спасибо за внимание!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1246909" y="3325091"/>
            <a:ext cx="9975273" cy="1180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705</Words>
  <Application>Microsoft Office PowerPoint</Application>
  <PresentationFormat>Широкоэкранный</PresentationFormat>
  <Paragraphs>46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Дмитрий .</cp:lastModifiedBy>
  <cp:revision>3</cp:revision>
  <dcterms:created xsi:type="dcterms:W3CDTF">2026-04-07T21:55:08Z</dcterms:created>
  <dcterms:modified xsi:type="dcterms:W3CDTF">2026-04-07T22:00:10Z</dcterms:modified>
</cp:coreProperties>
</file>
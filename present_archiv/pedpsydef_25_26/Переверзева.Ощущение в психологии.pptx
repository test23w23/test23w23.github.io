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22" r:id="rId5"/>
    <p:sldId id="321" r:id="rId6"/>
    <p:sldId id="318" r:id="rId7"/>
    <p:sldId id="323" r:id="rId8"/>
    <p:sldId id="324" r:id="rId9"/>
    <p:sldId id="310" r:id="rId1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88" autoAdjust="0"/>
  </p:normalViewPr>
  <p:slideViewPr>
    <p:cSldViewPr snapToGrid="0">
      <p:cViewPr varScale="1">
        <p:scale>
          <a:sx n="65" d="100"/>
          <a:sy n="65" d="100"/>
        </p:scale>
        <p:origin x="936" y="10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D39CCB62-B41B-43E2-AF69-37C6C3AA2A59}" type="datetime1">
              <a:rPr lang="ru-RU" smtClean="0"/>
              <a:t>29.03.2026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00AC623C-86E0-4A85-83FB-F4A716956FD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01FECD02-157A-4A16-9860-7FB311FE85A2}" type="datetime1">
              <a:rPr lang="ru-RU" smtClean="0"/>
              <a:t>29.03.2026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37D7554-D10C-4E29-B8E6-BB7111FA614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34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884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3503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8BDCE-AFAD-F167-3AB8-B942C98E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E66C98B-CCCF-895E-E3F8-2B36E3A8F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6947F77-88C5-8856-B5EA-D9A3F7BEB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005026-05A9-E098-1E57-2008A782E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8100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8FE6-333B-7568-9B12-40618BBF4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A49B75-E5B2-60D4-D0DF-B934FE52A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F0805F9-5D81-63D7-0170-FE85B24B2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232EFD-E988-5A87-8C21-289F4331A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1481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416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rtlCol="0" anchor="b">
            <a:normAutofit/>
          </a:bodyPr>
          <a:lstStyle>
            <a:lvl1pPr>
              <a:defRPr lang="ru-RU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rtlCol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рисунок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rtlCol="0" anchor="b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одзаголовок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Текст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ru-RU"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rtlCol="0" anchor="b"/>
          <a:lstStyle>
            <a:lvl1pPr algn="ctr"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Текст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ru-RU"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Объект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ru-RU"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lang="ru-RU"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lang="ru-RU"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lang="ru-RU"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рисунок и содержимое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Заполнитель таблицы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 rtlCol="0">
            <a:normAutofit/>
          </a:bodyPr>
          <a:lstStyle>
            <a:lvl1pPr>
              <a:defRPr lang="ru-RU" sz="20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 rtlCol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ru-RU" sz="2000"/>
            </a:lvl1pPr>
            <a:lvl2pPr>
              <a:lnSpc>
                <a:spcPct val="100000"/>
              </a:lnSpc>
              <a:spcAft>
                <a:spcPts val="600"/>
              </a:spcAft>
              <a:defRPr lang="ru-RU"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lang="ru-RU" sz="2000"/>
            </a:lvl3pPr>
            <a:lvl4pPr>
              <a:lnSpc>
                <a:spcPct val="100000"/>
              </a:lnSpc>
              <a:spcAft>
                <a:spcPts val="1200"/>
              </a:spcAft>
              <a:defRPr lang="ru-RU" sz="2000"/>
            </a:lvl4pPr>
            <a:lvl5pPr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Объект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ru-RU"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аблица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Заполнитель таблицы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 rtlCol="0">
            <a:normAutofit/>
          </a:bodyPr>
          <a:lstStyle>
            <a:lvl1pPr>
              <a:defRPr lang="ru-RU" sz="24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rtlCol="0" anchor="b">
            <a:normAutofit/>
          </a:bodyPr>
          <a:lstStyle>
            <a:lvl1pPr>
              <a:defRPr lang="ru-RU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Ощущение в психологии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Понятие «ощущение»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400" dirty="0"/>
              <a:t>это начальная стадия познания мира, процесс восприятия информации, поступающей от органов чувств. Это проявление взаимодействия между внешними и внутренними стимулами и физическими состояниями системы восприятия (</a:t>
            </a:r>
            <a:r>
              <a:rPr lang="ru-RU" sz="2400" dirty="0" err="1"/>
              <a:t>Гиппенрейтер</a:t>
            </a:r>
            <a:r>
              <a:rPr lang="ru-RU" sz="2400" dirty="0"/>
              <a:t>, 1996).</a:t>
            </a:r>
          </a:p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Свойства ощущений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1824138"/>
            <a:ext cx="8552264" cy="411946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2400" i="1" dirty="0"/>
              <a:t>Ключевые свойства ощущений:</a:t>
            </a:r>
          </a:p>
          <a:p>
            <a:pPr marL="0" indent="0">
              <a:buNone/>
            </a:pPr>
            <a:endParaRPr lang="ru-RU" sz="2400" dirty="0"/>
          </a:p>
          <a:p>
            <a:r>
              <a:rPr lang="ru-RU" sz="2400" dirty="0"/>
              <a:t>- Субъективность: Ощущения формируются индивидуально, зависят от личного опыта и восприятия.</a:t>
            </a:r>
          </a:p>
          <a:p>
            <a:r>
              <a:rPr lang="ru-RU" sz="2400" dirty="0"/>
              <a:t>- Избирательность: Мы уделяем внимание только тем стимулам, которые наиболее актуальны в данный момент.</a:t>
            </a:r>
          </a:p>
          <a:p>
            <a:r>
              <a:rPr lang="ru-RU" sz="2400" dirty="0"/>
              <a:t>- Поэтапность: Ощущения формируются поэтапно, начиная с простых сенсорных данных и заканчивая сложной интеграцией информации (Лурия, 2004).</a:t>
            </a: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 rtl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107ED-79FE-5508-38B7-64B592A9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C5DB54-0FAF-E038-4003-8629B923A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Классификации ощущений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909712-79AD-EBA5-A33E-A0F65728B62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1824138"/>
            <a:ext cx="8552264" cy="411946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1. </a:t>
            </a:r>
            <a:r>
              <a:rPr lang="ru-RU" sz="2400" i="1" dirty="0"/>
              <a:t>По видам органов чувств</a:t>
            </a:r>
            <a:r>
              <a:rPr lang="ru-RU" sz="2400" dirty="0"/>
              <a:t>:</a:t>
            </a:r>
          </a:p>
          <a:p>
            <a:r>
              <a:rPr lang="ru-RU" sz="2400" dirty="0"/>
              <a:t>   - Зрительные</a:t>
            </a:r>
          </a:p>
          <a:p>
            <a:r>
              <a:rPr lang="ru-RU" sz="2400" dirty="0"/>
              <a:t>   - Слуховые</a:t>
            </a:r>
          </a:p>
          <a:p>
            <a:r>
              <a:rPr lang="ru-RU" sz="2400" dirty="0"/>
              <a:t>   - Осязательные</a:t>
            </a:r>
          </a:p>
          <a:p>
            <a:r>
              <a:rPr lang="ru-RU" sz="2400" dirty="0"/>
              <a:t>   - Обонятельные</a:t>
            </a:r>
          </a:p>
          <a:p>
            <a:r>
              <a:rPr lang="ru-RU" sz="2400" dirty="0"/>
              <a:t>   - Вкусовые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D3679A-B1E8-9DF0-6025-C2C6DE186F6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 rtl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3713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D8288-134F-2F37-C6BE-51930272D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63E52-B655-1777-AC1D-58AA7412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Классификации ощущений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B4482C-5F4B-2E36-1E22-B92F28664F1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1824138"/>
            <a:ext cx="8552264" cy="4119463"/>
          </a:xfrm>
        </p:spPr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r>
              <a:rPr lang="ru-RU" dirty="0"/>
              <a:t>2. </a:t>
            </a:r>
            <a:r>
              <a:rPr lang="ru-RU" i="1" dirty="0"/>
              <a:t>По происхождению</a:t>
            </a:r>
            <a:r>
              <a:rPr lang="ru-RU" dirty="0"/>
              <a:t>:</a:t>
            </a:r>
          </a:p>
          <a:p>
            <a:r>
              <a:rPr lang="ru-RU" dirty="0"/>
              <a:t>   - </a:t>
            </a:r>
            <a:r>
              <a:rPr lang="ru-RU" dirty="0" err="1"/>
              <a:t>Экстероцептативные</a:t>
            </a:r>
            <a:r>
              <a:rPr lang="ru-RU" dirty="0"/>
              <a:t> (внешние) – появляются под воздействием внешних стимулов;</a:t>
            </a:r>
          </a:p>
          <a:p>
            <a:r>
              <a:rPr lang="ru-RU" dirty="0"/>
              <a:t>   - </a:t>
            </a:r>
            <a:r>
              <a:rPr lang="ru-RU" dirty="0" err="1"/>
              <a:t>Интероцептативные</a:t>
            </a:r>
            <a:r>
              <a:rPr lang="ru-RU" dirty="0"/>
              <a:t> (внутренние) – возникают в результате стимуляции внутренних органов (Сосновский, 2005).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3</a:t>
            </a:r>
            <a:r>
              <a:rPr lang="ru-RU" i="1" dirty="0"/>
              <a:t>. По сложности:</a:t>
            </a:r>
            <a:endParaRPr lang="ru-RU" dirty="0"/>
          </a:p>
          <a:p>
            <a:r>
              <a:rPr lang="ru-RU" dirty="0"/>
              <a:t>   - Простые – реализуются непосредственно и связаны с одним видом ощущения;</a:t>
            </a:r>
          </a:p>
          <a:p>
            <a:r>
              <a:rPr lang="ru-RU" dirty="0"/>
              <a:t>   - Сложные – возникают в результате взаимодействия различных сенсорных систем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8048C7-87C1-77F3-A1C6-02AEDC3AD54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 rtl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649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646" y="-1543870"/>
            <a:ext cx="10407354" cy="52530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938359_TF78544816_Win32" id="{08C24B57-BF3C-4B8F-BD55-8BE3AAC8BEA8}" vid="{F9437CE3-892B-40E9-8EE4-1014FD9F69C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Современная презентация для конференции</Template>
  <TotalTime>9</TotalTime>
  <Words>205</Words>
  <Application>Microsoft Office PowerPoint</Application>
  <PresentationFormat>Широкоэкранный</PresentationFormat>
  <Paragraphs>35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Tisa Offc Serif Pro</vt:lpstr>
      <vt:lpstr>Univers Light</vt:lpstr>
      <vt:lpstr>Пользовательская</vt:lpstr>
      <vt:lpstr>Ощущение в психологии</vt:lpstr>
      <vt:lpstr>Понятие «ощущение»</vt:lpstr>
      <vt:lpstr>Свойства ощущений</vt:lpstr>
      <vt:lpstr>Классификации ощущений</vt:lpstr>
      <vt:lpstr>Классификации ощущений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Admin-D</dc:creator>
  <cp:lastModifiedBy>Admin-D</cp:lastModifiedBy>
  <cp:revision>1</cp:revision>
  <dcterms:created xsi:type="dcterms:W3CDTF">2026-03-29T18:53:50Z</dcterms:created>
  <dcterms:modified xsi:type="dcterms:W3CDTF">2026-03-29T19:03:32Z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
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70" r:id="rId14"/>
    <p:sldId id="267" r:id="rId15"/>
    <p:sldId id="268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>
        <p:scale>
          <a:sx n="50" d="100"/>
          <a:sy n="50" d="100"/>
        </p:scale>
        <p:origin x="1925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BCE5A-5A74-4563-AF22-CF04A2539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D6C777-1316-4F8F-8435-54ED7F9B1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47330-7DBA-448F-96D4-839F881C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4A9C60-2C37-4E7D-9104-E63852768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35BD3A-ADCC-48F6-B263-A6E49661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42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3ED90-4F3F-4A6E-A877-36CE46D5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E50FF9-68BA-4364-99E8-0EF99B272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DBC117-0FE4-4749-A098-E8AF5C529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372CE3-A44B-462F-B182-68FFA831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718810-54D7-4D88-8629-9532568C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07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53E1F-1389-4368-97BF-45C79735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AB94E9-7F1F-4583-9A0A-8A398E69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7AA470-91A5-409C-8F80-D385748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668EB0-9B92-434B-975B-F4D3B5E9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2AA4E5-1C0F-419D-B422-B61639AF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98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7622-9E69-40BB-A7CB-D1665438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0001B9-EA5B-473D-8E24-1D70B4DAE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F47D5B-A6FB-4FF5-8EE4-33BFE5A3C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DCC618-147B-46BB-807D-30ED771C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23FD23-9A64-49FA-BA4B-158AC7A7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CC1171-68FD-40CF-820B-BCF7BED8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50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441D1-2D97-4F11-8444-6548B69A8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15B2AA-75E3-431A-8F91-DA47F9FD3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0DD91F-5E5A-40CF-A3A0-FF4EFD722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7E41D06-296A-4EC3-ADD3-5D28C02D3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C77130-A45D-45CA-9F26-8CB4CAFF2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B23B73-4044-4D75-8C59-8D46F300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15E038A-EDDE-4D68-8216-6D6D6B67F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33AE50-F8DC-4148-9BC7-9C8A1682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89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E7102-87C2-43A8-AA56-34998C913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7B7E3D-667F-4B10-B814-A5BB2483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AE1797-854B-44CF-A40D-7F7F4F0F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1E090-D0BD-42DE-9B03-59DA64A1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09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9482E9-4DBE-4B89-B885-DF36863A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6ED60D4-B543-493B-BF1F-2A2456EC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D4E275-38E3-48C7-9F3F-AC5FD853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25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9E5C2-FF3A-4ED5-AFDF-0CE1CF50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D88AED-B1D5-4E36-9599-5616DE7E4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D47DC3-7B78-422C-9604-7A3AA44C5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8E4F8D-B716-4ACC-9D72-2B3AA8DF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26E0F6-5789-44B0-879F-C0349D76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6BF0F5-1DB9-40E1-9217-6D0ED167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00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F2ABF-D211-4E85-8DEC-2A5FDF10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4CFC787-8A20-4173-AD9C-8877716CC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F19480-8806-4B21-A6E3-1B40B79F6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201F7D-7CD3-40FF-B2B4-D704E6BF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CEC8E1-A13B-47A2-978F-D7BB5F01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85C679-AF71-4835-A36C-972B4835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75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8ABF0-FB5F-4ED3-A2C0-E74A97F8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B3E25A-E13E-4770-952B-ED51DF10E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DCB8BD-E86B-48CA-A163-9420E395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8FE85F-5D38-4536-B0E8-596DC71C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B1C2E8-43E6-46BB-AA48-9BF46F09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866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6D885C-CFD9-4DD1-9A0A-BEABE2FC5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DFEEEF-4EA6-4EEC-915E-D7367D2B9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9648AF-099D-4FC2-AED8-D8F563E2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3DF3B7-92F4-4108-A296-25E659BE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D9F3CA-4046-459E-BC5C-3B896EDD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17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9D464-485E-4834-93F1-5E1602F4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A3A2D4-9357-46B7-B6C5-1A1057391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A975E4-07B1-4533-AA68-43E72BE3A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6DA92-7F0B-49F7-A5F1-4E9AB7A74C5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30761D-0E1B-4C30-9528-6EC1893ED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37F6D9-8996-45F2-BB21-CC30ADF9C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E78DA-1801-4E0B-8D7B-6CE497A148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92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2841292-112D-4CFB-A165-69CB17D2B5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E2AF30-C1B2-4920-9916-0ECB778F5ADA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BB50C-E857-4059-9D67-81FE9EEBE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440" y="1675279"/>
            <a:ext cx="9723120" cy="314385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СТРУКТУРА ЛИЧНОСТИ. ОСНОВНЫЕ ТЕОРИИ И КОНЦЕПЦИИ ЛИЧНОСТИ </a:t>
            </a:r>
            <a:br>
              <a:rPr lang="ru-RU" sz="32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2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(З. ФРЕЙД, ДЖ. КЕЛЛИ И ДР.)</a:t>
            </a:r>
            <a:br>
              <a:rPr lang="ru-RU" sz="32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2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ru-RU" sz="32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234AD8-B04D-42F3-8A19-CA1C36E2E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1499"/>
            <a:ext cx="9144000" cy="1655762"/>
          </a:xfrm>
        </p:spPr>
        <p:txBody>
          <a:bodyPr>
            <a:norm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ДОКЛАД ПОДГОТОВЛЕН АФИНОГЕНОВОЙ ВЛАДИСЛАВОЙ ЕВГЕНЬЕВНОЙ ФАЯ 0-24-11 ТИМПИЯИК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54BA0B-7168-4462-9D34-9F5B0528C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818" y="4174728"/>
            <a:ext cx="2235282" cy="2063750"/>
          </a:xfrm>
          <a:prstGeom prst="rect">
            <a:avLst/>
          </a:prstGeom>
        </p:spPr>
      </p:pic>
      <p:sp>
        <p:nvSpPr>
          <p:cNvPr id="8" name="Звезда: 4 точки 7">
            <a:extLst>
              <a:ext uri="{FF2B5EF4-FFF2-40B4-BE49-F238E27FC236}">
                <a16:creationId xmlns:a16="http://schemas.microsoft.com/office/drawing/2014/main" id="{06109224-4A87-46E5-89E1-41462A216098}"/>
              </a:ext>
            </a:extLst>
          </p:cNvPr>
          <p:cNvSpPr/>
          <p:nvPr/>
        </p:nvSpPr>
        <p:spPr>
          <a:xfrm>
            <a:off x="9002739" y="5258099"/>
            <a:ext cx="308586" cy="375462"/>
          </a:xfrm>
          <a:prstGeom prst="star4">
            <a:avLst/>
          </a:prstGeom>
          <a:solidFill>
            <a:srgbClr val="54823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Звезда: 4 точки 8">
            <a:extLst>
              <a:ext uri="{FF2B5EF4-FFF2-40B4-BE49-F238E27FC236}">
                <a16:creationId xmlns:a16="http://schemas.microsoft.com/office/drawing/2014/main" id="{AD8F3F3B-6B27-4978-91C3-FAD8C91F872B}"/>
              </a:ext>
            </a:extLst>
          </p:cNvPr>
          <p:cNvSpPr/>
          <p:nvPr/>
        </p:nvSpPr>
        <p:spPr>
          <a:xfrm>
            <a:off x="8794358" y="4967017"/>
            <a:ext cx="308586" cy="375462"/>
          </a:xfrm>
          <a:prstGeom prst="star4">
            <a:avLst/>
          </a:prstGeom>
          <a:solidFill>
            <a:srgbClr val="54823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Звезда: 4 точки 9">
            <a:extLst>
              <a:ext uri="{FF2B5EF4-FFF2-40B4-BE49-F238E27FC236}">
                <a16:creationId xmlns:a16="http://schemas.microsoft.com/office/drawing/2014/main" id="{67A0C9FC-13CD-4C6F-BF9D-56C61E6EC9E3}"/>
              </a:ext>
            </a:extLst>
          </p:cNvPr>
          <p:cNvSpPr/>
          <p:nvPr/>
        </p:nvSpPr>
        <p:spPr>
          <a:xfrm>
            <a:off x="9070258" y="4844617"/>
            <a:ext cx="308586" cy="375462"/>
          </a:xfrm>
          <a:prstGeom prst="star4">
            <a:avLst/>
          </a:prstGeom>
          <a:solidFill>
            <a:srgbClr val="54823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AB89E90-40C7-47AC-A3D6-0B2EEDE85F29}"/>
              </a:ext>
            </a:extLst>
          </p:cNvPr>
          <p:cNvCxnSpPr/>
          <p:nvPr/>
        </p:nvCxnSpPr>
        <p:spPr>
          <a:xfrm>
            <a:off x="594360" y="314959"/>
            <a:ext cx="0" cy="209296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390D530-CB1A-4CB5-8D84-EFB407D65B45}"/>
              </a:ext>
            </a:extLst>
          </p:cNvPr>
          <p:cNvCxnSpPr>
            <a:cxnSpLocks/>
          </p:cNvCxnSpPr>
          <p:nvPr/>
        </p:nvCxnSpPr>
        <p:spPr>
          <a:xfrm>
            <a:off x="929640" y="339238"/>
            <a:ext cx="0" cy="2672082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BC6852B-5B90-431B-AB69-839BBBE17B9E}"/>
              </a:ext>
            </a:extLst>
          </p:cNvPr>
          <p:cNvCxnSpPr>
            <a:cxnSpLocks/>
          </p:cNvCxnSpPr>
          <p:nvPr/>
        </p:nvCxnSpPr>
        <p:spPr>
          <a:xfrm>
            <a:off x="746760" y="314959"/>
            <a:ext cx="0" cy="224536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87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3A02F4B-3C37-4A11-A8DD-F59F804CDE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E40B04-EC78-4029-8302-5AD099246897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24DE816-067F-4DE9-BB89-2E76F55DFE4B}"/>
              </a:ext>
            </a:extLst>
          </p:cNvPr>
          <p:cNvSpPr/>
          <p:nvPr/>
        </p:nvSpPr>
        <p:spPr>
          <a:xfrm>
            <a:off x="8588692" y="2824702"/>
            <a:ext cx="2987040" cy="291084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CE25D-AEE9-4A46-9F21-0F7AE35DA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48" y="1143461"/>
            <a:ext cx="7867332" cy="614522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ЗИГМУНД</a:t>
            </a:r>
            <a:r>
              <a:rPr lang="ru-RU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ФРЕЙД</a:t>
            </a:r>
            <a:r>
              <a:rPr lang="ru-RU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(1856–1939) –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ПСИХОАНАЛИТИЧЕСКИЙ</a:t>
            </a:r>
            <a:r>
              <a:rPr lang="ru-RU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ПОДХОД</a:t>
            </a:r>
            <a:endParaRPr lang="ru-RU" sz="4400" b="1" dirty="0">
              <a:solidFill>
                <a:schemeClr val="accent6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F4AF27-C994-437C-860C-D76158BEF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0603" y="2487718"/>
            <a:ext cx="3932237" cy="2945795"/>
          </a:xfrm>
        </p:spPr>
        <p:txBody>
          <a:bodyPr>
            <a:normAutofit/>
          </a:bodyPr>
          <a:lstStyle/>
          <a:p>
            <a:pPr algn="just"/>
            <a:r>
              <a:rPr lang="ru-RU" sz="2400" b="0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ФРЕЙД</a:t>
            </a:r>
            <a:r>
              <a:rPr lang="ru-RU" sz="2400" b="0" dirty="0">
                <a:solidFill>
                  <a:srgbClr val="0F1115"/>
                </a:solidFill>
                <a:effectLst/>
                <a:latin typeface="Bahnschrift Condensed" panose="020B0502040204020203" pitchFamily="34" charset="0"/>
              </a:rPr>
              <a:t> — это фундамент. </a:t>
            </a:r>
          </a:p>
          <a:p>
            <a:pPr algn="just"/>
            <a:r>
              <a:rPr lang="ru-RU" sz="2400" b="0" dirty="0">
                <a:solidFill>
                  <a:srgbClr val="0F1115"/>
                </a:solidFill>
                <a:effectLst/>
                <a:latin typeface="Bahnschrift Condensed" panose="020B0502040204020203" pitchFamily="34" charset="0"/>
              </a:rPr>
              <a:t>Он первым разбил </a:t>
            </a:r>
            <a:r>
              <a:rPr lang="ru-RU" sz="2400" b="0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личность на структуры</a:t>
            </a:r>
            <a:r>
              <a:rPr lang="ru-RU" sz="2400" b="0" dirty="0">
                <a:solidFill>
                  <a:srgbClr val="0F1115"/>
                </a:solidFill>
                <a:effectLst/>
                <a:latin typeface="Bahnschrift Condensed" panose="020B0502040204020203" pitchFamily="34" charset="0"/>
              </a:rPr>
              <a:t>, впустил </a:t>
            </a:r>
            <a:r>
              <a:rPr lang="ru-RU" sz="2400" b="0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бессознательное</a:t>
            </a:r>
            <a:r>
              <a:rPr lang="ru-RU" sz="2400" b="0" dirty="0">
                <a:solidFill>
                  <a:srgbClr val="0F1115"/>
                </a:solidFill>
                <a:effectLst/>
                <a:latin typeface="Bahnschrift Condensed" panose="020B0502040204020203" pitchFamily="34" charset="0"/>
              </a:rPr>
              <a:t> в психологию </a:t>
            </a:r>
          </a:p>
          <a:p>
            <a:pPr algn="just"/>
            <a:r>
              <a:rPr lang="ru-RU" sz="2400" b="0" dirty="0">
                <a:solidFill>
                  <a:srgbClr val="0F1115"/>
                </a:solidFill>
                <a:effectLst/>
                <a:latin typeface="Bahnschrift Condensed" panose="020B0502040204020203" pitchFamily="34" charset="0"/>
              </a:rPr>
              <a:t>и создал язык, на котором потом говорили все — даже те, кто с ним спорил.</a:t>
            </a:r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1A9F11-AF4E-4F73-BC8F-8D0FEB4D13B6}"/>
              </a:ext>
            </a:extLst>
          </p:cNvPr>
          <p:cNvSpPr/>
          <p:nvPr/>
        </p:nvSpPr>
        <p:spPr>
          <a:xfrm>
            <a:off x="5872480" y="1661161"/>
            <a:ext cx="5140960" cy="358603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Фрейд: всепоглощающая страсть — Новости — Магистерская программа  «Психоанализ и психоаналитическая психотерапия» — Национальный  исследовательский университет «Высшая школа экономики»">
            <a:extLst>
              <a:ext uri="{FF2B5EF4-FFF2-40B4-BE49-F238E27FC236}">
                <a16:creationId xmlns:a16="http://schemas.microsoft.com/office/drawing/2014/main" id="{2BAF8C1D-2178-4184-8F5F-DA74CCE51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54804"/>
            <a:ext cx="4722586" cy="314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19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2B3790E-B7A1-4D34-BC50-C28928E9D9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EDD2997-5647-4163-875E-BFE5A7A88D29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028395-6F4D-430F-8335-20B214E6C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276" y="1195787"/>
            <a:ext cx="1344624" cy="132080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8AEC772-155A-44D7-AB02-271FD5FAAFFC}"/>
              </a:ext>
            </a:extLst>
          </p:cNvPr>
          <p:cNvSpPr/>
          <p:nvPr/>
        </p:nvSpPr>
        <p:spPr>
          <a:xfrm>
            <a:off x="694372" y="1660090"/>
            <a:ext cx="1948362" cy="8029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СОЗНАНИЕ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1E412DD-7AB4-4740-9E8B-2496332400B6}"/>
              </a:ext>
            </a:extLst>
          </p:cNvPr>
          <p:cNvSpPr/>
          <p:nvPr/>
        </p:nvSpPr>
        <p:spPr>
          <a:xfrm>
            <a:off x="3363730" y="1660090"/>
            <a:ext cx="1948362" cy="8029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ПРЕДСОЗНАНИЕ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524F3E4-7A77-46DC-9022-1B95E789FE3D}"/>
              </a:ext>
            </a:extLst>
          </p:cNvPr>
          <p:cNvSpPr/>
          <p:nvPr/>
        </p:nvSpPr>
        <p:spPr>
          <a:xfrm>
            <a:off x="6033088" y="1660090"/>
            <a:ext cx="2319429" cy="76992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БЕССОЗНАТЕЛЬНОЕ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7FF1E-A383-4713-AB79-275D9E7B3778}"/>
              </a:ext>
            </a:extLst>
          </p:cNvPr>
          <p:cNvSpPr txBox="1"/>
          <p:nvPr/>
        </p:nvSpPr>
        <p:spPr>
          <a:xfrm>
            <a:off x="8858034" y="2707028"/>
            <a:ext cx="2493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БЕССОЗНАТЕЛЬНОЕ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это настоящий двигатель поведения. </a:t>
            </a:r>
          </a:p>
          <a:p>
            <a:pPr algn="just"/>
            <a:r>
              <a:rPr lang="ru-RU" sz="1800" dirty="0">
                <a:solidFill>
                  <a:schemeClr val="accent6">
                    <a:lumMod val="75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СОЗНАНИЕ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лишь «верхушка айсберга</a:t>
            </a:r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08CE0C-EF26-4E4C-AA6F-00B8B6ED9373}"/>
              </a:ext>
            </a:extLst>
          </p:cNvPr>
          <p:cNvSpPr txBox="1"/>
          <p:nvPr/>
        </p:nvSpPr>
        <p:spPr>
          <a:xfrm>
            <a:off x="615852" y="567068"/>
            <a:ext cx="7843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ТОПОГРАФИЧЕСКАЯ</a:t>
            </a:r>
            <a:r>
              <a:rPr lang="ru-RU" sz="3600" b="1" dirty="0">
                <a:latin typeface="Bahnschrift Condensed" panose="020B0502040204020203" pitchFamily="34" charset="0"/>
              </a:rPr>
              <a:t> </a:t>
            </a:r>
            <a:r>
              <a:rPr lang="ru-RU" sz="3600" b="1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МОДЕЛЬ</a:t>
            </a:r>
            <a:r>
              <a:rPr lang="ru-RU" sz="3600" b="1" dirty="0">
                <a:latin typeface="Bahnschrift Condensed" panose="020B0502040204020203" pitchFamily="34" charset="0"/>
              </a:rPr>
              <a:t> (УРОВНИ ПСИХИКИ)</a:t>
            </a:r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0ECCC39A-D1D8-4AB1-B502-B86751E47954}"/>
              </a:ext>
            </a:extLst>
          </p:cNvPr>
          <p:cNvSpPr/>
          <p:nvPr/>
        </p:nvSpPr>
        <p:spPr>
          <a:xfrm>
            <a:off x="1380961" y="2463029"/>
            <a:ext cx="575183" cy="402946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 Condensed" panose="020B0502040204020203" pitchFamily="34" charset="0"/>
            </a:endParaRPr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53A3E481-422E-4A49-9816-FA102972AD87}"/>
              </a:ext>
            </a:extLst>
          </p:cNvPr>
          <p:cNvSpPr/>
          <p:nvPr/>
        </p:nvSpPr>
        <p:spPr>
          <a:xfrm>
            <a:off x="6922280" y="2430015"/>
            <a:ext cx="575183" cy="402946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 Condensed" panose="020B0502040204020203" pitchFamily="34" charset="0"/>
            </a:endParaRPr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03589130-ED5C-462A-87AF-6D59B0378922}"/>
              </a:ext>
            </a:extLst>
          </p:cNvPr>
          <p:cNvSpPr/>
          <p:nvPr/>
        </p:nvSpPr>
        <p:spPr>
          <a:xfrm>
            <a:off x="4050319" y="2459832"/>
            <a:ext cx="575183" cy="402946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 Condensed" panose="020B0502040204020203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8A614DA-0480-42F3-8BBA-FB5DD26A0718}"/>
              </a:ext>
            </a:extLst>
          </p:cNvPr>
          <p:cNvSpPr/>
          <p:nvPr/>
        </p:nvSpPr>
        <p:spPr>
          <a:xfrm>
            <a:off x="862636" y="2953582"/>
            <a:ext cx="1666555" cy="162143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>
                <a:solidFill>
                  <a:sysClr val="windowText" lastClr="00000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Мысли, ощущения, восприятия «здесь и сейчас»</a:t>
            </a:r>
            <a:endParaRPr lang="ru-RU">
              <a:solidFill>
                <a:sysClr val="windowText" lastClr="00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7B7EDFF-28E8-4B4B-A677-87ED85A5B0DC}"/>
              </a:ext>
            </a:extLst>
          </p:cNvPr>
          <p:cNvSpPr/>
          <p:nvPr/>
        </p:nvSpPr>
        <p:spPr>
          <a:xfrm>
            <a:off x="6366570" y="2953581"/>
            <a:ext cx="1666555" cy="162143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err="1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Вытеснённые</a:t>
            </a:r>
            <a:r>
              <a:rPr lang="ru-RU" sz="1800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желания, травмы, инстинкты</a:t>
            </a:r>
            <a:endParaRPr lang="ru-RU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52D9B5A3-31C1-4542-9410-01407F92FE52}"/>
              </a:ext>
            </a:extLst>
          </p:cNvPr>
          <p:cNvSpPr/>
          <p:nvPr/>
        </p:nvSpPr>
        <p:spPr>
          <a:xfrm>
            <a:off x="3438844" y="2953582"/>
            <a:ext cx="1863225" cy="162143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Воспоминания, знания, которые легко извлечь</a:t>
            </a:r>
            <a:endParaRPr lang="ru-RU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7846076-40C1-47BF-BCF9-764694ED58AE}"/>
              </a:ext>
            </a:extLst>
          </p:cNvPr>
          <p:cNvSpPr/>
          <p:nvPr/>
        </p:nvSpPr>
        <p:spPr>
          <a:xfrm>
            <a:off x="862636" y="4804719"/>
            <a:ext cx="1666555" cy="5454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ysClr val="windowText" lastClr="00000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Лёгкий доступ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5B7152-4778-454C-8A1B-E89EEBCFBBD3}"/>
              </a:ext>
            </a:extLst>
          </p:cNvPr>
          <p:cNvSpPr txBox="1"/>
          <p:nvPr/>
        </p:nvSpPr>
        <p:spPr>
          <a:xfrm>
            <a:off x="828567" y="5577253"/>
            <a:ext cx="225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«Я читаю этот текст»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03B524C-A87D-4F31-9121-D37577753232}"/>
              </a:ext>
            </a:extLst>
          </p:cNvPr>
          <p:cNvSpPr/>
          <p:nvPr/>
        </p:nvSpPr>
        <p:spPr>
          <a:xfrm>
            <a:off x="5962560" y="4822294"/>
            <a:ext cx="2565309" cy="5454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ysClr val="windowText" lastClr="00000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Очень сложный доступ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2254A27-7C7B-4259-9827-74EA86690EC0}"/>
              </a:ext>
            </a:extLst>
          </p:cNvPr>
          <p:cNvSpPr/>
          <p:nvPr/>
        </p:nvSpPr>
        <p:spPr>
          <a:xfrm>
            <a:off x="3438844" y="4822294"/>
            <a:ext cx="1863225" cy="51530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ysClr val="windowText" lastClr="00000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Средний доступ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8B0D03-4E51-4787-82B3-0FCB7DD9B022}"/>
              </a:ext>
            </a:extLst>
          </p:cNvPr>
          <p:cNvSpPr txBox="1"/>
          <p:nvPr/>
        </p:nvSpPr>
        <p:spPr>
          <a:xfrm>
            <a:off x="3018113" y="5473623"/>
            <a:ext cx="2704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Bahnschrift Condensed" panose="020B0502040204020203" pitchFamily="34" charset="0"/>
              </a:rPr>
              <a:t>«Как звали моего школьного психолога?»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6BF99A-11AD-4307-9E22-8340C02351DC}"/>
              </a:ext>
            </a:extLst>
          </p:cNvPr>
          <p:cNvSpPr txBox="1"/>
          <p:nvPr/>
        </p:nvSpPr>
        <p:spPr>
          <a:xfrm>
            <a:off x="7019360" y="5478142"/>
            <a:ext cx="4004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Детские сексуальные переживания, агрессия к родителю</a:t>
            </a:r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2CC51F5-04B1-4105-A644-C3203A8E7D9C}"/>
              </a:ext>
            </a:extLst>
          </p:cNvPr>
          <p:cNvSpPr/>
          <p:nvPr/>
        </p:nvSpPr>
        <p:spPr>
          <a:xfrm>
            <a:off x="9188360" y="4824553"/>
            <a:ext cx="2141004" cy="5454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ysClr val="windowText" lastClr="000000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сны, оговорки, гипноз</a:t>
            </a:r>
            <a:endParaRPr lang="ru-RU" dirty="0">
              <a:solidFill>
                <a:sysClr val="windowText" lastClr="000000"/>
              </a:solidFill>
              <a:latin typeface="Bahnschrift Condensed" panose="020B0502040204020203" pitchFamily="34" charset="0"/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FAC8683A-DEE3-47C7-A610-DC1ACAD66C35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8527869" y="5095000"/>
            <a:ext cx="660491" cy="225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8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D3DB03B-1F0B-4218-A0B6-6F7D087CBB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AFE3A43-46A6-4FD5-B7A9-EA85A8FC344D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691FCB-A25E-4A58-B9C8-E65543CD55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07"/>
          <a:stretch/>
        </p:blipFill>
        <p:spPr>
          <a:xfrm>
            <a:off x="7345986" y="1218575"/>
            <a:ext cx="4206240" cy="4592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9414F6-8137-4C7F-BA07-21790C0CEADD}"/>
              </a:ext>
            </a:extLst>
          </p:cNvPr>
          <p:cNvSpPr txBox="1"/>
          <p:nvPr/>
        </p:nvSpPr>
        <p:spPr>
          <a:xfrm>
            <a:off x="1155698" y="1766097"/>
            <a:ext cx="719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ОТКУДА</a:t>
            </a:r>
            <a:r>
              <a:rPr lang="ru-RU" sz="2000" dirty="0">
                <a:latin typeface="Bahnschrift Condensed" panose="020B0502040204020203" pitchFamily="34" charset="0"/>
              </a:rPr>
              <a:t>? – врождённое, есть с рождения.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2B002-C4C5-4B23-BC77-8244988AD295}"/>
              </a:ext>
            </a:extLst>
          </p:cNvPr>
          <p:cNvSpPr txBox="1"/>
          <p:nvPr/>
        </p:nvSpPr>
        <p:spPr>
          <a:xfrm>
            <a:off x="1160780" y="2422522"/>
            <a:ext cx="863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ЧЕМ </a:t>
            </a:r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УПРАВЛЯЕТ</a:t>
            </a:r>
            <a:r>
              <a:rPr lang="ru-RU" sz="2000" dirty="0">
                <a:latin typeface="Bahnschrift Condensed" panose="020B0502040204020203" pitchFamily="34" charset="0"/>
              </a:rPr>
              <a:t>? – инстинкты – </a:t>
            </a:r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ЭРОС</a:t>
            </a:r>
            <a:r>
              <a:rPr lang="ru-RU" sz="2000" dirty="0">
                <a:latin typeface="Bahnschrift Condensed" panose="020B0502040204020203" pitchFamily="34" charset="0"/>
              </a:rPr>
              <a:t> (либидо, жизнь, секс, удовольствие) </a:t>
            </a:r>
          </a:p>
          <a:p>
            <a:r>
              <a:rPr lang="ru-RU" sz="2000" dirty="0">
                <a:latin typeface="Bahnschrift Condensed" panose="020B0502040204020203" pitchFamily="34" charset="0"/>
              </a:rPr>
              <a:t>и </a:t>
            </a:r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ТАНАТОС</a:t>
            </a:r>
            <a:r>
              <a:rPr lang="ru-RU" sz="2000" dirty="0">
                <a:latin typeface="Bahnschrift Condensed" panose="020B0502040204020203" pitchFamily="34" charset="0"/>
              </a:rPr>
              <a:t> (агрессия, разрушение, смерть).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52DD5-8BC6-4284-8BB1-831A6B2696A2}"/>
              </a:ext>
            </a:extLst>
          </p:cNvPr>
          <p:cNvSpPr txBox="1"/>
          <p:nvPr/>
        </p:nvSpPr>
        <p:spPr>
          <a:xfrm>
            <a:off x="1155700" y="3473149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ПРИНЦИП</a:t>
            </a:r>
            <a:r>
              <a:rPr lang="ru-RU" sz="2000" dirty="0">
                <a:latin typeface="Bahnschrift Condensed" panose="020B0502040204020203" pitchFamily="34" charset="0"/>
              </a:rPr>
              <a:t> РАБОТЫ: удовольствие любой ценой и немедленно.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032DF-21B1-447D-BE77-BAFEB877BD5E}"/>
              </a:ext>
            </a:extLst>
          </p:cNvPr>
          <p:cNvSpPr txBox="1"/>
          <p:nvPr/>
        </p:nvSpPr>
        <p:spPr>
          <a:xfrm>
            <a:off x="1127760" y="4135698"/>
            <a:ext cx="7031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ЛОГИКА</a:t>
            </a:r>
            <a:r>
              <a:rPr lang="ru-RU" sz="2000" dirty="0">
                <a:latin typeface="Bahnschrift Condensed" panose="020B0502040204020203" pitchFamily="34" charset="0"/>
              </a:rPr>
              <a:t>: отсутствует. «хочу – беру». </a:t>
            </a:r>
            <a:endParaRPr lang="ru-RU" sz="2000" dirty="0">
              <a:solidFill>
                <a:schemeClr val="accent6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ABCAB-4CEA-4A1F-92D1-E9F59D30B87A}"/>
              </a:ext>
            </a:extLst>
          </p:cNvPr>
          <p:cNvSpPr txBox="1"/>
          <p:nvPr/>
        </p:nvSpPr>
        <p:spPr>
          <a:xfrm>
            <a:off x="1155699" y="4793167"/>
            <a:ext cx="7362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ОБРАЗ</a:t>
            </a:r>
            <a:r>
              <a:rPr lang="ru-RU" sz="2000" dirty="0">
                <a:latin typeface="Bahnschrift Condensed" panose="020B0502040204020203" pitchFamily="34" charset="0"/>
              </a:rPr>
              <a:t>: младенец, который кричит, когда голоден.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4844D-F580-4D7C-A0C0-AB75657F2342}"/>
              </a:ext>
            </a:extLst>
          </p:cNvPr>
          <p:cNvSpPr txBox="1"/>
          <p:nvPr/>
        </p:nvSpPr>
        <p:spPr>
          <a:xfrm>
            <a:off x="1155698" y="5410785"/>
            <a:ext cx="7362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ПРИМЕР</a:t>
            </a:r>
            <a:r>
              <a:rPr lang="ru-RU" sz="2000" dirty="0">
                <a:latin typeface="Bahnschrift Condensed" panose="020B0502040204020203" pitchFamily="34" charset="0"/>
              </a:rPr>
              <a:t>: Вам понравилась вещь друга -</a:t>
            </a:r>
            <a:r>
              <a:rPr lang="en-US" sz="2000" dirty="0">
                <a:latin typeface="Bahnschrift Condensed" panose="020B0502040204020203" pitchFamily="34" charset="0"/>
              </a:rPr>
              <a:t>&gt; </a:t>
            </a:r>
            <a:r>
              <a:rPr lang="ru-RU" sz="2000" dirty="0">
                <a:latin typeface="Bahnschrift Condensed" panose="020B0502040204020203" pitchFamily="34" charset="0"/>
              </a:rPr>
              <a:t>мысль: «Возьми, она твоя! Сейчас!»</a:t>
            </a:r>
          </a:p>
        </p:txBody>
      </p:sp>
      <p:sp>
        <p:nvSpPr>
          <p:cNvPr id="12" name="Звезда: 4 точки 11">
            <a:extLst>
              <a:ext uri="{FF2B5EF4-FFF2-40B4-BE49-F238E27FC236}">
                <a16:creationId xmlns:a16="http://schemas.microsoft.com/office/drawing/2014/main" id="{8FC9AC95-64E4-4712-8AA7-E86D7B36EDBD}"/>
              </a:ext>
            </a:extLst>
          </p:cNvPr>
          <p:cNvSpPr/>
          <p:nvPr/>
        </p:nvSpPr>
        <p:spPr>
          <a:xfrm>
            <a:off x="655255" y="605291"/>
            <a:ext cx="691010" cy="870474"/>
          </a:xfrm>
          <a:prstGeom prst="star4">
            <a:avLst>
              <a:gd name="adj" fmla="val 11333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BB06E-B295-4A8E-A56E-9608381CCF11}"/>
              </a:ext>
            </a:extLst>
          </p:cNvPr>
          <p:cNvSpPr txBox="1"/>
          <p:nvPr/>
        </p:nvSpPr>
        <p:spPr>
          <a:xfrm>
            <a:off x="1496060" y="708319"/>
            <a:ext cx="2428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ИД</a:t>
            </a:r>
            <a:r>
              <a:rPr lang="ru-RU" sz="4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 (</a:t>
            </a:r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ОНО</a:t>
            </a:r>
            <a:r>
              <a:rPr lang="ru-RU" sz="4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59BDD8-2167-4FEA-A8BD-BB0F1F810A78}"/>
              </a:ext>
            </a:extLst>
          </p:cNvPr>
          <p:cNvSpPr txBox="1"/>
          <p:nvPr/>
        </p:nvSpPr>
        <p:spPr>
          <a:xfrm>
            <a:off x="9901226" y="4845077"/>
            <a:ext cx="1539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ТЁМНАЯ ЛОШАДКА</a:t>
            </a:r>
          </a:p>
        </p:txBody>
      </p:sp>
    </p:spTree>
    <p:extLst>
      <p:ext uri="{BB962C8B-B14F-4D97-AF65-F5344CB8AC3E}">
        <p14:creationId xmlns:p14="http://schemas.microsoft.com/office/powerpoint/2010/main" val="3301112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D3DB03B-1F0B-4218-A0B6-6F7D087CBB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AFE3A43-46A6-4FD5-B7A9-EA85A8FC344D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C59FEC-5D4F-4902-8F0B-580CF5CDE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657" y="1106553"/>
            <a:ext cx="3541265" cy="38732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9414F6-8137-4C7F-BA07-21790C0CEADD}"/>
              </a:ext>
            </a:extLst>
          </p:cNvPr>
          <p:cNvSpPr txBox="1"/>
          <p:nvPr/>
        </p:nvSpPr>
        <p:spPr>
          <a:xfrm>
            <a:off x="1138879" y="2062815"/>
            <a:ext cx="719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ОТКУДА</a:t>
            </a:r>
            <a:r>
              <a:rPr lang="ru-RU" sz="2000" dirty="0">
                <a:latin typeface="Bahnschrift Condensed" panose="020B0502040204020203" pitchFamily="34" charset="0"/>
              </a:rPr>
              <a:t>? – формируется из ИД  в первые годы жизни.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2B002-C4C5-4B23-BC77-8244988AD295}"/>
              </a:ext>
            </a:extLst>
          </p:cNvPr>
          <p:cNvSpPr txBox="1"/>
          <p:nvPr/>
        </p:nvSpPr>
        <p:spPr>
          <a:xfrm>
            <a:off x="1138879" y="2559813"/>
            <a:ext cx="6696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ЧЕМ </a:t>
            </a:r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УПРАВЛЯЕТ</a:t>
            </a:r>
            <a:r>
              <a:rPr lang="ru-RU" sz="2000" dirty="0">
                <a:latin typeface="Bahnschrift Condensed" panose="020B0502040204020203" pitchFamily="34" charset="0"/>
              </a:rPr>
              <a:t>? – реальность, рассудок, планирование.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52DD5-8BC6-4284-8BB1-831A6B2696A2}"/>
              </a:ext>
            </a:extLst>
          </p:cNvPr>
          <p:cNvSpPr txBox="1"/>
          <p:nvPr/>
        </p:nvSpPr>
        <p:spPr>
          <a:xfrm>
            <a:off x="1138879" y="3075057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ПРИНЦИП</a:t>
            </a:r>
            <a:r>
              <a:rPr lang="ru-RU" sz="2000" dirty="0">
                <a:latin typeface="Bahnschrift Condensed" panose="020B0502040204020203" pitchFamily="34" charset="0"/>
              </a:rPr>
              <a:t> РАБОТЫ: РЕАЛЬНОСТЬ – поиск получения желаемого, </a:t>
            </a:r>
          </a:p>
          <a:p>
            <a:r>
              <a:rPr lang="ru-RU" sz="2000" dirty="0">
                <a:latin typeface="Bahnschrift Condensed" panose="020B0502040204020203" pitchFamily="34" charset="0"/>
              </a:rPr>
              <a:t>не нарушая правил.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032DF-21B1-447D-BE77-BAFEB877BD5E}"/>
              </a:ext>
            </a:extLst>
          </p:cNvPr>
          <p:cNvSpPr txBox="1"/>
          <p:nvPr/>
        </p:nvSpPr>
        <p:spPr>
          <a:xfrm>
            <a:off x="1138879" y="3897847"/>
            <a:ext cx="7031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ЛОГИКА</a:t>
            </a:r>
            <a:r>
              <a:rPr lang="ru-RU" sz="2000" dirty="0">
                <a:latin typeface="Bahnschrift Condensed" panose="020B0502040204020203" pitchFamily="34" charset="0"/>
              </a:rPr>
              <a:t>: есть. «хочу – заработаю/ попрошу, получу». </a:t>
            </a:r>
            <a:endParaRPr lang="ru-RU" sz="2000" dirty="0">
              <a:solidFill>
                <a:schemeClr val="accent6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ABCAB-4CEA-4A1F-92D1-E9F59D30B87A}"/>
              </a:ext>
            </a:extLst>
          </p:cNvPr>
          <p:cNvSpPr txBox="1"/>
          <p:nvPr/>
        </p:nvSpPr>
        <p:spPr>
          <a:xfrm>
            <a:off x="1138879" y="4395075"/>
            <a:ext cx="7362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ОБРАЗ</a:t>
            </a:r>
            <a:r>
              <a:rPr lang="ru-RU" sz="2000" dirty="0">
                <a:latin typeface="Bahnschrift Condensed" panose="020B0502040204020203" pitchFamily="34" charset="0"/>
              </a:rPr>
              <a:t>: взрослый, который ищет компромисс.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4844D-F580-4D7C-A0C0-AB75657F2342}"/>
              </a:ext>
            </a:extLst>
          </p:cNvPr>
          <p:cNvSpPr txBox="1"/>
          <p:nvPr/>
        </p:nvSpPr>
        <p:spPr>
          <a:xfrm>
            <a:off x="1138879" y="4891791"/>
            <a:ext cx="73628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ПРИМЕР</a:t>
            </a:r>
            <a:r>
              <a:rPr lang="ru-RU" sz="2000" dirty="0">
                <a:latin typeface="Bahnschrift Condensed" panose="020B0502040204020203" pitchFamily="34" charset="0"/>
              </a:rPr>
              <a:t>: ИД хочет вещь друга -</a:t>
            </a:r>
            <a:r>
              <a:rPr lang="en-US" sz="2000" dirty="0">
                <a:latin typeface="Bahnschrift Condensed" panose="020B0502040204020203" pitchFamily="34" charset="0"/>
              </a:rPr>
              <a:t>&gt; </a:t>
            </a:r>
            <a:endParaRPr lang="ru-RU" sz="2000" dirty="0">
              <a:latin typeface="Bahnschrift Condensed" panose="020B0502040204020203" pitchFamily="34" charset="0"/>
            </a:endParaRPr>
          </a:p>
          <a:p>
            <a:r>
              <a:rPr lang="ru-RU" sz="2000" dirty="0">
                <a:latin typeface="Bahnschrift Condensed" panose="020B0502040204020203" pitchFamily="34" charset="0"/>
              </a:rPr>
              <a:t>ЭГО говорит: </a:t>
            </a:r>
            <a:r>
              <a:rPr lang="ru-RU" sz="2400" dirty="0">
                <a:latin typeface="Bahnschrift Condensed" panose="020B0502040204020203" pitchFamily="34" charset="0"/>
              </a:rPr>
              <a:t>«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Попрошу дать на время. Или куплю такую же, когда будут деньги</a:t>
            </a:r>
            <a:r>
              <a:rPr lang="ru-RU" sz="2400" dirty="0">
                <a:latin typeface="Bahnschrift Condensed" panose="020B0502040204020203" pitchFamily="34" charset="0"/>
              </a:rPr>
              <a:t>»</a:t>
            </a:r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12" name="Звезда: 4 точки 11">
            <a:extLst>
              <a:ext uri="{FF2B5EF4-FFF2-40B4-BE49-F238E27FC236}">
                <a16:creationId xmlns:a16="http://schemas.microsoft.com/office/drawing/2014/main" id="{8FC9AC95-64E4-4712-8AA7-E86D7B36EDBD}"/>
              </a:ext>
            </a:extLst>
          </p:cNvPr>
          <p:cNvSpPr/>
          <p:nvPr/>
        </p:nvSpPr>
        <p:spPr>
          <a:xfrm>
            <a:off x="655255" y="605291"/>
            <a:ext cx="691010" cy="870474"/>
          </a:xfrm>
          <a:prstGeom prst="star4">
            <a:avLst>
              <a:gd name="adj" fmla="val 11333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BB06E-B295-4A8E-A56E-9608381CCF11}"/>
              </a:ext>
            </a:extLst>
          </p:cNvPr>
          <p:cNvSpPr txBox="1"/>
          <p:nvPr/>
        </p:nvSpPr>
        <p:spPr>
          <a:xfrm>
            <a:off x="1496060" y="708319"/>
            <a:ext cx="2428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ЭГО</a:t>
            </a:r>
            <a:r>
              <a:rPr lang="ru-RU" sz="4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 (</a:t>
            </a:r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Я</a:t>
            </a:r>
            <a:r>
              <a:rPr lang="ru-RU" sz="4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59BDD8-2167-4FEA-A8BD-BB0F1F810A78}"/>
              </a:ext>
            </a:extLst>
          </p:cNvPr>
          <p:cNvSpPr txBox="1"/>
          <p:nvPr/>
        </p:nvSpPr>
        <p:spPr>
          <a:xfrm>
            <a:off x="9274276" y="5088265"/>
            <a:ext cx="1913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ПОСРЕДНИК И ДИПЛОМАТ</a:t>
            </a:r>
          </a:p>
        </p:txBody>
      </p:sp>
    </p:spTree>
    <p:extLst>
      <p:ext uri="{BB962C8B-B14F-4D97-AF65-F5344CB8AC3E}">
        <p14:creationId xmlns:p14="http://schemas.microsoft.com/office/powerpoint/2010/main" val="1870933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D3DB03B-1F0B-4218-A0B6-6F7D087CBB8E}"/>
              </a:ext>
            </a:extLst>
          </p:cNvPr>
          <p:cNvSpPr/>
          <p:nvPr/>
        </p:nvSpPr>
        <p:spPr>
          <a:xfrm>
            <a:off x="0" y="-9144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AFE3A43-46A6-4FD5-B7A9-EA85A8FC344D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5FB539-7740-4930-8450-CA27E0D41F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85"/>
          <a:stretch/>
        </p:blipFill>
        <p:spPr>
          <a:xfrm>
            <a:off x="8054797" y="386079"/>
            <a:ext cx="3858936" cy="6065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9414F6-8137-4C7F-BA07-21790C0CEADD}"/>
              </a:ext>
            </a:extLst>
          </p:cNvPr>
          <p:cNvSpPr txBox="1"/>
          <p:nvPr/>
        </p:nvSpPr>
        <p:spPr>
          <a:xfrm>
            <a:off x="932791" y="2009783"/>
            <a:ext cx="719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ОТКУДА</a:t>
            </a:r>
            <a:r>
              <a:rPr lang="ru-RU" sz="2000" dirty="0">
                <a:latin typeface="Bahnschrift Condensed" panose="020B0502040204020203" pitchFamily="34" charset="0"/>
              </a:rPr>
              <a:t>? – </a:t>
            </a:r>
            <a:r>
              <a:rPr lang="ru-RU" sz="20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ормируется в 3–5 лет через усвоение родительских и социальных запретов.</a:t>
            </a:r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52DD5-8BC6-4284-8BB1-831A6B2696A2}"/>
              </a:ext>
            </a:extLst>
          </p:cNvPr>
          <p:cNvSpPr txBox="1"/>
          <p:nvPr/>
        </p:nvSpPr>
        <p:spPr>
          <a:xfrm>
            <a:off x="932791" y="4937986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ПРИНЦИП</a:t>
            </a:r>
            <a:r>
              <a:rPr lang="ru-RU" sz="2000" dirty="0">
                <a:latin typeface="Bahnschrift Condensed" panose="020B0502040204020203" pitchFamily="34" charset="0"/>
              </a:rPr>
              <a:t> РАБОТЫ: ИДЕАЛ – должен/ не должен»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032DF-21B1-447D-BE77-BAFEB877BD5E}"/>
              </a:ext>
            </a:extLst>
          </p:cNvPr>
          <p:cNvSpPr txBox="1"/>
          <p:nvPr/>
        </p:nvSpPr>
        <p:spPr>
          <a:xfrm>
            <a:off x="932791" y="4441014"/>
            <a:ext cx="7031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ЛОГИКА</a:t>
            </a:r>
            <a:r>
              <a:rPr lang="ru-RU" sz="2000" dirty="0">
                <a:latin typeface="Bahnschrift Condensed" panose="020B0502040204020203" pitchFamily="34" charset="0"/>
              </a:rPr>
              <a:t>: строгая, часто негибкая. «Надо – значит надо».</a:t>
            </a:r>
            <a:endParaRPr lang="ru-RU" sz="2000" dirty="0">
              <a:solidFill>
                <a:schemeClr val="accent6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4844D-F580-4D7C-A0C0-AB75657F2342}"/>
              </a:ext>
            </a:extLst>
          </p:cNvPr>
          <p:cNvSpPr txBox="1"/>
          <p:nvPr/>
        </p:nvSpPr>
        <p:spPr>
          <a:xfrm>
            <a:off x="932791" y="5434958"/>
            <a:ext cx="7362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ПРИМЕР</a:t>
            </a:r>
            <a:r>
              <a:rPr lang="ru-RU" sz="2000" dirty="0">
                <a:latin typeface="Bahnschrift Condensed" panose="020B0502040204020203" pitchFamily="34" charset="0"/>
              </a:rPr>
              <a:t>: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СУПЕРЭГО кричит: «Как тебе не стыдно хотеть чужое?! Ты плохой человек!»</a:t>
            </a:r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12" name="Звезда: 4 точки 11">
            <a:extLst>
              <a:ext uri="{FF2B5EF4-FFF2-40B4-BE49-F238E27FC236}">
                <a16:creationId xmlns:a16="http://schemas.microsoft.com/office/drawing/2014/main" id="{8FC9AC95-64E4-4712-8AA7-E86D7B36EDBD}"/>
              </a:ext>
            </a:extLst>
          </p:cNvPr>
          <p:cNvSpPr/>
          <p:nvPr/>
        </p:nvSpPr>
        <p:spPr>
          <a:xfrm>
            <a:off x="655255" y="605291"/>
            <a:ext cx="691010" cy="870474"/>
          </a:xfrm>
          <a:prstGeom prst="star4">
            <a:avLst>
              <a:gd name="adj" fmla="val 11333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BB06E-B295-4A8E-A56E-9608381CCF11}"/>
              </a:ext>
            </a:extLst>
          </p:cNvPr>
          <p:cNvSpPr txBox="1"/>
          <p:nvPr/>
        </p:nvSpPr>
        <p:spPr>
          <a:xfrm>
            <a:off x="1496060" y="708319"/>
            <a:ext cx="3817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СУПЕРЭГО</a:t>
            </a:r>
            <a:r>
              <a:rPr lang="ru-RU" sz="4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 (</a:t>
            </a:r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СВЕРХ-Я</a:t>
            </a:r>
            <a:r>
              <a:rPr lang="ru-RU" sz="40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59BDD8-2167-4FEA-A8BD-BB0F1F810A78}"/>
              </a:ext>
            </a:extLst>
          </p:cNvPr>
          <p:cNvSpPr txBox="1"/>
          <p:nvPr/>
        </p:nvSpPr>
        <p:spPr>
          <a:xfrm>
            <a:off x="10872268" y="1724261"/>
            <a:ext cx="1041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Bahnschrift Condensed" panose="020B0502040204020203" pitchFamily="34" charset="0"/>
              </a:rPr>
              <a:t>ВНУТРЕННИЙ СУДЬЯ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A57AC-BEF5-40B7-9CE8-63B79CE1F629}"/>
              </a:ext>
            </a:extLst>
          </p:cNvPr>
          <p:cNvSpPr txBox="1"/>
          <p:nvPr/>
        </p:nvSpPr>
        <p:spPr>
          <a:xfrm>
            <a:off x="655255" y="2556289"/>
            <a:ext cx="174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2 ЧАСТИ: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0C5266-9857-483D-9DB6-3798589ED203}"/>
              </a:ext>
            </a:extLst>
          </p:cNvPr>
          <p:cNvSpPr txBox="1"/>
          <p:nvPr/>
        </p:nvSpPr>
        <p:spPr>
          <a:xfrm>
            <a:off x="1125220" y="3223621"/>
            <a:ext cx="7294880" cy="77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Bahnschrift Condensed" panose="020B0502040204020203" pitchFamily="34" charset="0"/>
              </a:rPr>
              <a:t>1. 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СОВЕСТЬ</a:t>
            </a:r>
            <a:r>
              <a:rPr lang="ru-RU" dirty="0">
                <a:latin typeface="Bahnschrift Condensed" panose="020B0502040204020203" pitchFamily="34" charset="0"/>
              </a:rPr>
              <a:t>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что нельзя, за что накажут (чувство вины, стыд).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sz="18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ЭГО-ИДЕАЛ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каким я должен быть (гордость за соответствие).</a:t>
            </a:r>
            <a:endParaRPr lang="ru-RU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66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742118-7C52-475A-BF63-4A3CA42EE704}"/>
              </a:ext>
            </a:extLst>
          </p:cNvPr>
          <p:cNvSpPr/>
          <p:nvPr/>
        </p:nvSpPr>
        <p:spPr>
          <a:xfrm>
            <a:off x="0" y="-9144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11DCA5-807D-4683-B4E5-9EA39C624EE8}"/>
              </a:ext>
            </a:extLst>
          </p:cNvPr>
          <p:cNvSpPr/>
          <p:nvPr/>
        </p:nvSpPr>
        <p:spPr>
          <a:xfrm>
            <a:off x="248920" y="22351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4AD15-042F-465C-8936-14CD0D132A15}"/>
              </a:ext>
            </a:extLst>
          </p:cNvPr>
          <p:cNvSpPr txBox="1"/>
          <p:nvPr/>
        </p:nvSpPr>
        <p:spPr>
          <a:xfrm>
            <a:off x="477520" y="629920"/>
            <a:ext cx="215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atin typeface="Bahnschrift Condensed" panose="020B0502040204020203" pitchFamily="34" charset="0"/>
              </a:rPr>
              <a:t>КОНФЛИКТ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DD6F6-17FC-478E-8BEF-55F006012C9D}"/>
              </a:ext>
            </a:extLst>
          </p:cNvPr>
          <p:cNvSpPr txBox="1"/>
          <p:nvPr/>
        </p:nvSpPr>
        <p:spPr>
          <a:xfrm>
            <a:off x="2367280" y="629920"/>
            <a:ext cx="79654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🔁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ИД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хочет →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СУПЕРЭГО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запрещает →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ЭГО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ищет компромисс. </a:t>
            </a:r>
            <a:b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Если не справляется →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ТРЕВОГА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ru-RU" sz="2400" u="sng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ЗАЩИТНЫЕ</a:t>
            </a:r>
            <a:r>
              <a:rPr lang="ru-RU" sz="2400" u="sng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u="sng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МЕХАНИЗМЫ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A2C69A1-A73B-4C09-AA03-11EBBBBEB303}"/>
              </a:ext>
            </a:extLst>
          </p:cNvPr>
          <p:cNvSpPr/>
          <p:nvPr/>
        </p:nvSpPr>
        <p:spPr>
          <a:xfrm>
            <a:off x="6289040" y="1971040"/>
            <a:ext cx="4907280" cy="2810491"/>
          </a:xfrm>
          <a:prstGeom prst="roundRect">
            <a:avLst>
              <a:gd name="adj" fmla="val 8398"/>
            </a:avLst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E0E29-F196-4C73-8005-D856457BF7FA}"/>
              </a:ext>
            </a:extLst>
          </p:cNvPr>
          <p:cNvSpPr txBox="1"/>
          <p:nvPr/>
        </p:nvSpPr>
        <p:spPr>
          <a:xfrm>
            <a:off x="6431280" y="2109018"/>
            <a:ext cx="4693920" cy="2888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ВЫТЕСНЕНИЕ – забывание неприятного.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ПРОЕКЦИЯ – приписывание своих чувств другому.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РАЦИОНАЛИЗАЦИЯ – поиск «хороших» оправданий.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СУБЛИМАЦИЯ – переключение энергии в творчество/работу.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РЕГРЕССИЯ – возвращение к детскому поведению</a:t>
            </a:r>
            <a:endParaRPr lang="ru-RU" sz="2000" dirty="0"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Bahnschrift Condensed" panose="020B0502040204020203" pitchFamily="34" charset="0"/>
            </a:endParaRPr>
          </a:p>
        </p:txBody>
      </p: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BAF67D03-B34A-43C4-A7F3-823B13E5DEA9}"/>
              </a:ext>
            </a:extLst>
          </p:cNvPr>
          <p:cNvCxnSpPr>
            <a:cxnSpLocks/>
            <a:endCxn id="8" idx="3"/>
          </p:cNvCxnSpPr>
          <p:nvPr/>
        </p:nvCxnSpPr>
        <p:spPr>
          <a:xfrm rot="16200000" flipH="1">
            <a:off x="9426897" y="1606863"/>
            <a:ext cx="1943726" cy="1595120"/>
          </a:xfrm>
          <a:prstGeom prst="bentConnector4">
            <a:avLst>
              <a:gd name="adj1" fmla="val 13852"/>
              <a:gd name="adj2" fmla="val 114331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DD87CE-D007-489B-A68A-0A52CE7BCDC1}"/>
              </a:ext>
            </a:extLst>
          </p:cNvPr>
          <p:cNvSpPr txBox="1"/>
          <p:nvPr/>
        </p:nvSpPr>
        <p:spPr>
          <a:xfrm>
            <a:off x="787624" y="1836332"/>
            <a:ext cx="515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ФРЕЙД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показал, что личность </a:t>
            </a:r>
          </a:p>
          <a:p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ДИНАМИЧНА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КОНФЛИКТНА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во многом 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БЕССОЗНАТЕЛЬНО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A22E8A-BF6E-42A8-9824-1BED64F45F7A}"/>
              </a:ext>
            </a:extLst>
          </p:cNvPr>
          <p:cNvSpPr txBox="1"/>
          <p:nvPr/>
        </p:nvSpPr>
        <p:spPr>
          <a:xfrm>
            <a:off x="477520" y="2721114"/>
            <a:ext cx="2420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atin typeface="Bahnschrift Condensed" panose="020B0502040204020203" pitchFamily="34" charset="0"/>
              </a:rPr>
              <a:t>БОРЬБА 🥊</a:t>
            </a:r>
            <a:r>
              <a:rPr lang="ru-RU" b="1" dirty="0">
                <a:latin typeface="Bahnschrift Condensed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0F2872-B20E-4491-844A-1784D1F5BD0F}"/>
              </a:ext>
            </a:extLst>
          </p:cNvPr>
          <p:cNvSpPr txBox="1"/>
          <p:nvPr/>
        </p:nvSpPr>
        <p:spPr>
          <a:xfrm>
            <a:off x="1915122" y="3467783"/>
            <a:ext cx="415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МЕЖДУ «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ХОЧУ</a:t>
            </a:r>
            <a:r>
              <a:rPr lang="ru-RU" sz="2400" dirty="0">
                <a:latin typeface="Bahnschrift Condensed" panose="020B0502040204020203" pitchFamily="34" charset="0"/>
              </a:rPr>
              <a:t>», «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НАДО</a:t>
            </a:r>
            <a:r>
              <a:rPr lang="ru-RU" sz="2400" dirty="0">
                <a:latin typeface="Bahnschrift Condensed" panose="020B0502040204020203" pitchFamily="34" charset="0"/>
              </a:rPr>
              <a:t>» И «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МОЖНО</a:t>
            </a:r>
            <a:r>
              <a:rPr lang="ru-RU" sz="2400" dirty="0">
                <a:latin typeface="Bahnschrift Condensed" panose="020B0502040204020203" pitchFamily="34" charset="0"/>
              </a:rPr>
              <a:t>»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855C35-2C25-4AF8-925C-5F2A8AFD6A79}"/>
              </a:ext>
            </a:extLst>
          </p:cNvPr>
          <p:cNvSpPr txBox="1"/>
          <p:nvPr/>
        </p:nvSpPr>
        <p:spPr>
          <a:xfrm>
            <a:off x="1630903" y="4867358"/>
            <a:ext cx="4719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ВЫТЕСНЕНИЕ</a:t>
            </a:r>
            <a:r>
              <a:rPr lang="ru-RU" dirty="0">
                <a:latin typeface="Bahnschrift Condensed" panose="020B0502040204020203" pitchFamily="34" charset="0"/>
              </a:rPr>
              <a:t>: </a:t>
            </a:r>
            <a:r>
              <a:rPr lang="ru-RU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 помню, как меня обидели в детстве </a:t>
            </a:r>
            <a:endParaRPr lang="ru-RU" dirty="0">
              <a:latin typeface="Bahnschrift Condensed" panose="020B0502040204020203" pitchFamily="34" charset="0"/>
            </a:endParaRPr>
          </a:p>
          <a:p>
            <a:pPr algn="just"/>
            <a:r>
              <a:rPr lang="ru-RU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ПРОЕКЦИЯ</a:t>
            </a:r>
            <a:r>
              <a:rPr lang="ru-RU" dirty="0">
                <a:latin typeface="Bahnschrift Condensed" panose="020B0502040204020203" pitchFamily="34" charset="0"/>
              </a:rPr>
              <a:t>: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«Я его не ненавижу — это он меня ненавидит»</a:t>
            </a:r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2EE514-F94A-408E-AB52-E14F6690BC8A}"/>
              </a:ext>
            </a:extLst>
          </p:cNvPr>
          <p:cNvSpPr txBox="1"/>
          <p:nvPr/>
        </p:nvSpPr>
        <p:spPr>
          <a:xfrm>
            <a:off x="6350000" y="4889025"/>
            <a:ext cx="4488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РАЦИОНАЛИЗАЦИЯ</a:t>
            </a:r>
            <a:r>
              <a:rPr lang="ru-RU" dirty="0">
                <a:latin typeface="Bahnschrift Condensed" panose="020B0502040204020203" pitchFamily="34" charset="0"/>
              </a:rPr>
              <a:t>: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«Двойку получил, потому что учитель ко мне придирается» </a:t>
            </a:r>
            <a:endParaRPr lang="ru-RU" dirty="0">
              <a:latin typeface="Bahnschrift Condensed" panose="020B0502040204020203" pitchFamily="34" charset="0"/>
            </a:endParaRPr>
          </a:p>
          <a:p>
            <a:pPr algn="just"/>
            <a:r>
              <a:rPr lang="ru-RU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СУБЛИМАЦИЯ</a:t>
            </a:r>
            <a:r>
              <a:rPr lang="ru-RU" dirty="0">
                <a:latin typeface="Bahnschrift Condensed" panose="020B0502040204020203" pitchFamily="34" charset="0"/>
              </a:rPr>
              <a:t>: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Рисую агрессивные картины, пишу стихи </a:t>
            </a:r>
            <a:endParaRPr lang="ru-RU" dirty="0">
              <a:latin typeface="Bahnschrift Condensed" panose="020B0502040204020203" pitchFamily="34" charset="0"/>
            </a:endParaRPr>
          </a:p>
          <a:p>
            <a:pPr algn="just"/>
            <a:r>
              <a:rPr lang="ru-RU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РЕГРЕССИЯ</a:t>
            </a:r>
            <a:r>
              <a:rPr lang="ru-RU" dirty="0">
                <a:latin typeface="Bahnschrift Condensed" panose="020B0502040204020203" pitchFamily="34" charset="0"/>
              </a:rPr>
              <a:t>: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стрессе начинаю грызть ногти, плакать </a:t>
            </a:r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1B4427-9868-40D1-B8D6-42AE0E4739B4}"/>
              </a:ext>
            </a:extLst>
          </p:cNvPr>
          <p:cNvSpPr txBox="1"/>
          <p:nvPr/>
        </p:nvSpPr>
        <p:spPr>
          <a:xfrm>
            <a:off x="477520" y="4085455"/>
            <a:ext cx="2420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latin typeface="Bahnschrift Condensed" panose="020B0502040204020203" pitchFamily="34" charset="0"/>
              </a:rPr>
              <a:t>ПРИМЕРЫ 🤓</a:t>
            </a:r>
          </a:p>
        </p:txBody>
      </p: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01171EAA-1E0D-4A0A-BCF1-E92800F481FB}"/>
              </a:ext>
            </a:extLst>
          </p:cNvPr>
          <p:cNvCxnSpPr>
            <a:stCxn id="20" idx="2"/>
            <a:endCxn id="21" idx="2"/>
          </p:cNvCxnSpPr>
          <p:nvPr/>
        </p:nvCxnSpPr>
        <p:spPr>
          <a:xfrm rot="16200000" flipH="1">
            <a:off x="6004513" y="3499626"/>
            <a:ext cx="575665" cy="4603789"/>
          </a:xfrm>
          <a:prstGeom prst="bentConnector3">
            <a:avLst>
              <a:gd name="adj1" fmla="val 139711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75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3A02F4B-3C37-4A11-A8DD-F59F804CDE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E40B04-EC78-4029-8302-5AD099246897}"/>
              </a:ext>
            </a:extLst>
          </p:cNvPr>
          <p:cNvSpPr/>
          <p:nvPr/>
        </p:nvSpPr>
        <p:spPr>
          <a:xfrm>
            <a:off x="248920" y="314960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24DE816-067F-4DE9-BB89-2E76F55DFE4B}"/>
              </a:ext>
            </a:extLst>
          </p:cNvPr>
          <p:cNvSpPr/>
          <p:nvPr/>
        </p:nvSpPr>
        <p:spPr>
          <a:xfrm>
            <a:off x="8614808" y="3260005"/>
            <a:ext cx="2987040" cy="291084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CE25D-AEE9-4A46-9F21-0F7AE35DA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48" y="600635"/>
            <a:ext cx="7867332" cy="689693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ДЖОРДЖ КЕЛЛИ </a:t>
            </a:r>
            <a:r>
              <a:rPr lang="ru-RU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(1905–1967) – 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КОГНИТИВНЫЙ ПОДХОД</a:t>
            </a:r>
            <a:endParaRPr lang="ru-RU" sz="6600" b="1" dirty="0">
              <a:solidFill>
                <a:schemeClr val="accent6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F4AF27-C994-437C-860C-D76158BEF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02" y="2012394"/>
            <a:ext cx="6160770" cy="3675841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БАЗОВЫЕ ПРЕДПОЛОЖЕНИЯ</a:t>
            </a:r>
            <a:r>
              <a:rPr lang="ru-RU" sz="3200" dirty="0">
                <a:latin typeface="Bahnschrift Condensed" panose="020B0502040204020203" pitchFamily="34" charset="0"/>
              </a:rPr>
              <a:t>:</a:t>
            </a:r>
          </a:p>
          <a:p>
            <a:pPr algn="just"/>
            <a:endParaRPr lang="ru-RU" sz="3200" dirty="0">
              <a:latin typeface="Bahnschrift Condensed" panose="020B0502040204020203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КАЖДЫЙ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человек создаёт 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ГИПОТЕЗЫ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 мире.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ПРОВЕРЯЕТ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их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ПОДТВЕРЖДЕНИЕ</a:t>
            </a:r>
            <a:r>
              <a:rPr lang="ru-RU" sz="24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ГИПОТЕЗЫ 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УКРЕПЛЕНИЕ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СИСТЕМЫ.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ПЕРЕСТРОЙКА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(иногда болезненно).</a:t>
            </a:r>
          </a:p>
          <a:p>
            <a:pPr algn="just"/>
            <a:endParaRPr lang="ru-RU" sz="3200" dirty="0">
              <a:latin typeface="Bahnschrift Condensed" panose="020B0502040204020203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1A9F11-AF4E-4F73-BC8F-8D0FEB4D13B6}"/>
              </a:ext>
            </a:extLst>
          </p:cNvPr>
          <p:cNvSpPr/>
          <p:nvPr/>
        </p:nvSpPr>
        <p:spPr>
          <a:xfrm>
            <a:off x="7550784" y="1610806"/>
            <a:ext cx="3251202" cy="410373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C7A1EFB-C90C-492A-AFD6-0A93A5022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35" y="1757672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393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742118-7C52-475A-BF63-4A3CA42EE704}"/>
              </a:ext>
            </a:extLst>
          </p:cNvPr>
          <p:cNvSpPr/>
          <p:nvPr/>
        </p:nvSpPr>
        <p:spPr>
          <a:xfrm>
            <a:off x="0" y="-91440"/>
            <a:ext cx="12192000" cy="69494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11DCA5-807D-4683-B4E5-9EA39C624EE8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42D79-27C6-4875-A8C7-720A29CDF1AA}"/>
              </a:ext>
            </a:extLst>
          </p:cNvPr>
          <p:cNvSpPr txBox="1"/>
          <p:nvPr/>
        </p:nvSpPr>
        <p:spPr>
          <a:xfrm>
            <a:off x="905435" y="627529"/>
            <a:ext cx="27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atin typeface="Bahnschrift Condensed" panose="020B0502040204020203" pitchFamily="34" charset="0"/>
              </a:rPr>
              <a:t>ЛИЧНОСТЬ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D7518-6677-43DA-BFEF-FD1204277D52}"/>
              </a:ext>
            </a:extLst>
          </p:cNvPr>
          <p:cNvSpPr txBox="1"/>
          <p:nvPr/>
        </p:nvSpPr>
        <p:spPr>
          <a:xfrm>
            <a:off x="2868706" y="743925"/>
            <a:ext cx="795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способ обработки информации и предсказания будущего</a:t>
            </a:r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7" name="Блок-схема: задержка 6">
            <a:extLst>
              <a:ext uri="{FF2B5EF4-FFF2-40B4-BE49-F238E27FC236}">
                <a16:creationId xmlns:a16="http://schemas.microsoft.com/office/drawing/2014/main" id="{E8FDEBD2-2042-43EC-A53D-98722A2DF893}"/>
              </a:ext>
            </a:extLst>
          </p:cNvPr>
          <p:cNvSpPr/>
          <p:nvPr/>
        </p:nvSpPr>
        <p:spPr>
          <a:xfrm>
            <a:off x="248919" y="2883159"/>
            <a:ext cx="4164461" cy="3659880"/>
          </a:xfrm>
          <a:prstGeom prst="flowChartDelay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задержка 8">
            <a:extLst>
              <a:ext uri="{FF2B5EF4-FFF2-40B4-BE49-F238E27FC236}">
                <a16:creationId xmlns:a16="http://schemas.microsoft.com/office/drawing/2014/main" id="{CD63BD4B-842E-4B53-BEA2-DFD3D8E43970}"/>
              </a:ext>
            </a:extLst>
          </p:cNvPr>
          <p:cNvSpPr/>
          <p:nvPr/>
        </p:nvSpPr>
        <p:spPr>
          <a:xfrm flipH="1">
            <a:off x="7663440" y="2883159"/>
            <a:ext cx="4279640" cy="3659880"/>
          </a:xfrm>
          <a:prstGeom prst="flowChartDelay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72FC7-8699-446F-98F5-36DE7B304E8E}"/>
              </a:ext>
            </a:extLst>
          </p:cNvPr>
          <p:cNvSpPr txBox="1"/>
          <p:nvPr/>
        </p:nvSpPr>
        <p:spPr>
          <a:xfrm>
            <a:off x="9445743" y="1511459"/>
            <a:ext cx="19313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Bahnschrift Condensed" panose="020B0502040204020203" pitchFamily="34" charset="0"/>
              </a:rPr>
              <a:t>БИПОЛЯРНЫЙ </a:t>
            </a:r>
          </a:p>
          <a:p>
            <a:pPr algn="ctr"/>
            <a:r>
              <a:rPr lang="ru-RU" sz="2800" b="1" dirty="0">
                <a:latin typeface="Bahnschrift Condensed" panose="020B0502040204020203" pitchFamily="34" charset="0"/>
              </a:rPr>
              <a:t>ПРИЗНАК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9B113-8E40-4924-86E6-D97CFC2EBF42}"/>
              </a:ext>
            </a:extLst>
          </p:cNvPr>
          <p:cNvSpPr txBox="1"/>
          <p:nvPr/>
        </p:nvSpPr>
        <p:spPr>
          <a:xfrm>
            <a:off x="606490" y="4448064"/>
            <a:ext cx="2537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сходства между явлениями/людьми.</a:t>
            </a:r>
          </a:p>
          <a:p>
            <a:pPr algn="ctr"/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B4555-2C9E-40FB-AFA1-5C3ED66EB00C}"/>
              </a:ext>
            </a:extLst>
          </p:cNvPr>
          <p:cNvSpPr txBox="1"/>
          <p:nvPr/>
        </p:nvSpPr>
        <p:spPr>
          <a:xfrm>
            <a:off x="8969804" y="4448064"/>
            <a:ext cx="2407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различия между явлениями/людьми.</a:t>
            </a:r>
          </a:p>
          <a:p>
            <a:pPr algn="ctr"/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12" name="Знак ''плюс'' 11">
            <a:extLst>
              <a:ext uri="{FF2B5EF4-FFF2-40B4-BE49-F238E27FC236}">
                <a16:creationId xmlns:a16="http://schemas.microsoft.com/office/drawing/2014/main" id="{F6DC3454-0915-402E-8E6F-84B4B6454694}"/>
              </a:ext>
            </a:extLst>
          </p:cNvPr>
          <p:cNvSpPr/>
          <p:nvPr/>
        </p:nvSpPr>
        <p:spPr>
          <a:xfrm>
            <a:off x="1530221" y="3690751"/>
            <a:ext cx="503853" cy="554114"/>
          </a:xfrm>
          <a:prstGeom prst="mathPlus">
            <a:avLst>
              <a:gd name="adj1" fmla="val 12409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''минус'' 12">
            <a:extLst>
              <a:ext uri="{FF2B5EF4-FFF2-40B4-BE49-F238E27FC236}">
                <a16:creationId xmlns:a16="http://schemas.microsoft.com/office/drawing/2014/main" id="{35E09850-C95C-42E2-82CA-A9EA970C0E4A}"/>
              </a:ext>
            </a:extLst>
          </p:cNvPr>
          <p:cNvSpPr/>
          <p:nvPr/>
        </p:nvSpPr>
        <p:spPr>
          <a:xfrm>
            <a:off x="9779960" y="3808315"/>
            <a:ext cx="786985" cy="402562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66F56-445B-4B23-B604-75E7837EF438}"/>
              </a:ext>
            </a:extLst>
          </p:cNvPr>
          <p:cNvSpPr txBox="1"/>
          <p:nvPr/>
        </p:nvSpPr>
        <p:spPr>
          <a:xfrm>
            <a:off x="4064986" y="1654733"/>
            <a:ext cx="3946848" cy="5180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ФОРМУЛА КОНСТРУКТА: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«А похож на Б в отношении X, но отличается от В </a:t>
            </a:r>
            <a:r>
              <a:rPr lang="ru-RU" sz="2000" dirty="0" err="1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отношении X»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ПРИМЕРЫ: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«Честный – нечестный»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«Интересный – скучный»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«Безопасный – опасный»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«Умный – глупый»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«Предсказуемый – непредсказуемый»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/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15" name="Звезда: 4 точки 14">
            <a:extLst>
              <a:ext uri="{FF2B5EF4-FFF2-40B4-BE49-F238E27FC236}">
                <a16:creationId xmlns:a16="http://schemas.microsoft.com/office/drawing/2014/main" id="{6A643396-A46B-4129-B7F6-3CD85BA8CD84}"/>
              </a:ext>
            </a:extLst>
          </p:cNvPr>
          <p:cNvSpPr/>
          <p:nvPr/>
        </p:nvSpPr>
        <p:spPr>
          <a:xfrm>
            <a:off x="9200193" y="1617201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53B84-D217-4DB1-9FD4-773D0D86DE64}"/>
              </a:ext>
            </a:extLst>
          </p:cNvPr>
          <p:cNvSpPr txBox="1"/>
          <p:nvPr/>
        </p:nvSpPr>
        <p:spPr>
          <a:xfrm>
            <a:off x="920070" y="1538614"/>
            <a:ext cx="22243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Bahnschrift Condensed" panose="020B0502040204020203" pitchFamily="34" charset="0"/>
              </a:rPr>
              <a:t>ДВУХПОЛЮСНЫЙ КОНСТРУКТ</a:t>
            </a:r>
          </a:p>
        </p:txBody>
      </p:sp>
      <p:sp>
        <p:nvSpPr>
          <p:cNvPr id="20" name="Звезда: 4 точки 19">
            <a:extLst>
              <a:ext uri="{FF2B5EF4-FFF2-40B4-BE49-F238E27FC236}">
                <a16:creationId xmlns:a16="http://schemas.microsoft.com/office/drawing/2014/main" id="{81057736-03E0-4E24-A422-C0D3E3EB249A}"/>
              </a:ext>
            </a:extLst>
          </p:cNvPr>
          <p:cNvSpPr/>
          <p:nvPr/>
        </p:nvSpPr>
        <p:spPr>
          <a:xfrm>
            <a:off x="611195" y="1634661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10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742118-7C52-475A-BF63-4A3CA42EE704}"/>
              </a:ext>
            </a:extLst>
          </p:cNvPr>
          <p:cNvSpPr/>
          <p:nvPr/>
        </p:nvSpPr>
        <p:spPr>
          <a:xfrm>
            <a:off x="0" y="-9144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11DCA5-807D-4683-B4E5-9EA39C624EE8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79094F-6260-4CAF-A2A5-9326BA833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172" y="4279318"/>
            <a:ext cx="2136584" cy="21541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F82C1A-282F-4F5A-AD91-970AF114E47F}"/>
              </a:ext>
            </a:extLst>
          </p:cNvPr>
          <p:cNvSpPr txBox="1"/>
          <p:nvPr/>
        </p:nvSpPr>
        <p:spPr>
          <a:xfrm>
            <a:off x="653143" y="625151"/>
            <a:ext cx="4609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СТРУКТУРА ЛИЧНОСТИ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7DB102-1240-49AA-9EAA-4E4D58941B53}"/>
              </a:ext>
            </a:extLst>
          </p:cNvPr>
          <p:cNvSpPr txBox="1"/>
          <p:nvPr/>
        </p:nvSpPr>
        <p:spPr>
          <a:xfrm>
            <a:off x="895558" y="1900698"/>
            <a:ext cx="4562669" cy="3143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А.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 ЗНАЧИМОСТИ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ЯДЕРНЫЕ КОНСТРУКТЫ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в центре личности.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Их изменение → тревога, кризис идентичности. Пример: «Я – хороший человек».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ПЕРИФЕРИЧЕСКИЕ КОНСТРУКТЫ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меняются легче. Пример: «Фильмы ужасов – страшные» (можно пересмотреть).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FE0731-9EE0-4BCE-853C-E6EAD90B94AB}"/>
              </a:ext>
            </a:extLst>
          </p:cNvPr>
          <p:cNvSpPr txBox="1"/>
          <p:nvPr/>
        </p:nvSpPr>
        <p:spPr>
          <a:xfrm>
            <a:off x="5707147" y="625151"/>
            <a:ext cx="5181677" cy="1752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Б.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 ДИАПАЗОНУ ПРИМЕНИМОСТИ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ШИРОКИЕ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применимы ко многим ситуациям («добрый – злой»)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УЗКИЕ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только для одной сферы («вкусный – невкусный» — только о еде)</a:t>
            </a:r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BF4F9-8DF0-43EC-9AC9-6C15ED502C94}"/>
              </a:ext>
            </a:extLst>
          </p:cNvPr>
          <p:cNvSpPr txBox="1"/>
          <p:nvPr/>
        </p:nvSpPr>
        <p:spPr>
          <a:xfrm>
            <a:off x="5753981" y="2579299"/>
            <a:ext cx="4016747" cy="234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В.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 ПРОНИЦАЕМОСТИ (ГИБКОСТИ)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ПРОНИЦАЕМЫЕ</a:t>
            </a:r>
            <a:r>
              <a:rPr lang="ru-RU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принимают новые элементы. Пример: «Умный может учиться всю жизнь».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НЕПРОНИЦАЕМЫЕ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жёсткие. Пример: «Все мужчины – козлы» (ни одно исключение не принимается).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929C92-E7A7-4103-9459-1F8928F8FEB4}"/>
              </a:ext>
            </a:extLst>
          </p:cNvPr>
          <p:cNvSpPr txBox="1"/>
          <p:nvPr/>
        </p:nvSpPr>
        <p:spPr>
          <a:xfrm>
            <a:off x="942392" y="4938214"/>
            <a:ext cx="4478694" cy="1760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Г.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 ИЕРАРХИИ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Одни конструкты подчиняются другим («корневые» и «подчинённые»)</a:t>
            </a:r>
          </a:p>
          <a:p>
            <a:endParaRPr lang="ru-RU" dirty="0">
              <a:latin typeface="Bahnschrift Condensed" panose="020B0502040204020203" pitchFamily="34" charset="0"/>
            </a:endParaRPr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65EC35F6-BB92-4E1B-98FE-3E8342F13A8C}"/>
              </a:ext>
            </a:extLst>
          </p:cNvPr>
          <p:cNvCxnSpPr>
            <a:stCxn id="9" idx="0"/>
          </p:cNvCxnSpPr>
          <p:nvPr/>
        </p:nvCxnSpPr>
        <p:spPr>
          <a:xfrm rot="5400000" flipH="1" flipV="1">
            <a:off x="4269613" y="584464"/>
            <a:ext cx="223515" cy="2408954"/>
          </a:xfrm>
          <a:prstGeom prst="bentConnector2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CC786984-2A4A-4E50-9E71-81D6BDE83EC6}"/>
              </a:ext>
            </a:extLst>
          </p:cNvPr>
          <p:cNvCxnSpPr>
            <a:stCxn id="11" idx="3"/>
            <a:endCxn id="12" idx="3"/>
          </p:cNvCxnSpPr>
          <p:nvPr/>
        </p:nvCxnSpPr>
        <p:spPr>
          <a:xfrm flipH="1">
            <a:off x="9770728" y="1501609"/>
            <a:ext cx="1118096" cy="2250511"/>
          </a:xfrm>
          <a:prstGeom prst="bentConnector3">
            <a:avLst>
              <a:gd name="adj1" fmla="val -20445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674E7DE3-EE74-4C96-A6CA-73D34BF35F7A}"/>
              </a:ext>
            </a:extLst>
          </p:cNvPr>
          <p:cNvCxnSpPr>
            <a:stCxn id="12" idx="2"/>
          </p:cNvCxnSpPr>
          <p:nvPr/>
        </p:nvCxnSpPr>
        <p:spPr>
          <a:xfrm rot="5400000">
            <a:off x="6261171" y="4168833"/>
            <a:ext cx="745076" cy="2257292"/>
          </a:xfrm>
          <a:prstGeom prst="bentConnector2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349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742118-7C52-475A-BF63-4A3CA42EE704}"/>
              </a:ext>
            </a:extLst>
          </p:cNvPr>
          <p:cNvSpPr/>
          <p:nvPr/>
        </p:nvSpPr>
        <p:spPr>
          <a:xfrm>
            <a:off x="0" y="-91440"/>
            <a:ext cx="12192000" cy="69494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11DCA5-807D-4683-B4E5-9EA39C624EE8}"/>
              </a:ext>
            </a:extLst>
          </p:cNvPr>
          <p:cNvSpPr/>
          <p:nvPr/>
        </p:nvSpPr>
        <p:spPr>
          <a:xfrm>
            <a:off x="248920" y="31495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4B08A-0C15-43A4-B912-84F13EE0CAC2}"/>
              </a:ext>
            </a:extLst>
          </p:cNvPr>
          <p:cNvSpPr txBox="1"/>
          <p:nvPr/>
        </p:nvSpPr>
        <p:spPr>
          <a:xfrm>
            <a:off x="735107" y="627529"/>
            <a:ext cx="9009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СЦЕНАРИЙ</a:t>
            </a:r>
            <a:r>
              <a:rPr lang="en-US" sz="4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 (</a:t>
            </a:r>
            <a:r>
              <a:rPr lang="ru-RU" sz="4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ПРОЦЕСС/ ЦИКЛ ПРЕДСКАЗАНИЯ</a:t>
            </a:r>
            <a:r>
              <a:rPr lang="en-US" sz="4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)</a:t>
            </a:r>
            <a:endParaRPr lang="ru-RU" sz="4400" dirty="0">
              <a:solidFill>
                <a:schemeClr val="accent6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274B42-1133-4385-9597-1D3A29C21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61" y="1944000"/>
            <a:ext cx="3372821" cy="428647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E5CB09F-321E-4B10-85C7-005F2E83E6D0}"/>
              </a:ext>
            </a:extLst>
          </p:cNvPr>
          <p:cNvSpPr/>
          <p:nvPr/>
        </p:nvSpPr>
        <p:spPr>
          <a:xfrm>
            <a:off x="5136777" y="1810872"/>
            <a:ext cx="6806303" cy="473216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C938D1-BB0F-4336-A3E6-96EDDB0A8561}"/>
              </a:ext>
            </a:extLst>
          </p:cNvPr>
          <p:cNvSpPr txBox="1"/>
          <p:nvPr/>
        </p:nvSpPr>
        <p:spPr>
          <a:xfrm>
            <a:off x="5844988" y="1959810"/>
            <a:ext cx="5981552" cy="4434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ru-RU" sz="2400" dirty="0"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человек сталкивается с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ситуацией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выбирает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(сознательно или нет)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делает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предсказание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получает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сли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сбылось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 укрепляется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сли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тревога</a:t>
            </a: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перестройка конструкта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идёт </a:t>
            </a:r>
            <a:r>
              <a:rPr lang="ru-RU" sz="2400" b="1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дальше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ru-RU" sz="2400" dirty="0"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2559C0A-9B2B-499F-A4FA-9A0F07C77C29}"/>
              </a:ext>
            </a:extLst>
          </p:cNvPr>
          <p:cNvCxnSpPr>
            <a:cxnSpLocks/>
          </p:cNvCxnSpPr>
          <p:nvPr/>
        </p:nvCxnSpPr>
        <p:spPr>
          <a:xfrm>
            <a:off x="5020235" y="1810872"/>
            <a:ext cx="0" cy="473216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C87DA77-4811-4466-87C5-36C99A058E23}"/>
              </a:ext>
            </a:extLst>
          </p:cNvPr>
          <p:cNvCxnSpPr>
            <a:cxnSpLocks/>
          </p:cNvCxnSpPr>
          <p:nvPr/>
        </p:nvCxnSpPr>
        <p:spPr>
          <a:xfrm>
            <a:off x="4894729" y="2034393"/>
            <a:ext cx="0" cy="473216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9780E79-89D9-4C9F-B0F8-8DD7F80B64AA}"/>
              </a:ext>
            </a:extLst>
          </p:cNvPr>
          <p:cNvCxnSpPr>
            <a:cxnSpLocks/>
          </p:cNvCxnSpPr>
          <p:nvPr/>
        </p:nvCxnSpPr>
        <p:spPr>
          <a:xfrm>
            <a:off x="4778188" y="2339790"/>
            <a:ext cx="0" cy="429250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27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742118-7C52-475A-BF63-4A3CA42EE704}"/>
              </a:ext>
            </a:extLst>
          </p:cNvPr>
          <p:cNvSpPr/>
          <p:nvPr/>
        </p:nvSpPr>
        <p:spPr>
          <a:xfrm>
            <a:off x="0" y="-9144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11DCA5-807D-4683-B4E5-9EA39C624EE8}"/>
              </a:ext>
            </a:extLst>
          </p:cNvPr>
          <p:cNvSpPr/>
          <p:nvPr/>
        </p:nvSpPr>
        <p:spPr>
          <a:xfrm>
            <a:off x="248920" y="223520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5F4CE-EF47-4BAC-990E-DDF037A712CE}"/>
              </a:ext>
            </a:extLst>
          </p:cNvPr>
          <p:cNvSpPr txBox="1"/>
          <p:nvPr/>
        </p:nvSpPr>
        <p:spPr>
          <a:xfrm>
            <a:off x="735105" y="528918"/>
            <a:ext cx="22322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ТРЕВОГА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EB066D-3F63-43EE-B745-58F7A7D85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318" y="672353"/>
            <a:ext cx="3445044" cy="55132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A4EB19-76FB-4052-A998-2269E3A81B23}"/>
              </a:ext>
            </a:extLst>
          </p:cNvPr>
          <p:cNvSpPr txBox="1"/>
          <p:nvPr/>
        </p:nvSpPr>
        <p:spPr>
          <a:xfrm>
            <a:off x="2447365" y="625115"/>
            <a:ext cx="597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осознание, что твои конструкты не применимы к текущей ситуации.</a:t>
            </a:r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5ECF3-11C8-4B8F-9582-573CF581FA55}"/>
              </a:ext>
            </a:extLst>
          </p:cNvPr>
          <p:cNvSpPr txBox="1"/>
          <p:nvPr/>
        </p:nvSpPr>
        <p:spPr>
          <a:xfrm>
            <a:off x="851647" y="2348753"/>
            <a:ext cx="6651812" cy="295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Человек считал мир «справедливым – несправедливым». С ним случилось нечто ужасное без причины. Его конструкт не работает → тревога.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dirty="0"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Репертуарный тест ролевых конструктов (REP-тест)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Человеку дают список людей (я, мама, друг, учитель) и просят сказать: «Чем похожи два, но отличаются от третьего?» Так выявляют его личные конструкты.</a:t>
            </a:r>
          </a:p>
          <a:p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EB3A2-E1F7-450F-82B4-A7F93CF81A77}"/>
              </a:ext>
            </a:extLst>
          </p:cNvPr>
          <p:cNvSpPr txBox="1"/>
          <p:nvPr/>
        </p:nvSpPr>
        <p:spPr>
          <a:xfrm>
            <a:off x="887506" y="1764414"/>
            <a:ext cx="1685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Condensed" panose="020B0502040204020203" pitchFamily="34" charset="0"/>
              </a:rPr>
              <a:t>ПРИМЕР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1F4C20-775C-4645-9285-D46898165690}"/>
              </a:ext>
            </a:extLst>
          </p:cNvPr>
          <p:cNvSpPr txBox="1"/>
          <p:nvPr/>
        </p:nvSpPr>
        <p:spPr>
          <a:xfrm>
            <a:off x="851647" y="3359214"/>
            <a:ext cx="2017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МЕТОД КЕЛЛИ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61749-0E05-410F-980A-D5F83D02B0C5}"/>
              </a:ext>
            </a:extLst>
          </p:cNvPr>
          <p:cNvSpPr txBox="1"/>
          <p:nvPr/>
        </p:nvSpPr>
        <p:spPr>
          <a:xfrm>
            <a:off x="779928" y="5477435"/>
            <a:ext cx="6176683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ИЗМЕНЕНИЕ КОНСТРУКТОВ — ИЗМЕНЕНИЕ ЛИЧНОСТИ.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ru-RU" sz="2400" dirty="0">
              <a:latin typeface="Bahnschrift Condensed" panose="020B0502040204020203" pitchFamily="34" charset="0"/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8945E84-893E-48AE-9962-46E1EB10C06B}"/>
              </a:ext>
            </a:extLst>
          </p:cNvPr>
          <p:cNvCxnSpPr/>
          <p:nvPr/>
        </p:nvCxnSpPr>
        <p:spPr>
          <a:xfrm flipV="1">
            <a:off x="8534400" y="5127812"/>
            <a:ext cx="1631576" cy="59167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нак умножения 13">
            <a:extLst>
              <a:ext uri="{FF2B5EF4-FFF2-40B4-BE49-F238E27FC236}">
                <a16:creationId xmlns:a16="http://schemas.microsoft.com/office/drawing/2014/main" id="{782E5556-52DE-41E8-96E8-2C1245EB12DA}"/>
              </a:ext>
            </a:extLst>
          </p:cNvPr>
          <p:cNvSpPr/>
          <p:nvPr/>
        </p:nvSpPr>
        <p:spPr>
          <a:xfrm>
            <a:off x="7772148" y="5504329"/>
            <a:ext cx="824753" cy="448235"/>
          </a:xfrm>
          <a:prstGeom prst="mathMultiply">
            <a:avLst>
              <a:gd name="adj1" fmla="val 1352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E8A404B-C16D-4A07-9EA2-D7321184F956}"/>
              </a:ext>
            </a:extLst>
          </p:cNvPr>
          <p:cNvCxnSpPr>
            <a:cxnSpLocks/>
          </p:cNvCxnSpPr>
          <p:nvPr/>
        </p:nvCxnSpPr>
        <p:spPr>
          <a:xfrm>
            <a:off x="8697856" y="1730188"/>
            <a:ext cx="1091603" cy="111162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DF5F9F-8762-42B5-BF99-F10C32E0BC08}"/>
              </a:ext>
            </a:extLst>
          </p:cNvPr>
          <p:cNvSpPr txBox="1"/>
          <p:nvPr/>
        </p:nvSpPr>
        <p:spPr>
          <a:xfrm>
            <a:off x="7331244" y="1083857"/>
            <a:ext cx="2733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Bahnschrift Condensed" panose="020B0502040204020203" pitchFamily="34" charset="0"/>
              </a:rPr>
              <a:t>СПОСОБ ВИДЕТЬ И ПРЕДСКАЗЫВАТЬ МИР</a:t>
            </a:r>
          </a:p>
        </p:txBody>
      </p:sp>
    </p:spTree>
    <p:extLst>
      <p:ext uri="{BB962C8B-B14F-4D97-AF65-F5344CB8AC3E}">
        <p14:creationId xmlns:p14="http://schemas.microsoft.com/office/powerpoint/2010/main" val="12843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3A02F4B-3C37-4A11-A8DD-F59F804CDE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E40B04-EC78-4029-8302-5AD099246897}"/>
              </a:ext>
            </a:extLst>
          </p:cNvPr>
          <p:cNvSpPr/>
          <p:nvPr/>
        </p:nvSpPr>
        <p:spPr>
          <a:xfrm>
            <a:off x="248920" y="314960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24DE816-067F-4DE9-BB89-2E76F55DFE4B}"/>
              </a:ext>
            </a:extLst>
          </p:cNvPr>
          <p:cNvSpPr/>
          <p:nvPr/>
        </p:nvSpPr>
        <p:spPr>
          <a:xfrm>
            <a:off x="8669922" y="2489029"/>
            <a:ext cx="2743200" cy="357811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F4AF27-C994-437C-860C-D76158BEF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0269" y="2516564"/>
            <a:ext cx="6419332" cy="3364825"/>
          </a:xfrm>
        </p:spPr>
        <p:txBody>
          <a:bodyPr>
            <a:normAutofit/>
          </a:bodyPr>
          <a:lstStyle/>
          <a:p>
            <a:pPr algn="just"/>
            <a:r>
              <a:rPr lang="ru-RU" sz="2800" b="1" dirty="0">
                <a:latin typeface="Bahnschrift Condensed" panose="020B0502040204020203" pitchFamily="34" charset="0"/>
              </a:rPr>
              <a:t>СТРУКТУРА ЛИЧНОСТИ </a:t>
            </a:r>
            <a:r>
              <a:rPr lang="ru-RU" sz="2800" dirty="0">
                <a:latin typeface="Bahnschrift Condensed" panose="020B0502040204020203" pitchFamily="34" charset="0"/>
              </a:rPr>
              <a:t>(ФЕНОМЕНОЛОГИЧЕСКОЕ ПОЛЕ)</a:t>
            </a:r>
          </a:p>
          <a:p>
            <a:pPr algn="just"/>
            <a:endParaRPr lang="ru-RU" sz="2800" dirty="0">
              <a:latin typeface="Bahnschrift Condensed" panose="020B05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ОРГАНИЗМИЧЕСКИЙ ОПЫТ 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всё, что человек переживает (включая тело, эмоции, ощущения).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Я-КОНЦЕПЦИЯ 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то, как человек себя воспринимает (система представлений о себе).</a:t>
            </a:r>
          </a:p>
          <a:p>
            <a:pPr algn="just"/>
            <a:r>
              <a:rPr lang="ru-RU" sz="2800" dirty="0">
                <a:latin typeface="Bahnschrift Condensed" panose="020B0502040204020203" pitchFamily="34" charset="0"/>
              </a:rPr>
              <a:t>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1A9F11-AF4E-4F73-BC8F-8D0FEB4D13B6}"/>
              </a:ext>
            </a:extLst>
          </p:cNvPr>
          <p:cNvSpPr/>
          <p:nvPr/>
        </p:nvSpPr>
        <p:spPr>
          <a:xfrm>
            <a:off x="8153017" y="1333812"/>
            <a:ext cx="2743200" cy="4260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218" name="Picture 2" descr="8 января 1902 года родился Карл Роджерс (Carl Rogers) – американский  психолог. Родоначальник движения &quot;групп.. 2026 | ВКонтакте">
            <a:extLst>
              <a:ext uri="{FF2B5EF4-FFF2-40B4-BE49-F238E27FC236}">
                <a16:creationId xmlns:a16="http://schemas.microsoft.com/office/drawing/2014/main" id="{C79D10B7-8F6D-4DB2-9B5C-F163D9DDB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" t="2204" r="3544" b="2346"/>
          <a:stretch/>
        </p:blipFill>
        <p:spPr bwMode="auto">
          <a:xfrm>
            <a:off x="8328690" y="1501588"/>
            <a:ext cx="2357718" cy="3854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4AB462-183C-433E-85A6-33095275F700}"/>
              </a:ext>
            </a:extLst>
          </p:cNvPr>
          <p:cNvSpPr txBox="1"/>
          <p:nvPr/>
        </p:nvSpPr>
        <p:spPr>
          <a:xfrm>
            <a:off x="709246" y="654585"/>
            <a:ext cx="6721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КАРЛ РОДЖЕРС (1902-1987) –  ГУМАНИСТИЧЕСКИЙ ПОДХОД </a:t>
            </a:r>
          </a:p>
        </p:txBody>
      </p:sp>
    </p:spTree>
    <p:extLst>
      <p:ext uri="{BB962C8B-B14F-4D97-AF65-F5344CB8AC3E}">
        <p14:creationId xmlns:p14="http://schemas.microsoft.com/office/powerpoint/2010/main" val="1044126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742118-7C52-475A-BF63-4A3CA42EE704}"/>
              </a:ext>
            </a:extLst>
          </p:cNvPr>
          <p:cNvSpPr/>
          <p:nvPr/>
        </p:nvSpPr>
        <p:spPr>
          <a:xfrm>
            <a:off x="0" y="-91440"/>
            <a:ext cx="12192000" cy="69494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11DCA5-807D-4683-B4E5-9EA39C624EE8}"/>
              </a:ext>
            </a:extLst>
          </p:cNvPr>
          <p:cNvSpPr/>
          <p:nvPr/>
        </p:nvSpPr>
        <p:spPr>
          <a:xfrm>
            <a:off x="248920" y="314960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6F11F-3441-48E2-A4CA-78C1F43FC18D}"/>
              </a:ext>
            </a:extLst>
          </p:cNvPr>
          <p:cNvSpPr txBox="1"/>
          <p:nvPr/>
        </p:nvSpPr>
        <p:spPr>
          <a:xfrm>
            <a:off x="2641600" y="730965"/>
            <a:ext cx="252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latin typeface="Bahnschrift Condensed" panose="020B0502040204020203" pitchFamily="34" charset="0"/>
              </a:rPr>
              <a:t>Я-РЕАЛЬНОЕ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24A83-1162-4C1F-B304-0EB1FB0E345A}"/>
              </a:ext>
            </a:extLst>
          </p:cNvPr>
          <p:cNvSpPr txBox="1"/>
          <p:nvPr/>
        </p:nvSpPr>
        <p:spPr>
          <a:xfrm>
            <a:off x="6309360" y="730965"/>
            <a:ext cx="3241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latin typeface="Bahnschrift Condensed" panose="020B0502040204020203" pitchFamily="34" charset="0"/>
              </a:rPr>
              <a:t>Я-ИДЕАЛЬНОЕ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4A3F8-3661-48DA-A8AD-216CB3E4EC62}"/>
              </a:ext>
            </a:extLst>
          </p:cNvPr>
          <p:cNvSpPr txBox="1"/>
          <p:nvPr/>
        </p:nvSpPr>
        <p:spPr>
          <a:xfrm>
            <a:off x="1107440" y="2110264"/>
            <a:ext cx="2529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ahnschrift Condensed" panose="020B0502040204020203" pitchFamily="34" charset="0"/>
              </a:rPr>
              <a:t>КАКОЙ Я СЕЙЧАС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237ED0-624E-402B-9080-E5F5AA163489}"/>
              </a:ext>
            </a:extLst>
          </p:cNvPr>
          <p:cNvSpPr txBox="1"/>
          <p:nvPr/>
        </p:nvSpPr>
        <p:spPr>
          <a:xfrm>
            <a:off x="8554722" y="2109447"/>
            <a:ext cx="236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ahnschrift Condensed" panose="020B0502040204020203" pitchFamily="34" charset="0"/>
              </a:rPr>
              <a:t>КАКИМ ХОЧУ БЫТЬ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F5922-47B7-4D10-B8E5-1CF82BDC9F31}"/>
              </a:ext>
            </a:extLst>
          </p:cNvPr>
          <p:cNvSpPr txBox="1"/>
          <p:nvPr/>
        </p:nvSpPr>
        <p:spPr>
          <a:xfrm>
            <a:off x="-70448" y="2936072"/>
            <a:ext cx="449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«Я тревожный студент, но старательный» </a:t>
            </a:r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A5421-9CF4-4F68-9F4F-B64FA15772F4}"/>
              </a:ext>
            </a:extLst>
          </p:cNvPr>
          <p:cNvSpPr txBox="1"/>
          <p:nvPr/>
        </p:nvSpPr>
        <p:spPr>
          <a:xfrm>
            <a:off x="7592062" y="2936072"/>
            <a:ext cx="429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«Я хочу быть </a:t>
            </a:r>
          </a:p>
          <a:p>
            <a:pPr algn="ctr"/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уверенным и спокойным» </a:t>
            </a:r>
            <a:endParaRPr lang="ru-RU" sz="2400" dirty="0">
              <a:latin typeface="Bahnschrift Condensed" panose="020B0502040204020203" pitchFamily="34" charset="0"/>
            </a:endParaRP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25F28419-45D7-493E-A6CC-21D4C0F40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22" t="38702" r="-1"/>
          <a:stretch/>
        </p:blipFill>
        <p:spPr bwMode="auto">
          <a:xfrm>
            <a:off x="4039348" y="1569779"/>
            <a:ext cx="3684806" cy="472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F5A656D-EE2B-448A-84FF-678D750BE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74" y="4494654"/>
            <a:ext cx="1344624" cy="1320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283DFC-F494-4084-8EE0-6FB5702B04FE}"/>
              </a:ext>
            </a:extLst>
          </p:cNvPr>
          <p:cNvSpPr txBox="1"/>
          <p:nvPr/>
        </p:nvSpPr>
        <p:spPr>
          <a:xfrm>
            <a:off x="9028369" y="5238457"/>
            <a:ext cx="26924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</a:t>
            </a:r>
            <a:r>
              <a:rPr lang="ru-RU" sz="18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ем больше разрыв между реальным и идеальным → тем больше невроз, несчастье.</a:t>
            </a:r>
            <a:endParaRPr lang="ru-RU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18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742118-7C52-475A-BF63-4A3CA42EE704}"/>
              </a:ext>
            </a:extLst>
          </p:cNvPr>
          <p:cNvSpPr/>
          <p:nvPr/>
        </p:nvSpPr>
        <p:spPr>
          <a:xfrm>
            <a:off x="0" y="-9144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11DCA5-807D-4683-B4E5-9EA39C624EE8}"/>
              </a:ext>
            </a:extLst>
          </p:cNvPr>
          <p:cNvSpPr/>
          <p:nvPr/>
        </p:nvSpPr>
        <p:spPr>
          <a:xfrm>
            <a:off x="248920" y="223520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BE14DD-706F-4615-A848-16697858BFCE}"/>
              </a:ext>
            </a:extLst>
          </p:cNvPr>
          <p:cNvSpPr txBox="1"/>
          <p:nvPr/>
        </p:nvSpPr>
        <p:spPr>
          <a:xfrm>
            <a:off x="885642" y="707608"/>
            <a:ext cx="520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ahnschrift Condensed" panose="020B0502040204020203" pitchFamily="34" charset="0"/>
              </a:rPr>
              <a:t>УСЛОВИЯ РАЗВИТИЯ ЗДОРОВОЙ ЛИЧНОСТИ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76EA9-68C9-43F9-B7A4-FC223A0B4725}"/>
              </a:ext>
            </a:extLst>
          </p:cNvPr>
          <p:cNvSpPr txBox="1"/>
          <p:nvPr/>
        </p:nvSpPr>
        <p:spPr>
          <a:xfrm>
            <a:off x="1369737" y="1399700"/>
            <a:ext cx="6176682" cy="1922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u="sng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БЕЗУСЛОВНОЕ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ПОЗИТИВНОЕ ПРИНЯТИЕ 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меня любят любым (даже когда я злюсь, ошибаюсь).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u="sng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УСЛОВНОЕ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ПОЗИТИВНОЕ ПРИНЯТИЕ 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любят только если я «хороший/удобный». Это ведёт к искажению личности.</a:t>
            </a:r>
          </a:p>
          <a:p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E6E8E-7BD1-48F7-AA43-EA7327EFD75A}"/>
              </a:ext>
            </a:extLst>
          </p:cNvPr>
          <p:cNvSpPr txBox="1"/>
          <p:nvPr/>
        </p:nvSpPr>
        <p:spPr>
          <a:xfrm>
            <a:off x="885642" y="3062790"/>
            <a:ext cx="6481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Bahnschrift Condensed" panose="020B0502040204020203" pitchFamily="34" charset="0"/>
              </a:rPr>
              <a:t>ЗАЩИТА ПО РОДЖЕРСУ (В ОТЛИЧИЕ ОТ ФРЕЙДА)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F6562-4B40-4FEA-B0EB-AD09991E25C4}"/>
              </a:ext>
            </a:extLst>
          </p:cNvPr>
          <p:cNvSpPr txBox="1"/>
          <p:nvPr/>
        </p:nvSpPr>
        <p:spPr>
          <a:xfrm>
            <a:off x="1369737" y="3637238"/>
            <a:ext cx="6849036" cy="1263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ИСКАЖЕНИЕ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меняю восприятие опыта, чтобы он вписался в Я-КОНЦЕПЦИЮ.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ОТРИЦАНИЕ</a:t>
            </a:r>
            <a:r>
              <a:rPr lang="ru-RU" sz="20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не замечаю угрожающий опыт.</a:t>
            </a:r>
          </a:p>
          <a:p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B4A88-C1DC-4222-9C74-9A9CE10BC3EC}"/>
              </a:ext>
            </a:extLst>
          </p:cNvPr>
          <p:cNvSpPr txBox="1"/>
          <p:nvPr/>
        </p:nvSpPr>
        <p:spPr>
          <a:xfrm>
            <a:off x="1434066" y="5135134"/>
            <a:ext cx="6965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Bahnschrift Condensed" panose="020B0502040204020203" pitchFamily="34" charset="0"/>
              </a:rPr>
              <a:t>ЕСЛИ ЕСТЬ ПРИНЯТИЕ, ТО СТРУКТУРА ЛИЧНОСТИ РАССМАТРИВАЕТСЯ НЕ КАК БОРЬБА, А КАК ПРОСТРАНСТВО РОСТА.</a:t>
            </a:r>
          </a:p>
        </p:txBody>
      </p:sp>
      <p:sp>
        <p:nvSpPr>
          <p:cNvPr id="10" name="Звезда: 4 точки 9">
            <a:extLst>
              <a:ext uri="{FF2B5EF4-FFF2-40B4-BE49-F238E27FC236}">
                <a16:creationId xmlns:a16="http://schemas.microsoft.com/office/drawing/2014/main" id="{32E8883B-3000-49E7-98CC-378212D10FF9}"/>
              </a:ext>
            </a:extLst>
          </p:cNvPr>
          <p:cNvSpPr/>
          <p:nvPr/>
        </p:nvSpPr>
        <p:spPr>
          <a:xfrm>
            <a:off x="1063849" y="5135134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везда: 4 точки 10">
            <a:extLst>
              <a:ext uri="{FF2B5EF4-FFF2-40B4-BE49-F238E27FC236}">
                <a16:creationId xmlns:a16="http://schemas.microsoft.com/office/drawing/2014/main" id="{31F04301-1C79-4344-A757-E7C539B78329}"/>
              </a:ext>
            </a:extLst>
          </p:cNvPr>
          <p:cNvSpPr/>
          <p:nvPr/>
        </p:nvSpPr>
        <p:spPr>
          <a:xfrm>
            <a:off x="521239" y="3125089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везда: 4 точки 11">
            <a:extLst>
              <a:ext uri="{FF2B5EF4-FFF2-40B4-BE49-F238E27FC236}">
                <a16:creationId xmlns:a16="http://schemas.microsoft.com/office/drawing/2014/main" id="{FD21464E-B3E4-4605-98C6-003B1DB0D990}"/>
              </a:ext>
            </a:extLst>
          </p:cNvPr>
          <p:cNvSpPr/>
          <p:nvPr/>
        </p:nvSpPr>
        <p:spPr>
          <a:xfrm>
            <a:off x="534400" y="781487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C649624-1362-4067-868E-371CC1CBFD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1"/>
          <a:stretch/>
        </p:blipFill>
        <p:spPr>
          <a:xfrm>
            <a:off x="8252769" y="1000052"/>
            <a:ext cx="3471134" cy="4217407"/>
          </a:xfrm>
          <a:prstGeom prst="rect">
            <a:avLst/>
          </a:prstGeom>
        </p:spPr>
      </p:pic>
      <p:sp>
        <p:nvSpPr>
          <p:cNvPr id="20" name="Блок-схема: задержка 19">
            <a:extLst>
              <a:ext uri="{FF2B5EF4-FFF2-40B4-BE49-F238E27FC236}">
                <a16:creationId xmlns:a16="http://schemas.microsoft.com/office/drawing/2014/main" id="{AC0EC49F-8ADC-41D8-B9B6-EF19F497831F}"/>
              </a:ext>
            </a:extLst>
          </p:cNvPr>
          <p:cNvSpPr/>
          <p:nvPr/>
        </p:nvSpPr>
        <p:spPr>
          <a:xfrm>
            <a:off x="8254924" y="1230828"/>
            <a:ext cx="485664" cy="831054"/>
          </a:xfrm>
          <a:prstGeom prst="flowChartDelay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162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742118-7C52-475A-BF63-4A3CA42EE704}"/>
              </a:ext>
            </a:extLst>
          </p:cNvPr>
          <p:cNvSpPr/>
          <p:nvPr/>
        </p:nvSpPr>
        <p:spPr>
          <a:xfrm>
            <a:off x="0" y="-9144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11DCA5-807D-4683-B4E5-9EA39C624EE8}"/>
              </a:ext>
            </a:extLst>
          </p:cNvPr>
          <p:cNvSpPr/>
          <p:nvPr/>
        </p:nvSpPr>
        <p:spPr>
          <a:xfrm>
            <a:off x="248920" y="223520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solidFill>
                <a:schemeClr val="tx1"/>
              </a:solidFill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7C0E4-57A3-4BBA-B048-33E8CBBA4630}"/>
              </a:ext>
            </a:extLst>
          </p:cNvPr>
          <p:cNvSpPr txBox="1"/>
          <p:nvPr/>
        </p:nvSpPr>
        <p:spPr>
          <a:xfrm>
            <a:off x="1365813" y="406400"/>
            <a:ext cx="7747707" cy="6152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ОРДОН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ОЛПОРТ (ДИСПОЗИЦИОНАЛЬНЫЙ ПОДХОД)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ЛИЧНОСТЬ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набор черт (диспозиций).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ЛИЧНОСТНЫЕ ДИСПОЗИЦИИТ 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уникальные для человека.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ОБЩИЕ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черты – можно сравнивать людей.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ПРОПРИУМ</a:t>
            </a:r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чувство «Я» (близко к идентичности).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ГАНС АЙЗЕНК (ФАКТОРНЫЙ ПОДХОД)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СУПЕРЧЕРТЫ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экстраверсия, </a:t>
            </a:r>
            <a:r>
              <a:rPr lang="ru-RU" dirty="0" err="1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нейротизм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психотизм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ИЕРАРХИЯ СТРУКТУРЫ ЛИЧНОСТИ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черты низшего уровня → привычки → </a:t>
            </a:r>
            <a:r>
              <a:rPr lang="ru-RU" dirty="0" err="1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суперчерты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dirty="0">
              <a:solidFill>
                <a:schemeClr val="tx1"/>
              </a:solidFill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АЛЬБЕРТ БАНДУРА (СОЦИАЛЬНО-КОГНИТИВНЫЙ ПОДХОД)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ВЗАИМНЫЙ ДЕТЕРМИНИЗМ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личность ↔ поведение ↔ среда влияют друг на друга.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САМОЭФФЕКТИВНОСТЬ</a:t>
            </a:r>
            <a:r>
              <a:rPr lang="ru-RU" dirty="0">
                <a:solidFill>
                  <a:schemeClr val="tx1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вера в свои силы.</a:t>
            </a:r>
          </a:p>
          <a:p>
            <a:pPr algn="just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EF235-901C-4731-9AEB-58517230C6C1}"/>
              </a:ext>
            </a:extLst>
          </p:cNvPr>
          <p:cNvSpPr txBox="1"/>
          <p:nvPr/>
        </p:nvSpPr>
        <p:spPr>
          <a:xfrm>
            <a:off x="8965001" y="1063650"/>
            <a:ext cx="1861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И ДР.</a:t>
            </a:r>
          </a:p>
        </p:txBody>
      </p:sp>
      <p:sp>
        <p:nvSpPr>
          <p:cNvPr id="7" name="Звезда: 4 точки 6">
            <a:extLst>
              <a:ext uri="{FF2B5EF4-FFF2-40B4-BE49-F238E27FC236}">
                <a16:creationId xmlns:a16="http://schemas.microsoft.com/office/drawing/2014/main" id="{1538A1AE-CF69-4CA5-9D7F-00687BCF4B6C}"/>
              </a:ext>
            </a:extLst>
          </p:cNvPr>
          <p:cNvSpPr/>
          <p:nvPr/>
        </p:nvSpPr>
        <p:spPr>
          <a:xfrm>
            <a:off x="723696" y="1440935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Звезда: 4 точки 7">
            <a:extLst>
              <a:ext uri="{FF2B5EF4-FFF2-40B4-BE49-F238E27FC236}">
                <a16:creationId xmlns:a16="http://schemas.microsoft.com/office/drawing/2014/main" id="{4C888401-18B8-46CF-B2F4-3DB121660B4A}"/>
              </a:ext>
            </a:extLst>
          </p:cNvPr>
          <p:cNvSpPr/>
          <p:nvPr/>
        </p:nvSpPr>
        <p:spPr>
          <a:xfrm>
            <a:off x="515315" y="1149853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везда: 4 точки 9">
            <a:extLst>
              <a:ext uri="{FF2B5EF4-FFF2-40B4-BE49-F238E27FC236}">
                <a16:creationId xmlns:a16="http://schemas.microsoft.com/office/drawing/2014/main" id="{5F25FE57-8995-4975-AE00-11D11B7AF6C5}"/>
              </a:ext>
            </a:extLst>
          </p:cNvPr>
          <p:cNvSpPr/>
          <p:nvPr/>
        </p:nvSpPr>
        <p:spPr>
          <a:xfrm>
            <a:off x="791215" y="1027453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везда: 4 точки 10">
            <a:extLst>
              <a:ext uri="{FF2B5EF4-FFF2-40B4-BE49-F238E27FC236}">
                <a16:creationId xmlns:a16="http://schemas.microsoft.com/office/drawing/2014/main" id="{30AD8800-69E8-4D0F-A0A3-7DE8D3D02E5E}"/>
              </a:ext>
            </a:extLst>
          </p:cNvPr>
          <p:cNvSpPr/>
          <p:nvPr/>
        </p:nvSpPr>
        <p:spPr>
          <a:xfrm>
            <a:off x="742781" y="3531674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Звезда: 4 точки 11">
            <a:extLst>
              <a:ext uri="{FF2B5EF4-FFF2-40B4-BE49-F238E27FC236}">
                <a16:creationId xmlns:a16="http://schemas.microsoft.com/office/drawing/2014/main" id="{84A62BB6-5924-4CCC-97EF-59D7DA7F3DA5}"/>
              </a:ext>
            </a:extLst>
          </p:cNvPr>
          <p:cNvSpPr/>
          <p:nvPr/>
        </p:nvSpPr>
        <p:spPr>
          <a:xfrm>
            <a:off x="534400" y="3240592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везда: 4 точки 12">
            <a:extLst>
              <a:ext uri="{FF2B5EF4-FFF2-40B4-BE49-F238E27FC236}">
                <a16:creationId xmlns:a16="http://schemas.microsoft.com/office/drawing/2014/main" id="{A5F4AF1D-1C63-4D96-B332-73A8B0102572}"/>
              </a:ext>
            </a:extLst>
          </p:cNvPr>
          <p:cNvSpPr/>
          <p:nvPr/>
        </p:nvSpPr>
        <p:spPr>
          <a:xfrm>
            <a:off x="810300" y="3118192"/>
            <a:ext cx="370217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Звезда: 4 точки 13">
            <a:extLst>
              <a:ext uri="{FF2B5EF4-FFF2-40B4-BE49-F238E27FC236}">
                <a16:creationId xmlns:a16="http://schemas.microsoft.com/office/drawing/2014/main" id="{696C14D8-3AB8-4748-A705-10EE11F0F905}"/>
              </a:ext>
            </a:extLst>
          </p:cNvPr>
          <p:cNvSpPr/>
          <p:nvPr/>
        </p:nvSpPr>
        <p:spPr>
          <a:xfrm>
            <a:off x="742781" y="5446635"/>
            <a:ext cx="308586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Звезда: 4 точки 14">
            <a:extLst>
              <a:ext uri="{FF2B5EF4-FFF2-40B4-BE49-F238E27FC236}">
                <a16:creationId xmlns:a16="http://schemas.microsoft.com/office/drawing/2014/main" id="{B5341741-A0F8-467C-AA7E-8E534972FB2E}"/>
              </a:ext>
            </a:extLst>
          </p:cNvPr>
          <p:cNvSpPr/>
          <p:nvPr/>
        </p:nvSpPr>
        <p:spPr>
          <a:xfrm>
            <a:off x="534400" y="5155553"/>
            <a:ext cx="308586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Звезда: 4 точки 15">
            <a:extLst>
              <a:ext uri="{FF2B5EF4-FFF2-40B4-BE49-F238E27FC236}">
                <a16:creationId xmlns:a16="http://schemas.microsoft.com/office/drawing/2014/main" id="{8538E437-2436-406E-94E6-C86187CD3C00}"/>
              </a:ext>
            </a:extLst>
          </p:cNvPr>
          <p:cNvSpPr/>
          <p:nvPr/>
        </p:nvSpPr>
        <p:spPr>
          <a:xfrm>
            <a:off x="810300" y="5033153"/>
            <a:ext cx="308586" cy="375462"/>
          </a:xfrm>
          <a:prstGeom prst="star4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D090A6D-09E6-469C-A07B-BA474F56D371}"/>
              </a:ext>
            </a:extLst>
          </p:cNvPr>
          <p:cNvSpPr/>
          <p:nvPr/>
        </p:nvSpPr>
        <p:spPr>
          <a:xfrm>
            <a:off x="11185887" y="2211960"/>
            <a:ext cx="900933" cy="22570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B6B6A18-87FF-4B51-AA21-7A065262C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559" y="1878300"/>
            <a:ext cx="2771104" cy="277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27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602E5E-43D0-4E14-A698-A3BED3CCBC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7EBCA9-CBF2-4768-B5D4-6570C73B61C7}"/>
              </a:ext>
            </a:extLst>
          </p:cNvPr>
          <p:cNvSpPr/>
          <p:nvPr/>
        </p:nvSpPr>
        <p:spPr>
          <a:xfrm>
            <a:off x="248920" y="328949"/>
            <a:ext cx="11694160" cy="6228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solidFill>
                <a:schemeClr val="tx1"/>
              </a:solidFill>
              <a:effectLst/>
              <a:latin typeface="Bahnschrift 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09DEE22-AB7C-44F7-86B8-642C944B1E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7" b="23596"/>
          <a:stretch/>
        </p:blipFill>
        <p:spPr>
          <a:xfrm>
            <a:off x="426720" y="591026"/>
            <a:ext cx="5540241" cy="559525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88E89-9FD2-44BA-AE3E-5CF775C05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671717"/>
            <a:ext cx="6583680" cy="1325563"/>
          </a:xfrm>
        </p:spPr>
        <p:txBody>
          <a:bodyPr>
            <a:normAutofit/>
          </a:bodyPr>
          <a:lstStyle/>
          <a:p>
            <a:r>
              <a:rPr lang="ru-RU" sz="6000" b="1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СПАСИБО ЗА ВНИМАНИЕ!!</a:t>
            </a:r>
          </a:p>
        </p:txBody>
      </p:sp>
    </p:spTree>
    <p:extLst>
      <p:ext uri="{BB962C8B-B14F-4D97-AF65-F5344CB8AC3E}">
        <p14:creationId xmlns:p14="http://schemas.microsoft.com/office/powerpoint/2010/main" val="4145083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1200</Words>
  <Application>Microsoft Office PowerPoint</Application>
  <PresentationFormat>Широкоэкранный</PresentationFormat>
  <Paragraphs>163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Bahnschrift Condensed</vt:lpstr>
      <vt:lpstr>Calibri</vt:lpstr>
      <vt:lpstr>Calibri Light</vt:lpstr>
      <vt:lpstr>Wingdings</vt:lpstr>
      <vt:lpstr>Тема Office</vt:lpstr>
      <vt:lpstr>СТРУКТУРА ЛИЧНОСТИ. ОСНОВНЫЕ ТЕОРИИ И КОНЦЕПЦИИ ЛИЧНОСТИ  (З. ФРЕЙД, ДЖ. КЕЛЛИ И ДР.)   </vt:lpstr>
      <vt:lpstr>ЗИГМУНД ФРЕЙД (1856–1939) – ПСИХОАНАЛИТИЧЕСКИЙ ПОДХОД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ДЖОРДЖ КЕЛЛИ (1905–1967) – КОГНИТИВНЫЙ ПОДХОД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ЛИЧНОСТИ. ОСНОВНЫЕ ТЕОРИИ И КОНЦЕПЦИИ ЛИЧНОСТИ  (З. ФРЕЙД, ДЖ. КЕЛЛИ И ДР.)</dc:title>
  <dc:creator>COMP</dc:creator>
  <cp:lastModifiedBy>COMP</cp:lastModifiedBy>
  <cp:revision>48</cp:revision>
  <dcterms:created xsi:type="dcterms:W3CDTF">2026-05-31T09:38:39Z</dcterms:created>
  <dcterms:modified xsi:type="dcterms:W3CDTF">2026-06-01T01:24:07Z</dcterms:modified>
</cp:coreProperties>
</file>
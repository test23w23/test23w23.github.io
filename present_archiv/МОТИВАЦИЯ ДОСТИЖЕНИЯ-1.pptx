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4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740D6-3CBC-4873-BBA7-C6A714F5A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DC1B8E-AFE8-4A3C-8D05-6D48D59DD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4E7FBC-AA2B-499F-AC7C-E4924E45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49BDB7-3DF0-4859-9E98-75CDB287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1476C8-6A10-45D1-B164-0F81F3F1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369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8CCDD3-4745-4376-BBC6-C9382A6BE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2C1508-2C52-4A2A-AB76-F104575DB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2645C4-56CB-40A4-AF67-8162135A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EAD3AD-803A-4BF1-8EA6-90799BBE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E00754-847F-492A-9E24-D6639437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48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190CF6-03DA-4E23-9489-0BC2B5847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B6EE73-4CD3-49FE-8C98-2B2EC6665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20E569-60CA-494E-99D0-541A51D6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8F9C77-32CD-42E7-8F41-9F1A8BFA1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AE5521-1BB5-4799-A1B0-6C7C747F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92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F3408-AE49-4BC2-943A-05085358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26056B-686C-425B-9600-D0EF76EA56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0DB14D-6FB9-465A-A817-ABA98E5B1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3840AF-8F27-49D0-9C71-EF5B73878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E927BB-6625-4014-9714-D6039CC8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739DF0-3600-499F-BC65-7634795D6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842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A7767-4DC1-4007-97EF-0360AA6A4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08AE3C-91D8-4483-999F-735181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AA764A-8DA8-4F4D-B963-7818344F7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1D0EDD0-9C69-40D2-8968-0F1AAAD1EA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AE1A09-44E7-454E-B3CC-13A20D846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B5D237-2C37-47DA-BAB1-582EEA1C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A5D6337-E8E0-49A8-B7B9-E2EAA43A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C564C1-517C-404C-8681-BD9C77F8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98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433F5-6159-4AB3-9569-72FFEE8EC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E14D95-6185-435F-81BC-9AF5973E6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572BD1-EFF1-43A7-9621-121D9CBAB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E3CEECA-A24B-468D-BC80-D25D9A40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97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31D28F-26C3-45C9-8049-89C37FD44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BC9ABD0-4BD2-4FC6-A60A-1C5C5853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7BCAAD-12F9-4E1C-A274-0A513F5F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44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9320E7-5772-4A8D-9236-43C6B1646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137C0D-0C35-48A5-835D-29BE6C067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A710CD-4664-41A0-BCBD-F9A8E31F8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586997-46CA-4716-80A1-42C22F53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723076-2D46-4B06-B189-FA681E44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EAB220-C078-42A6-B96F-349A8CB1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894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069D-C8E3-4D37-90F8-379A46AA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335CEE-92B0-451E-B18D-BFF7C0EC8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0365B6-95B3-4418-B197-45ED32512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81B52A-7172-4B3C-B1CA-2567912E6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A39440-5873-48D6-BD74-14CBC6813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0C3AEB-51A8-4A7E-AF80-28E639AE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8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7C13C0-45F7-4D21-A1D8-FF4EB2FD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794E60-2FA9-4409-8820-84B0E76A4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F57315-21BF-42D4-A702-AF1ED85B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A7A2B5-9F77-40F9-9459-9D4858D4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3EC33-63F0-415D-A2B0-974A77D2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74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E0C1DDD-E87A-4EBA-802F-FD54295C7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40E5D5-6DAF-45D4-9A5D-64287599D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BBD252-83B0-43A9-B090-CFBA41EE8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E03B22-AC1A-42E5-A1F4-BE6C7C00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670B7C-A771-4E14-8988-52C1A04D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150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88FA7D-4152-415B-9E69-AE19DBC14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02D04F-8556-4480-986A-8E2A2E1EA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0D1E08-FDE5-4B27-B204-590B0D6E21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F84FB-6972-4494-B7BF-21D5CFB8D61E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9AE33B-13B4-48A0-92B1-0104584C2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9663AC-E33C-4F3B-ABFB-7D4B43A34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485F4-26A7-405C-9826-6F1DE65A33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22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1BAE720-1CF4-47C0-B158-600972DD5F87}"/>
              </a:ext>
            </a:extLst>
          </p:cNvPr>
          <p:cNvSpPr/>
          <p:nvPr/>
        </p:nvSpPr>
        <p:spPr>
          <a:xfrm>
            <a:off x="452718" y="412376"/>
            <a:ext cx="11286564" cy="5943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D456B78-0BC8-46DF-9B88-AC60258BF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5357"/>
            <a:ext cx="9144000" cy="3016904"/>
          </a:xfr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3200" dirty="0">
                <a:latin typeface="Bahnschrift SemiCondensed" panose="020B0502040204020203" pitchFamily="34" charset="0"/>
              </a:rPr>
              <a:t>МОТИВАЦИЯ ДОСТИЖЕНИЯ </a:t>
            </a:r>
            <a:br>
              <a:rPr lang="ru-RU" sz="3200" dirty="0">
                <a:latin typeface="Bahnschrift SemiCondensed" panose="020B0502040204020203" pitchFamily="34" charset="0"/>
              </a:rPr>
            </a:br>
            <a:r>
              <a:rPr lang="ru-RU" sz="3200" dirty="0">
                <a:latin typeface="Bahnschrift SemiCondensed" panose="020B0502040204020203" pitchFamily="34" charset="0"/>
              </a:rPr>
              <a:t>И</a:t>
            </a:r>
            <a:br>
              <a:rPr lang="ru-RU" sz="3200" dirty="0">
                <a:latin typeface="Bahnschrift SemiCondensed" panose="020B0502040204020203" pitchFamily="34" charset="0"/>
              </a:rPr>
            </a:br>
            <a:r>
              <a:rPr lang="ru-RU" sz="3200" dirty="0">
                <a:latin typeface="Bahnschrift SemiCondensed" panose="020B0502040204020203" pitchFamily="34" charset="0"/>
              </a:rPr>
              <a:t>МОТИВАЦИЯ ИЗБЕГАНИЯ НЕУДАЧ</a:t>
            </a:r>
            <a:br>
              <a:rPr lang="ru-RU" sz="3200" dirty="0">
                <a:latin typeface="Bahnschrift SemiCondensed" panose="020B0502040204020203" pitchFamily="34" charset="0"/>
              </a:rPr>
            </a:br>
            <a:br>
              <a:rPr lang="ru-RU" sz="3200" dirty="0">
                <a:latin typeface="Bahnschrift SemiCondensed" panose="020B0502040204020203" pitchFamily="34" charset="0"/>
              </a:rPr>
            </a:br>
            <a:r>
              <a:rPr lang="ru-RU" sz="3200" dirty="0">
                <a:latin typeface="Bahnschrift SemiCondensed" panose="020B0502040204020203" pitchFamily="34" charset="0"/>
              </a:rPr>
              <a:t>(Х. ХЕКХАУЗЕН, К. ЛЕВИН, Ф. ХОППЕ И ДР.)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391C3E27-7113-4F71-9440-AF4C939DDF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4729484"/>
            <a:ext cx="9144000" cy="774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Bahnschrift Light SemiCondensed" panose="020B0502040204020203" pitchFamily="34" charset="0"/>
              </a:rPr>
              <a:t>РАБОТА </a:t>
            </a:r>
            <a:r>
              <a:rPr lang="ru-RU" sz="2000" b="1">
                <a:latin typeface="Bahnschrift Light SemiCondensed" panose="020B0502040204020203" pitchFamily="34" charset="0"/>
              </a:rPr>
              <a:t>ВЫПОЛНЕНА СТУДЕНТАМИ ГРУППЫ 0-24-11 ФАЯ</a:t>
            </a:r>
          </a:p>
          <a:p>
            <a:r>
              <a:rPr lang="ru-RU" sz="2000" b="1">
                <a:latin typeface="Bahnschrift Light SemiCondensed" panose="020B0502040204020203" pitchFamily="34" charset="0"/>
              </a:rPr>
              <a:t>АФИНОГЕНОВОЙ </a:t>
            </a:r>
            <a:r>
              <a:rPr lang="ru-RU" sz="2000" b="1" dirty="0">
                <a:latin typeface="Bahnschrift Light SemiCondensed" panose="020B0502040204020203" pitchFamily="34" charset="0"/>
              </a:rPr>
              <a:t>ВЛАДИСЛАВОЙ И КИРИЛЛОВОЙ СТЕФАНИЕЙ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C81FA5-47F0-469B-BD7F-4F9F0D886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4" y="321"/>
            <a:ext cx="1515036" cy="1515036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5667E72-4707-4721-ADE3-3FA9D605E150}"/>
              </a:ext>
            </a:extLst>
          </p:cNvPr>
          <p:cNvCxnSpPr>
            <a:cxnSpLocks/>
          </p:cNvCxnSpPr>
          <p:nvPr/>
        </p:nvCxnSpPr>
        <p:spPr>
          <a:xfrm>
            <a:off x="1524000" y="0"/>
            <a:ext cx="0" cy="1595718"/>
          </a:xfrm>
          <a:prstGeom prst="line">
            <a:avLst/>
          </a:prstGeom>
          <a:ln w="3810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39E6C88-A2DF-4468-BB3F-1FB45056AE3C}"/>
              </a:ext>
            </a:extLst>
          </p:cNvPr>
          <p:cNvCxnSpPr>
            <a:cxnSpLocks/>
          </p:cNvCxnSpPr>
          <p:nvPr/>
        </p:nvCxnSpPr>
        <p:spPr>
          <a:xfrm>
            <a:off x="0" y="1515357"/>
            <a:ext cx="1524000" cy="0"/>
          </a:xfrm>
          <a:prstGeom prst="line">
            <a:avLst/>
          </a:prstGeom>
          <a:ln w="3810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0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109E2-6A12-48DD-87BB-7E49B2315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47" y="452718"/>
            <a:ext cx="3932237" cy="1600200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КУРТ ЛЕВИН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dirty="0">
                <a:latin typeface="Bahnschrift SemiBold Condensed" panose="020B0502040204020203" pitchFamily="34" charset="0"/>
              </a:rPr>
              <a:t>(1890–1947) 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C7F5C93-848F-43C7-81B7-7A858F6FD0DB}"/>
              </a:ext>
            </a:extLst>
          </p:cNvPr>
          <p:cNvSpPr txBox="1">
            <a:spLocks/>
          </p:cNvSpPr>
          <p:nvPr/>
        </p:nvSpPr>
        <p:spPr>
          <a:xfrm>
            <a:off x="1120587" y="2191871"/>
            <a:ext cx="4518213" cy="3536576"/>
          </a:xfrm>
          <a:prstGeom prst="rect">
            <a:avLst/>
          </a:prstGeom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latin typeface="Bahnschrift SemiCondensed" panose="020B0502040204020203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3441F9-F876-4A5D-AE9C-4558D8656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34280" y="2469777"/>
            <a:ext cx="3932237" cy="3058552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sz="2000" dirty="0">
                <a:latin typeface="Bahnschrift Light SemiCondensed" panose="020B0502040204020203" pitchFamily="34" charset="0"/>
              </a:rPr>
              <a:t>Основоположник </a:t>
            </a:r>
            <a:r>
              <a:rPr lang="ru-RU" sz="2000" b="1" dirty="0">
                <a:latin typeface="Bahnschrift Light SemiCondensed" panose="020B0502040204020203" pitchFamily="34" charset="0"/>
              </a:rPr>
              <a:t>теории поля</a:t>
            </a:r>
            <a:r>
              <a:rPr lang="ru-RU" sz="2000" dirty="0">
                <a:latin typeface="Bahnschrift Light SemiCondensed" panose="020B0502040204020203" pitchFamily="34" charset="0"/>
              </a:rPr>
              <a:t>;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sz="2000" b="1" dirty="0">
                <a:latin typeface="Bahnschrift Light SemiCondensed" panose="020B0502040204020203" pitchFamily="34" charset="0"/>
              </a:rPr>
              <a:t>Поведение</a:t>
            </a:r>
            <a:r>
              <a:rPr lang="ru-RU" sz="2000" dirty="0">
                <a:latin typeface="Bahnschrift Light SemiCondensed" panose="020B0502040204020203" pitchFamily="34" charset="0"/>
              </a:rPr>
              <a:t> – это функция личности человека и его окружающей среды;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sz="2000" b="1" dirty="0">
                <a:latin typeface="Bahnschrift Light SemiCondensed" panose="020B0502040204020203" pitchFamily="34" charset="0"/>
              </a:rPr>
              <a:t>Уровень притязаний </a:t>
            </a:r>
            <a:r>
              <a:rPr lang="ru-RU" sz="2000" dirty="0">
                <a:latin typeface="Bahnschrift Light SemiCondensed" panose="020B0502040204020203" pitchFamily="34" charset="0"/>
              </a:rPr>
              <a:t>— та степень сложности цели, которую человек ставит перед собой, зная результаты своих предыдущих действий.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ru-RU" sz="2000" dirty="0">
              <a:latin typeface="Bahnschrift Light SemiCondensed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FD4B212-C5E8-4935-9CDB-5292D4148CF3}"/>
              </a:ext>
            </a:extLst>
          </p:cNvPr>
          <p:cNvSpPr/>
          <p:nvPr/>
        </p:nvSpPr>
        <p:spPr>
          <a:xfrm>
            <a:off x="6431281" y="955040"/>
            <a:ext cx="4328160" cy="527304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7EDDC8BA-59BC-401D-A1A1-4A99D760EF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790" y="1137834"/>
            <a:ext cx="3929391" cy="4866638"/>
          </a:xfrm>
        </p:spPr>
      </p:pic>
    </p:spTree>
    <p:extLst>
      <p:ext uri="{BB962C8B-B14F-4D97-AF65-F5344CB8AC3E}">
        <p14:creationId xmlns:p14="http://schemas.microsoft.com/office/powerpoint/2010/main" val="238888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1DB8AEF-823B-46EB-8512-486D26B5D710}"/>
              </a:ext>
            </a:extLst>
          </p:cNvPr>
          <p:cNvSpPr txBox="1">
            <a:spLocks/>
          </p:cNvSpPr>
          <p:nvPr/>
        </p:nvSpPr>
        <p:spPr>
          <a:xfrm>
            <a:off x="675692" y="3429000"/>
            <a:ext cx="10840615" cy="2705879"/>
          </a:xfrm>
          <a:prstGeom prst="rect">
            <a:avLst/>
          </a:prstGeom>
          <a:ln w="3810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latin typeface="Bahnschrift SemiCondensed" panose="020B0502040204020203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A5E3A7-FE34-47F1-968A-D2F8ABE0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992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ТЕОРИЯ ПОЛЯ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D8EC59-A337-4518-8296-4BF593049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5843"/>
            <a:ext cx="6091518" cy="72035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4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Поведение человека </a:t>
            </a:r>
            <a:r>
              <a:rPr lang="ru-RU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это функция от </a:t>
            </a:r>
            <a:r>
              <a:rPr lang="ru-RU" sz="2400" dirty="0"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</a:t>
            </a:r>
            <a:r>
              <a:rPr lang="ru-RU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личности» и «окружения», взятых вместе в данный момент.  </a:t>
            </a:r>
          </a:p>
          <a:p>
            <a:pPr algn="just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62B80B-1FE0-4515-9A3D-4C694A7377FC}"/>
              </a:ext>
            </a:extLst>
          </p:cNvPr>
          <p:cNvSpPr txBox="1"/>
          <p:nvPr/>
        </p:nvSpPr>
        <p:spPr>
          <a:xfrm>
            <a:off x="1129782" y="4054261"/>
            <a:ext cx="2371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Bahnschrift SemiBold Condensed" panose="020B0502040204020203" pitchFamily="34" charset="0"/>
              </a:rPr>
              <a:t>ФОРМУЛА ЛЕВИНА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2EDCA-FC17-4B71-9DB2-9CEDFBDAD8B8}"/>
              </a:ext>
            </a:extLst>
          </p:cNvPr>
          <p:cNvSpPr txBox="1"/>
          <p:nvPr/>
        </p:nvSpPr>
        <p:spPr>
          <a:xfrm>
            <a:off x="3310216" y="4054261"/>
            <a:ext cx="3702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B = f(P, E)</a:t>
            </a:r>
            <a:endParaRPr lang="ru-RU" sz="8000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5AB13-4235-49D5-A5A4-4634DF28F6DC}"/>
              </a:ext>
            </a:extLst>
          </p:cNvPr>
          <p:cNvSpPr txBox="1"/>
          <p:nvPr/>
        </p:nvSpPr>
        <p:spPr>
          <a:xfrm>
            <a:off x="7012641" y="4314807"/>
            <a:ext cx="4430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 –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поведение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</a:p>
          <a:p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 –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личность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(её потребности, цели, опыт), </a:t>
            </a:r>
          </a:p>
          <a:p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–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среда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(физическая и социальная)</a:t>
            </a:r>
            <a:endParaRPr lang="ru-RU" dirty="0">
              <a:latin typeface="Bahnschrift Light SemiCondensed" panose="020B0502040204020203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59BC65-D195-4DBC-8FBA-0AD9715227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1" t="22521" r="12595" b="14251"/>
          <a:stretch/>
        </p:blipFill>
        <p:spPr>
          <a:xfrm>
            <a:off x="8117632" y="199867"/>
            <a:ext cx="2500605" cy="361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6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1F62FE-0559-432F-9517-0BA7C0FF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0" y="252457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КЛЮЧЕВЫЕ ТЕРМИНЫ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C8F48C-EA8C-4314-8D91-8FC0D4D88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80" y="1719421"/>
            <a:ext cx="578104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dirty="0">
                <a:solidFill>
                  <a:srgbClr val="A9D18E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ЖИЗНЕННОЕ ПРОСТРАНСТВО</a:t>
            </a:r>
            <a:r>
              <a:rPr lang="ru-RU" sz="24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всё, что влияет на человека «здесь и сейчас». Это не только внешняя реальность, но и его желания, надежды, страхи, воспоминания (актуальные в данный момент).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400" b="1" dirty="0">
                <a:solidFill>
                  <a:srgbClr val="A9D18E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НАПРЯЖЕНИЕ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когда у человека есть неудовлетворённая потребность, система находится в состоянии неравновесия. Он стремится снизить напряжение (достичь цели, избежать угрозы).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solidFill>
                  <a:srgbClr val="A9D18E"/>
                </a:solidFill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ЛОКОМАЦИЯ</a:t>
            </a:r>
            <a:r>
              <a:rPr lang="ru-RU" sz="24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движение (реальное или в воображении) внутри поля, чтобы изменить соотношение сил и достичь равновесия.</a:t>
            </a:r>
            <a:endParaRPr lang="ru-RU" dirty="0">
              <a:latin typeface="Bahnschrift Light Semi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907646-014E-4D9C-8796-785994A37928}"/>
              </a:ext>
            </a:extLst>
          </p:cNvPr>
          <p:cNvSpPr txBox="1"/>
          <p:nvPr/>
        </p:nvSpPr>
        <p:spPr>
          <a:xfrm>
            <a:off x="6452497" y="1719421"/>
            <a:ext cx="5232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>
                <a:solidFill>
                  <a:srgbClr val="A9D18E"/>
                </a:solidFill>
                <a:latin typeface="Bahnschrift Light SemiCondensed" panose="020B0502040204020203" pitchFamily="34" charset="0"/>
              </a:rPr>
              <a:t>ПОЛЕ СИЛ </a:t>
            </a:r>
            <a:r>
              <a:rPr lang="ru-RU" dirty="0">
                <a:latin typeface="Bahnschrift Light SemiCondensed" panose="020B0502040204020203" pitchFamily="34" charset="0"/>
              </a:rPr>
              <a:t>– внутри жизненного пространства действуют силы, которые «толкают» человека к одним объектам и отталкивают от других.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12685-33B6-4B07-890E-EE51784ACF91}"/>
              </a:ext>
            </a:extLst>
          </p:cNvPr>
          <p:cNvSpPr txBox="1"/>
          <p:nvPr/>
        </p:nvSpPr>
        <p:spPr>
          <a:xfrm>
            <a:off x="7417697" y="2738587"/>
            <a:ext cx="386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3A39F-66A9-4700-9F1B-0548FC6A5D44}"/>
              </a:ext>
            </a:extLst>
          </p:cNvPr>
          <p:cNvSpPr txBox="1"/>
          <p:nvPr/>
        </p:nvSpPr>
        <p:spPr>
          <a:xfrm>
            <a:off x="6198497" y="3327787"/>
            <a:ext cx="3007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 притягателен</a:t>
            </a:r>
          </a:p>
          <a:p>
            <a:pPr algn="ctr"/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(например, вкусный торт)</a:t>
            </a:r>
            <a:endParaRPr lang="ru-RU" dirty="0">
              <a:latin typeface="Bahnschrift Light Semi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F7B47-F078-4781-9677-76A70940DF24}"/>
              </a:ext>
            </a:extLst>
          </p:cNvPr>
          <p:cNvSpPr txBox="1"/>
          <p:nvPr/>
        </p:nvSpPr>
        <p:spPr>
          <a:xfrm>
            <a:off x="10130417" y="2600144"/>
            <a:ext cx="386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2684F-8764-4E40-BBCB-578F4BFF5571}"/>
              </a:ext>
            </a:extLst>
          </p:cNvPr>
          <p:cNvSpPr txBox="1"/>
          <p:nvPr/>
        </p:nvSpPr>
        <p:spPr>
          <a:xfrm>
            <a:off x="8865497" y="3260269"/>
            <a:ext cx="3007360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spcAft>
                <a:spcPts val="800"/>
              </a:spcAft>
              <a:buNone/>
            </a:pP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 отвращает 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(например, наказание)</a:t>
            </a:r>
          </a:p>
          <a:p>
            <a:pPr marL="0" indent="0" algn="ctr">
              <a:spcAft>
                <a:spcPts val="800"/>
              </a:spcAft>
              <a:buNone/>
            </a:pP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21A5E219-EE9A-44C2-BC1F-F2E70D4450B8}"/>
              </a:ext>
            </a:extLst>
          </p:cNvPr>
          <p:cNvCxnSpPr>
            <a:cxnSpLocks/>
          </p:cNvCxnSpPr>
          <p:nvPr/>
        </p:nvCxnSpPr>
        <p:spPr>
          <a:xfrm>
            <a:off x="6355976" y="1473555"/>
            <a:ext cx="0" cy="4353504"/>
          </a:xfrm>
          <a:prstGeom prst="line">
            <a:avLst/>
          </a:prstGeom>
          <a:ln w="12700" cap="flat" cmpd="sng" algn="ctr">
            <a:solidFill>
              <a:schemeClr val="accent6">
                <a:lumMod val="40000"/>
                <a:lumOff val="6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45626E7-6B21-4EAF-BD76-6242F88118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1" b="4722"/>
          <a:stretch/>
        </p:blipFill>
        <p:spPr>
          <a:xfrm>
            <a:off x="8076456" y="4616717"/>
            <a:ext cx="1984482" cy="193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1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CA86B-AFC4-47C5-B5F2-FC85277C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552" y="-300873"/>
            <a:ext cx="3932237" cy="1600200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ЭКСПЕРИМЕНТ ЛЕВИНА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B26A16-6CCE-499F-A0B4-D0DF3559E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552" y="1514197"/>
            <a:ext cx="4342094" cy="2819386"/>
          </a:xfrm>
        </p:spPr>
        <p:txBody>
          <a:bodyPr>
            <a:normAutofit/>
          </a:bodyPr>
          <a:lstStyle/>
          <a:p>
            <a:pPr algn="just"/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Левин с учениками наблюдал, как усталый человек видит дверь:</a:t>
            </a:r>
          </a:p>
          <a:p>
            <a:pPr algn="just"/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если ему нужно выйти, дверь имеет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положительную валентность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</a:p>
          <a:p>
            <a:pPr algn="just"/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он хочет остаться и ему мешает сквозняк – та же дверь получает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отрицательную валентность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Поведение определяется не самой дверью, а её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местом в поле 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текущих потребностей.</a:t>
            </a:r>
          </a:p>
          <a:p>
            <a:pPr algn="just"/>
            <a:endParaRPr lang="ru-RU" dirty="0">
              <a:latin typeface="Bahnschrift Light SemiCondensed" panose="020B0502040204020203" pitchFamily="34" charset="0"/>
            </a:endParaRP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E34D1EC-770B-47E8-96F6-5F9A35BE6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" t="22179" r="3941" b="17848"/>
          <a:stretch/>
        </p:blipFill>
        <p:spPr>
          <a:xfrm>
            <a:off x="6065134" y="4333583"/>
            <a:ext cx="5721752" cy="246540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9B3DEF-93C6-491C-96FF-488EF7755A52}"/>
              </a:ext>
            </a:extLst>
          </p:cNvPr>
          <p:cNvSpPr txBox="1"/>
          <p:nvPr/>
        </p:nvSpPr>
        <p:spPr>
          <a:xfrm>
            <a:off x="5721753" y="2312763"/>
            <a:ext cx="5854237" cy="245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Задача имеет разную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«силу притяжения» 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зависимости от того, какой опыт успеха/неудачи у человека есть.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неудача слишком сильно повышает напряжение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(страх), </a:t>
            </a:r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человек уходит из поля 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выбирает либо лёгкое, либо непосильное задание, чтобы защитить себя.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/>
            <a:endParaRPr lang="ru-RU" dirty="0">
              <a:latin typeface="Bahnschrift Light Semi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D171A7-716F-46A1-AD1C-6E5A75312061}"/>
              </a:ext>
            </a:extLst>
          </p:cNvPr>
          <p:cNvSpPr txBox="1"/>
          <p:nvPr/>
        </p:nvSpPr>
        <p:spPr>
          <a:xfrm>
            <a:off x="6895306" y="830708"/>
            <a:ext cx="35071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latin typeface="Bahnschrift SemiBold Condensed" panose="020B0502040204020203" pitchFamily="34" charset="0"/>
              </a:rPr>
              <a:t>ТЕОРИЯ ПОЛЯ (К. ЛЕВИН) -</a:t>
            </a:r>
            <a:r>
              <a:rPr lang="en-US" sz="2800" dirty="0">
                <a:latin typeface="Bahnschrift SemiBold Condensed" panose="020B0502040204020203" pitchFamily="34" charset="0"/>
              </a:rPr>
              <a:t>&gt;</a:t>
            </a:r>
            <a:endParaRPr lang="ru-RU" sz="2800" dirty="0">
              <a:latin typeface="Bahnschrift SemiBold Condensed" panose="020B0502040204020203" pitchFamily="34" charset="0"/>
            </a:endParaRPr>
          </a:p>
          <a:p>
            <a:pPr algn="ctr"/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ru-RU" sz="2800" dirty="0">
                <a:latin typeface="Bahnschrift SemiBold Condensed" panose="020B0502040204020203" pitchFamily="34" charset="0"/>
              </a:rPr>
              <a:t>ТЕОРИЯ ПРИТЯЗАНИЙ </a:t>
            </a:r>
          </a:p>
          <a:p>
            <a:pPr algn="ctr"/>
            <a:r>
              <a:rPr lang="ru-RU" sz="2800" dirty="0">
                <a:latin typeface="Bahnschrift SemiBold Condensed" panose="020B0502040204020203" pitchFamily="34" charset="0"/>
              </a:rPr>
              <a:t>(Ф. ХОППЕ)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21FFE6-C30E-42B9-8A67-55D837B56C61}"/>
              </a:ext>
            </a:extLst>
          </p:cNvPr>
          <p:cNvSpPr txBox="1"/>
          <p:nvPr/>
        </p:nvSpPr>
        <p:spPr>
          <a:xfrm>
            <a:off x="412656" y="4544172"/>
            <a:ext cx="5316639" cy="1754326"/>
          </a:xfrm>
          <a:prstGeom prst="rect">
            <a:avLst/>
          </a:prstGeom>
          <a:noFill/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1800" b="1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ТЕОРИЯ ПОЛЯ ЛЕВИНА </a:t>
            </a:r>
            <a:r>
              <a:rPr lang="ru-RU" sz="1800" dirty="0">
                <a:effectLst/>
                <a:latin typeface="Bahnschrift Light SemiCondensed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это способ думать о поведении не как о свойстве характера, а как о мгновенном снимке всех сил (желаний, страхов, препятствий), которые действуют на человека в конкретной ситуации.</a:t>
            </a:r>
          </a:p>
          <a:p>
            <a:pPr algn="just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61E92-59BA-4BB7-BD28-62DB200CB55E}"/>
              </a:ext>
            </a:extLst>
          </p:cNvPr>
          <p:cNvSpPr txBox="1"/>
          <p:nvPr/>
        </p:nvSpPr>
        <p:spPr>
          <a:xfrm>
            <a:off x="7020560" y="4865111"/>
            <a:ext cx="325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Bahnschrift SemiBold Condensed" panose="020B0502040204020203" pitchFamily="34" charset="0"/>
              </a:rP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2B45B8-C534-4F29-81C0-103AA0035D72}"/>
              </a:ext>
            </a:extLst>
          </p:cNvPr>
          <p:cNvSpPr txBox="1"/>
          <p:nvPr/>
        </p:nvSpPr>
        <p:spPr>
          <a:xfrm>
            <a:off x="10183995" y="4796846"/>
            <a:ext cx="436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latin typeface="Bahnschrift SemiBold Condensed" panose="020B0502040204020203" pitchFamily="34" charset="0"/>
              </a:rPr>
              <a:t>-</a:t>
            </a:r>
          </a:p>
        </p:txBody>
      </p: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17694DAB-0729-42A7-86CB-FCFA7DE9DA13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251382" y="2923890"/>
            <a:ext cx="4714264" cy="1409694"/>
          </a:xfrm>
          <a:prstGeom prst="bentConnector3">
            <a:avLst>
              <a:gd name="adj1" fmla="val 104849"/>
            </a:avLst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BE5E0FBA-71CC-4CC8-98D1-28F71BEE3F9D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69275" y="4333583"/>
            <a:ext cx="3001701" cy="1964915"/>
          </a:xfrm>
          <a:prstGeom prst="bentConnector4">
            <a:avLst>
              <a:gd name="adj1" fmla="val 5720"/>
              <a:gd name="adj2" fmla="val 111634"/>
            </a:avLst>
          </a:prstGeom>
          <a:ln w="190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BF8B485-5B4B-43FC-A51D-F9E059DEEC37}"/>
              </a:ext>
            </a:extLst>
          </p:cNvPr>
          <p:cNvSpPr/>
          <p:nvPr/>
        </p:nvSpPr>
        <p:spPr>
          <a:xfrm>
            <a:off x="40486" y="3850281"/>
            <a:ext cx="182320" cy="7226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818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93C6DE-6015-49FB-A7B0-265B5FF9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28" y="497205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ФЕРДИНАНД ХОППЕ – ЭКСПЕРМЕНТ 1930 Г.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8B4D81-F5F3-4D2D-88F1-AD8D2949E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828" y="1681163"/>
            <a:ext cx="5157787" cy="823912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Bahnschrift SemiBold Condensed" panose="020B0502040204020203" pitchFamily="34" charset="0"/>
              </a:rPr>
              <a:t>ПОСЛЕ </a:t>
            </a:r>
            <a:r>
              <a:rPr lang="ru-RU" sz="3200" dirty="0">
                <a:solidFill>
                  <a:srgbClr val="A9D18E"/>
                </a:solidFill>
                <a:latin typeface="Bahnschrift SemiBold Condensed" panose="020B0502040204020203" pitchFamily="34" charset="0"/>
              </a:rPr>
              <a:t>УСПЕХА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C9413E-635B-41F2-9DA0-0F8930D87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15840" y="2605723"/>
            <a:ext cx="3733800" cy="1272857"/>
          </a:xfrm>
        </p:spPr>
        <p:txBody>
          <a:bodyPr>
            <a:normAutofit/>
          </a:bodyPr>
          <a:lstStyle/>
          <a:p>
            <a:pPr algn="just"/>
            <a:r>
              <a:rPr lang="ru-RU" sz="1800" b="1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снижал уровень 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(выбирал лёгкое задание),</a:t>
            </a:r>
          </a:p>
          <a:p>
            <a:pPr algn="just"/>
            <a:r>
              <a:rPr lang="ru-RU" sz="1800" b="1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ставил заведомо недостижимую цель 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(защитная реакция).</a:t>
            </a:r>
            <a:endParaRPr lang="ru-RU" sz="1800" dirty="0">
              <a:solidFill>
                <a:srgbClr val="0F1115"/>
              </a:solidFill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latin typeface="Bahnschrift Light SemiCondensed" panose="020B0502040204020203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D86411-4613-402C-B26A-1CB0F1514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15840" y="1681163"/>
            <a:ext cx="5183188" cy="823912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Bahnschrift SemiBold Condensed" panose="020B0502040204020203" pitchFamily="34" charset="0"/>
              </a:rPr>
              <a:t>ПОСЛЕ </a:t>
            </a:r>
            <a:r>
              <a:rPr lang="ru-RU" sz="3200" dirty="0">
                <a:solidFill>
                  <a:srgbClr val="A9D18E"/>
                </a:solidFill>
                <a:latin typeface="Bahnschrift SemiBold Condensed" panose="020B0502040204020203" pitchFamily="34" charset="0"/>
              </a:rPr>
              <a:t>НЕУДАЧИ</a:t>
            </a: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635F5A9-BEA4-466A-80CB-BDC1D258D05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7" t="14045" r="15858" b="36039"/>
          <a:stretch/>
        </p:blipFill>
        <p:spPr>
          <a:xfrm>
            <a:off x="8306315" y="4426109"/>
            <a:ext cx="3337046" cy="2431891"/>
          </a:xfrm>
        </p:spPr>
      </p:pic>
      <p:sp>
        <p:nvSpPr>
          <p:cNvPr id="9" name="Объект 3">
            <a:extLst>
              <a:ext uri="{FF2B5EF4-FFF2-40B4-BE49-F238E27FC236}">
                <a16:creationId xmlns:a16="http://schemas.microsoft.com/office/drawing/2014/main" id="{D02158E9-FB56-4459-9C65-EA48E240ADB3}"/>
              </a:ext>
            </a:extLst>
          </p:cNvPr>
          <p:cNvSpPr txBox="1">
            <a:spLocks/>
          </p:cNvSpPr>
          <p:nvPr/>
        </p:nvSpPr>
        <p:spPr>
          <a:xfrm>
            <a:off x="677228" y="2697163"/>
            <a:ext cx="3617912" cy="9239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dirty="0">
                <a:solidFill>
                  <a:srgbClr val="0F1115"/>
                </a:solidFill>
                <a:latin typeface="Bahnschrift Light SemiCondensed" panose="020B0502040204020203" pitchFamily="34" charset="0"/>
                <a:ea typeface="Times New Roman" panose="02020603050405020304" pitchFamily="18" charset="0"/>
              </a:rPr>
              <a:t>человек чаще </a:t>
            </a:r>
            <a:r>
              <a:rPr lang="ru-RU" sz="1800" b="1" dirty="0">
                <a:solidFill>
                  <a:srgbClr val="0F1115"/>
                </a:solidFill>
                <a:latin typeface="Bahnschrift Light SemiCondensed" panose="020B0502040204020203" pitchFamily="34" charset="0"/>
                <a:ea typeface="Times New Roman" panose="02020603050405020304" pitchFamily="18" charset="0"/>
              </a:rPr>
              <a:t>повышал уровень притязаний </a:t>
            </a:r>
          </a:p>
          <a:p>
            <a:pPr marL="0" indent="0" algn="just">
              <a:buNone/>
            </a:pPr>
            <a:r>
              <a:rPr lang="ru-RU" sz="1800" dirty="0">
                <a:solidFill>
                  <a:srgbClr val="0F1115"/>
                </a:solidFill>
                <a:latin typeface="Bahnschrift Light SemiCondensed" panose="020B0502040204020203" pitchFamily="34" charset="0"/>
                <a:ea typeface="Times New Roman" panose="02020603050405020304" pitchFamily="18" charset="0"/>
              </a:rPr>
              <a:t>(выбирал более сложное задание)</a:t>
            </a:r>
            <a:endParaRPr lang="ru-RU" dirty="0">
              <a:latin typeface="Bahnschrift Light SemiCondensed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E7862-56CB-4183-AD03-F63E1A9B2FBF}"/>
              </a:ext>
            </a:extLst>
          </p:cNvPr>
          <p:cNvSpPr txBox="1"/>
          <p:nvPr/>
        </p:nvSpPr>
        <p:spPr>
          <a:xfrm>
            <a:off x="677228" y="4342329"/>
            <a:ext cx="7613332" cy="2056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ru-RU" sz="1800" dirty="0">
                <a:solidFill>
                  <a:srgbClr val="A9D18E"/>
                </a:solidFill>
                <a:effectLst/>
                <a:latin typeface="Bahnschrift SemiBold 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РЕАЛИСТИЧНОГО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ТИПА: 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их </a:t>
            </a:r>
            <a:r>
              <a:rPr lang="ru-RU" sz="1800" b="1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уровень притязаний колебался вблизи реальных достижений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и они не боялись неудач.</a:t>
            </a:r>
            <a:endParaRPr lang="ru-RU" sz="1800" dirty="0">
              <a:solidFill>
                <a:srgbClr val="0F1115"/>
              </a:solidFill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1800" dirty="0">
                <a:solidFill>
                  <a:srgbClr val="A9D18E"/>
                </a:solidFill>
                <a:effectLst/>
                <a:latin typeface="Bahnschrift SemiBold 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НЕРЕАЛИСТИЧНЫЙ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ТИП: </a:t>
            </a:r>
            <a:r>
              <a:rPr lang="ru-RU" sz="1800" b="1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завышенный уровень 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притязаний после неудач (чтобы сохранить самооценку) или </a:t>
            </a:r>
            <a:r>
              <a:rPr lang="ru-RU" sz="1800" b="1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заниженный после </a:t>
            </a:r>
            <a:r>
              <a:rPr lang="ru-RU" sz="1800" dirty="0">
                <a:solidFill>
                  <a:srgbClr val="0F1115"/>
                </a:solidFill>
                <a:effectLst/>
                <a:latin typeface="Bahnschrift Light SemiCondensed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лёгкого успеха (боязнь следующих испытаний).</a:t>
            </a:r>
            <a:endParaRPr lang="ru-RU" sz="1800" dirty="0">
              <a:solidFill>
                <a:srgbClr val="0F1115"/>
              </a:solidFill>
              <a:effectLst/>
              <a:latin typeface="Bahnschrift Light SemiCondensed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>
              <a:latin typeface="Bahnschrift SemiBold Condensed" panose="020B0502040204020203" pitchFamily="34" charset="0"/>
            </a:endParaRPr>
          </a:p>
        </p:txBody>
      </p:sp>
      <p:cxnSp>
        <p:nvCxnSpPr>
          <p:cNvPr id="15" name="Соединитель: уступ 14">
            <a:extLst>
              <a:ext uri="{FF2B5EF4-FFF2-40B4-BE49-F238E27FC236}">
                <a16:creationId xmlns:a16="http://schemas.microsoft.com/office/drawing/2014/main" id="{58A7D128-CEB7-4B51-ADAB-FB6663E03E8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149789" y="4061014"/>
            <a:ext cx="4580963" cy="1013011"/>
          </a:xfrm>
          <a:prstGeom prst="bentConnector3">
            <a:avLst>
              <a:gd name="adj1" fmla="val 60568"/>
            </a:avLst>
          </a:prstGeom>
          <a:ln w="28575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3BD72BF-156C-4202-B8B7-9B4A25E9EE10}"/>
              </a:ext>
            </a:extLst>
          </p:cNvPr>
          <p:cNvSpPr/>
          <p:nvPr/>
        </p:nvSpPr>
        <p:spPr>
          <a:xfrm>
            <a:off x="9394955" y="1443831"/>
            <a:ext cx="2138792" cy="179832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Bahnschrift SemiBold Condensed" panose="020B0502040204020203" pitchFamily="34" charset="0"/>
              </a:rPr>
              <a:t>ФИКСАЦИЯ ФЕНОМЕНА</a:t>
            </a:r>
          </a:p>
        </p:txBody>
      </p:sp>
    </p:spTree>
    <p:extLst>
      <p:ext uri="{BB962C8B-B14F-4D97-AF65-F5344CB8AC3E}">
        <p14:creationId xmlns:p14="http://schemas.microsoft.com/office/powerpoint/2010/main" val="30722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03DE3-77F7-4831-BE82-AC19EA8E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40" y="334645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SemiBold Condensed" panose="020B0502040204020203" pitchFamily="34" charset="0"/>
              </a:rPr>
              <a:t>ТЕОРИЯ ДОСТИЖЕНИЯ МОТИВАЦИИ 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dirty="0">
                <a:latin typeface="Bahnschrift SemiBold Condensed" panose="020B0502040204020203" pitchFamily="34" charset="0"/>
              </a:rPr>
              <a:t>ХАЙНЦА ХЕКХАУЗЕНА </a:t>
            </a:r>
            <a:r>
              <a:rPr lang="ru-RU" b="0" i="0" dirty="0">
                <a:solidFill>
                  <a:srgbClr val="0F1115"/>
                </a:solidFill>
                <a:effectLst/>
                <a:latin typeface="Bahnschrift SemiBold Condensed" panose="020B0502040204020203" pitchFamily="34" charset="0"/>
              </a:rPr>
              <a:t>(1926–1998) </a:t>
            </a:r>
            <a:endParaRPr lang="ru-RU" dirty="0">
              <a:latin typeface="Bahnschrift SemiBold Condensed" panose="020B0502040204020203" pitchFamily="34" charset="0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5D79FA5B-B97D-4DA5-8C58-3FC1FF2FF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3176248"/>
              </p:ext>
            </p:extLst>
          </p:nvPr>
        </p:nvGraphicFramePr>
        <p:xfrm>
          <a:off x="675640" y="1899920"/>
          <a:ext cx="10165080" cy="443703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5092361">
                  <a:extLst>
                    <a:ext uri="{9D8B030D-6E8A-4147-A177-3AD203B41FA5}">
                      <a16:colId xmlns:a16="http://schemas.microsoft.com/office/drawing/2014/main" val="1482868512"/>
                    </a:ext>
                  </a:extLst>
                </a:gridCol>
                <a:gridCol w="5072719">
                  <a:extLst>
                    <a:ext uri="{9D8B030D-6E8A-4147-A177-3AD203B41FA5}">
                      <a16:colId xmlns:a16="http://schemas.microsoft.com/office/drawing/2014/main" val="2478155670"/>
                    </a:ext>
                  </a:extLst>
                </a:gridCol>
              </a:tblGrid>
              <a:tr h="892306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Bahnschrift SemiBold Condensed" panose="020B0502040204020203" pitchFamily="34" charset="0"/>
                        </a:rPr>
                        <a:t>МОТИВ ДОСТИЖЕНИЕ </a:t>
                      </a:r>
                    </a:p>
                    <a:p>
                      <a:pPr algn="ctr"/>
                      <a:r>
                        <a:rPr lang="ru-RU" sz="2800" dirty="0">
                          <a:latin typeface="Bahnschrift SemiBold Condensed" panose="020B0502040204020203" pitchFamily="34" charset="0"/>
                        </a:rPr>
                        <a:t>(НАДЕЖДА НА УСПЕХ)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latin typeface="Bahnschrift SemiBold Condensed" panose="020B0502040204020203" pitchFamily="34" charset="0"/>
                        </a:rPr>
                        <a:t>МОТИВ ИЗБЕГАНИЯ НЕУДАЧИ</a:t>
                      </a:r>
                    </a:p>
                    <a:p>
                      <a:pPr algn="ctr"/>
                      <a:r>
                        <a:rPr lang="ru-RU" sz="2800" dirty="0">
                          <a:latin typeface="Bahnschrift SemiBold Condensed" panose="020B0502040204020203" pitchFamily="34" charset="0"/>
                        </a:rPr>
                        <a:t>(СТРАХ НЕУДАЧИ)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00909"/>
                  </a:ext>
                </a:extLst>
              </a:tr>
              <a:tr h="694516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Bahnschrift Light SemiCondensed" panose="020B0502040204020203" pitchFamily="34" charset="0"/>
                        </a:rPr>
                        <a:t>Ориентация на </a:t>
                      </a:r>
                      <a:r>
                        <a:rPr lang="ru-RU" b="1" dirty="0">
                          <a:effectLst/>
                          <a:latin typeface="Bahnschrift Light SemiCondensed" panose="020B0502040204020203" pitchFamily="34" charset="0"/>
                        </a:rPr>
                        <a:t>положительный</a:t>
                      </a:r>
                      <a:r>
                        <a:rPr lang="ru-RU" b="0" dirty="0">
                          <a:effectLst/>
                          <a:latin typeface="Bahnschrift Light SemiCondensed" panose="020B0502040204020203" pitchFamily="34" charset="0"/>
                        </a:rPr>
                        <a:t> результат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Ориентация на </a:t>
                      </a:r>
                      <a:r>
                        <a:rPr lang="ru-RU" b="1">
                          <a:effectLst/>
                          <a:latin typeface="Bahnschrift Light SemiCondensed" panose="020B0502040204020203" pitchFamily="34" charset="0"/>
                        </a:rPr>
                        <a:t>отрицательный</a:t>
                      </a:r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 результат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59725381"/>
                  </a:ext>
                </a:extLst>
              </a:tr>
              <a:tr h="694516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Стремление испытать гордость, радость от успеха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Стремление избежать стыда, унижения, тревоги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568833981"/>
                  </a:ext>
                </a:extLst>
              </a:tr>
              <a:tr h="694516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Выбор задач </a:t>
                      </a:r>
                      <a:r>
                        <a:rPr lang="ru-RU" b="1">
                          <a:effectLst/>
                          <a:latin typeface="Bahnschrift Light SemiCondensed" panose="020B0502040204020203" pitchFamily="34" charset="0"/>
                        </a:rPr>
                        <a:t>средней</a:t>
                      </a:r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 сложности (50/50)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Выбор либо </a:t>
                      </a:r>
                      <a:r>
                        <a:rPr lang="ru-RU" b="1">
                          <a:effectLst/>
                          <a:latin typeface="Bahnschrift Light SemiCondensed" panose="020B0502040204020203" pitchFamily="34" charset="0"/>
                        </a:rPr>
                        <a:t>лёгких</a:t>
                      </a:r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 (гарантированный успех), либо </a:t>
                      </a:r>
                      <a:r>
                        <a:rPr lang="ru-RU" b="1">
                          <a:effectLst/>
                          <a:latin typeface="Bahnschrift Light SemiCondensed" panose="020B0502040204020203" pitchFamily="34" charset="0"/>
                        </a:rPr>
                        <a:t>сверхтрудных</a:t>
                      </a:r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 (неудача не зазорна)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5233622"/>
                  </a:ext>
                </a:extLst>
              </a:tr>
              <a:tr h="694516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Устойчивость после неудачи: мобилизация усилий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Bahnschrift Light SemiCondensed" panose="020B0502040204020203" pitchFamily="34" charset="0"/>
                        </a:rPr>
                        <a:t>После неудачи — падение активности, отказ от попыток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81637179"/>
                  </a:ext>
                </a:extLst>
              </a:tr>
              <a:tr h="694516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Bahnschrift Light SemiCondensed" panose="020B0502040204020203" pitchFamily="34" charset="0"/>
                        </a:rPr>
                        <a:t>Положительная связь между трудностью задачи и настойчивостью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Bahnschrift Light SemiCondensed" panose="020B0502040204020203" pitchFamily="34" charset="0"/>
                        </a:rPr>
                        <a:t>Отрицательная связь: чем труднее, тем быстрее отступление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905184994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DC10C7A1-39BD-4E9F-B544-73BADFEDB7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2" t="12349" r="20729" b="15120"/>
          <a:stretch/>
        </p:blipFill>
        <p:spPr bwMode="auto">
          <a:xfrm>
            <a:off x="10840720" y="4958080"/>
            <a:ext cx="1264920" cy="1779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28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172CE-9888-41BB-AEBC-C640F3903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857" y="538379"/>
            <a:ext cx="4456092" cy="1458061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Bahnschrift Condensed" panose="020B0502040204020203" pitchFamily="34" charset="0"/>
              </a:rPr>
              <a:t>ХАЙНЦ ХЕКХАУЗЕН ПОДЧЁРКИВАЛ…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DE0D15-D9D0-4D8E-AC50-122AC3EED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2115" y="2968381"/>
            <a:ext cx="2514395" cy="22130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0400" dirty="0">
                <a:latin typeface="Bahnschrift Condensed" panose="020B0502040204020203" pitchFamily="34" charset="0"/>
              </a:rPr>
              <a:t>2</a:t>
            </a:r>
          </a:p>
          <a:p>
            <a:pPr marL="0" indent="0" algn="ctr">
              <a:buNone/>
            </a:pPr>
            <a:r>
              <a:rPr lang="ru-RU" dirty="0">
                <a:latin typeface="Bahnschrift Condensed" panose="020B0502040204020203" pitchFamily="34" charset="0"/>
              </a:rPr>
              <a:t>МОТИВА</a:t>
            </a:r>
            <a:endParaRPr lang="ru-RU" sz="3600" dirty="0"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DA224C-FA90-4124-8344-9FDBD21FD342}"/>
              </a:ext>
            </a:extLst>
          </p:cNvPr>
          <p:cNvSpPr txBox="1"/>
          <p:nvPr/>
        </p:nvSpPr>
        <p:spPr>
          <a:xfrm>
            <a:off x="346742" y="2720576"/>
            <a:ext cx="188976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500" dirty="0">
                <a:latin typeface="Bahnschrift Condensed" panose="020B0502040204020203" pitchFamily="34" charset="0"/>
              </a:rPr>
              <a:t>1</a:t>
            </a:r>
            <a:r>
              <a:rPr lang="ru-RU" sz="4000" dirty="0">
                <a:latin typeface="Bahnschrift Condensed" panose="020B0502040204020203" pitchFamily="34" charset="0"/>
              </a:rPr>
              <a:t> </a:t>
            </a:r>
          </a:p>
          <a:p>
            <a:pPr algn="ctr"/>
            <a:r>
              <a:rPr lang="ru-RU" sz="3200" dirty="0">
                <a:latin typeface="Bahnschrift Condensed" panose="020B0502040204020203" pitchFamily="34" charset="0"/>
              </a:rPr>
              <a:t>ЧЕЛОВЕК</a:t>
            </a:r>
            <a:endParaRPr lang="ru-RU" sz="1400" dirty="0">
              <a:latin typeface="Bahnschrift Condensed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C00DF4-6635-4B9F-B6C4-342D03907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479" y="0"/>
            <a:ext cx="634630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7A94E8-1077-4169-9466-22B0513ABA96}"/>
              </a:ext>
            </a:extLst>
          </p:cNvPr>
          <p:cNvSpPr txBox="1"/>
          <p:nvPr/>
        </p:nvSpPr>
        <p:spPr>
          <a:xfrm>
            <a:off x="2858903" y="2689798"/>
            <a:ext cx="2514395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500" dirty="0">
                <a:latin typeface="Bahnschrift Condensed" panose="020B0502040204020203" pitchFamily="34" charset="0"/>
              </a:rPr>
              <a:t>1</a:t>
            </a:r>
            <a:r>
              <a:rPr lang="ru-RU" sz="1400" dirty="0">
                <a:latin typeface="Bahnschrift Condensed" panose="020B0502040204020203" pitchFamily="34" charset="0"/>
              </a:rPr>
              <a:t> </a:t>
            </a:r>
          </a:p>
          <a:p>
            <a:pPr algn="ctr"/>
            <a:r>
              <a:rPr lang="ru-RU" sz="3200" dirty="0">
                <a:latin typeface="Bahnschrift Condensed" panose="020B0502040204020203" pitchFamily="34" charset="0"/>
              </a:rPr>
              <a:t>ДОМИНАНТ</a:t>
            </a:r>
            <a:endParaRPr lang="ru-RU" sz="14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92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Овал 15">
            <a:extLst>
              <a:ext uri="{FF2B5EF4-FFF2-40B4-BE49-F238E27FC236}">
                <a16:creationId xmlns:a16="http://schemas.microsoft.com/office/drawing/2014/main" id="{EA7A1CED-5077-430D-AC8E-7319F9789E43}"/>
              </a:ext>
            </a:extLst>
          </p:cNvPr>
          <p:cNvSpPr/>
          <p:nvPr/>
        </p:nvSpPr>
        <p:spPr>
          <a:xfrm>
            <a:off x="6949440" y="3791173"/>
            <a:ext cx="5525845" cy="437909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EC7923-CF4A-47F7-98E0-FEC6EA59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Bahnschrift Condensed" panose="020B0502040204020203" pitchFamily="34" charset="0"/>
              </a:rPr>
              <a:t>ФОРМИРОВАНИЕ В ДЕТСТВЕ МОТИВОВ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E4ADF8-D412-45A4-A3E9-64CF4F12F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0173" y="1730375"/>
            <a:ext cx="5183188" cy="482917"/>
          </a:xfrm>
          <a:ln>
            <a:noFill/>
          </a:ln>
        </p:spPr>
        <p:txBody>
          <a:bodyPr/>
          <a:lstStyle/>
          <a:p>
            <a:pPr algn="ctr"/>
            <a:r>
              <a:rPr lang="ru-RU" dirty="0">
                <a:latin typeface="Bahnschrift Condensed" panose="020B0502040204020203" pitchFamily="34" charset="0"/>
              </a:rPr>
              <a:t>ГИПЕРОПЕКА И НАКАЗПНИЯ ЗА ПРОВАЛЫ  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097E5F6-0255-4C22-AAB2-0C1EFFF28329}"/>
              </a:ext>
            </a:extLst>
          </p:cNvPr>
          <p:cNvSpPr/>
          <p:nvPr/>
        </p:nvSpPr>
        <p:spPr>
          <a:xfrm>
            <a:off x="668006" y="1595317"/>
            <a:ext cx="5157787" cy="75303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chemeClr val="tx1"/>
                </a:solidFill>
                <a:latin typeface="Bahnschrift Condensed" panose="020B0502040204020203" pitchFamily="34" charset="0"/>
                <a:cs typeface="MV Boli" panose="02000500030200090000" pitchFamily="2" charset="0"/>
              </a:rPr>
              <a:t>ПООЩРЕНИЕ САМОСТОЯТЕЛЬНОСТИ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CF9E22C-A8A8-4DD6-A9F7-335C7A35F686}"/>
              </a:ext>
            </a:extLst>
          </p:cNvPr>
          <p:cNvSpPr/>
          <p:nvPr/>
        </p:nvSpPr>
        <p:spPr>
          <a:xfrm>
            <a:off x="6340173" y="1595317"/>
            <a:ext cx="5157787" cy="753034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48BA7D41-F65F-486C-8864-81448258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88" y="2411506"/>
            <a:ext cx="4331199" cy="438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C9637037-E876-4A34-A2E2-2DB6C457BB88}"/>
              </a:ext>
            </a:extLst>
          </p:cNvPr>
          <p:cNvSpPr/>
          <p:nvPr/>
        </p:nvSpPr>
        <p:spPr>
          <a:xfrm>
            <a:off x="7294750" y="4038600"/>
            <a:ext cx="4921515" cy="392908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603EE4CD-059B-4C28-B66D-4DF638430554}"/>
              </a:ext>
            </a:extLst>
          </p:cNvPr>
          <p:cNvSpPr/>
          <p:nvPr/>
        </p:nvSpPr>
        <p:spPr>
          <a:xfrm>
            <a:off x="5662687" y="5497519"/>
            <a:ext cx="2840869" cy="267274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3542022-D627-4976-8DC5-64D4E2293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751" y="2348350"/>
            <a:ext cx="3548470" cy="4435588"/>
          </a:xfrm>
          <a:prstGeom prst="rect">
            <a:avLst/>
          </a:prstGeom>
        </p:spPr>
      </p:pic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64ACEE4B-6D33-4794-A334-E8E997F53639}"/>
              </a:ext>
            </a:extLst>
          </p:cNvPr>
          <p:cNvSpPr/>
          <p:nvPr/>
        </p:nvSpPr>
        <p:spPr>
          <a:xfrm>
            <a:off x="8915400" y="-990600"/>
            <a:ext cx="5775960" cy="11155680"/>
          </a:xfrm>
          <a:custGeom>
            <a:avLst/>
            <a:gdLst>
              <a:gd name="connsiteX0" fmla="*/ 0 w 4770120"/>
              <a:gd name="connsiteY0" fmla="*/ 7650480 h 7650480"/>
              <a:gd name="connsiteX1" fmla="*/ 1432560 w 4770120"/>
              <a:gd name="connsiteY1" fmla="*/ 7040880 h 7650480"/>
              <a:gd name="connsiteX2" fmla="*/ 1645920 w 4770120"/>
              <a:gd name="connsiteY2" fmla="*/ 4907280 h 7650480"/>
              <a:gd name="connsiteX3" fmla="*/ 3322320 w 4770120"/>
              <a:gd name="connsiteY3" fmla="*/ 2926080 h 7650480"/>
              <a:gd name="connsiteX4" fmla="*/ 1676400 w 4770120"/>
              <a:gd name="connsiteY4" fmla="*/ 472440 h 7650480"/>
              <a:gd name="connsiteX5" fmla="*/ 1676400 w 4770120"/>
              <a:gd name="connsiteY5" fmla="*/ 472440 h 7650480"/>
              <a:gd name="connsiteX6" fmla="*/ 1996440 w 4770120"/>
              <a:gd name="connsiteY6" fmla="*/ 594360 h 7650480"/>
              <a:gd name="connsiteX7" fmla="*/ 2179320 w 4770120"/>
              <a:gd name="connsiteY7" fmla="*/ 502920 h 7650480"/>
              <a:gd name="connsiteX8" fmla="*/ 2468880 w 4770120"/>
              <a:gd name="connsiteY8" fmla="*/ 228600 h 7650480"/>
              <a:gd name="connsiteX9" fmla="*/ 4770120 w 4770120"/>
              <a:gd name="connsiteY9" fmla="*/ 0 h 7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70120" h="7650480">
                <a:moveTo>
                  <a:pt x="0" y="7650480"/>
                </a:moveTo>
                <a:cubicBezTo>
                  <a:pt x="579120" y="7574280"/>
                  <a:pt x="1158240" y="7498080"/>
                  <a:pt x="1432560" y="7040880"/>
                </a:cubicBezTo>
                <a:cubicBezTo>
                  <a:pt x="1706880" y="6583680"/>
                  <a:pt x="1330960" y="5593080"/>
                  <a:pt x="1645920" y="4907280"/>
                </a:cubicBezTo>
                <a:cubicBezTo>
                  <a:pt x="1960880" y="4221480"/>
                  <a:pt x="3317240" y="3665220"/>
                  <a:pt x="3322320" y="2926080"/>
                </a:cubicBezTo>
                <a:cubicBezTo>
                  <a:pt x="3327400" y="2186940"/>
                  <a:pt x="1676400" y="472440"/>
                  <a:pt x="1676400" y="472440"/>
                </a:cubicBezTo>
                <a:lnTo>
                  <a:pt x="1676400" y="472440"/>
                </a:lnTo>
                <a:cubicBezTo>
                  <a:pt x="1729740" y="492760"/>
                  <a:pt x="1912620" y="589280"/>
                  <a:pt x="1996440" y="594360"/>
                </a:cubicBezTo>
                <a:cubicBezTo>
                  <a:pt x="2080260" y="599440"/>
                  <a:pt x="2100580" y="563880"/>
                  <a:pt x="2179320" y="502920"/>
                </a:cubicBezTo>
                <a:cubicBezTo>
                  <a:pt x="2258060" y="441960"/>
                  <a:pt x="2037080" y="312420"/>
                  <a:pt x="2468880" y="228600"/>
                </a:cubicBezTo>
                <a:cubicBezTo>
                  <a:pt x="2900680" y="144780"/>
                  <a:pt x="3835400" y="72390"/>
                  <a:pt x="4770120" y="0"/>
                </a:cubicBezTo>
              </a:path>
            </a:pathLst>
          </a:custGeom>
          <a:noFill/>
          <a:ln w="3810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Полилиния: фигура 26">
            <a:extLst>
              <a:ext uri="{FF2B5EF4-FFF2-40B4-BE49-F238E27FC236}">
                <a16:creationId xmlns:a16="http://schemas.microsoft.com/office/drawing/2014/main" id="{7F2323CC-9B40-42A4-9E24-B82D222640E0}"/>
              </a:ext>
            </a:extLst>
          </p:cNvPr>
          <p:cNvSpPr/>
          <p:nvPr/>
        </p:nvSpPr>
        <p:spPr>
          <a:xfrm>
            <a:off x="9067800" y="-1112520"/>
            <a:ext cx="5775960" cy="11430000"/>
          </a:xfrm>
          <a:custGeom>
            <a:avLst/>
            <a:gdLst>
              <a:gd name="connsiteX0" fmla="*/ 0 w 4770120"/>
              <a:gd name="connsiteY0" fmla="*/ 7650480 h 7650480"/>
              <a:gd name="connsiteX1" fmla="*/ 1432560 w 4770120"/>
              <a:gd name="connsiteY1" fmla="*/ 7040880 h 7650480"/>
              <a:gd name="connsiteX2" fmla="*/ 1645920 w 4770120"/>
              <a:gd name="connsiteY2" fmla="*/ 4907280 h 7650480"/>
              <a:gd name="connsiteX3" fmla="*/ 3322320 w 4770120"/>
              <a:gd name="connsiteY3" fmla="*/ 2926080 h 7650480"/>
              <a:gd name="connsiteX4" fmla="*/ 1676400 w 4770120"/>
              <a:gd name="connsiteY4" fmla="*/ 472440 h 7650480"/>
              <a:gd name="connsiteX5" fmla="*/ 1676400 w 4770120"/>
              <a:gd name="connsiteY5" fmla="*/ 472440 h 7650480"/>
              <a:gd name="connsiteX6" fmla="*/ 1996440 w 4770120"/>
              <a:gd name="connsiteY6" fmla="*/ 594360 h 7650480"/>
              <a:gd name="connsiteX7" fmla="*/ 2179320 w 4770120"/>
              <a:gd name="connsiteY7" fmla="*/ 502920 h 7650480"/>
              <a:gd name="connsiteX8" fmla="*/ 2468880 w 4770120"/>
              <a:gd name="connsiteY8" fmla="*/ 228600 h 7650480"/>
              <a:gd name="connsiteX9" fmla="*/ 4770120 w 4770120"/>
              <a:gd name="connsiteY9" fmla="*/ 0 h 7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70120" h="7650480">
                <a:moveTo>
                  <a:pt x="0" y="7650480"/>
                </a:moveTo>
                <a:cubicBezTo>
                  <a:pt x="579120" y="7574280"/>
                  <a:pt x="1158240" y="7498080"/>
                  <a:pt x="1432560" y="7040880"/>
                </a:cubicBezTo>
                <a:cubicBezTo>
                  <a:pt x="1706880" y="6583680"/>
                  <a:pt x="1330960" y="5593080"/>
                  <a:pt x="1645920" y="4907280"/>
                </a:cubicBezTo>
                <a:cubicBezTo>
                  <a:pt x="1960880" y="4221480"/>
                  <a:pt x="3317240" y="3665220"/>
                  <a:pt x="3322320" y="2926080"/>
                </a:cubicBezTo>
                <a:cubicBezTo>
                  <a:pt x="3327400" y="2186940"/>
                  <a:pt x="1676400" y="472440"/>
                  <a:pt x="1676400" y="472440"/>
                </a:cubicBezTo>
                <a:lnTo>
                  <a:pt x="1676400" y="472440"/>
                </a:lnTo>
                <a:cubicBezTo>
                  <a:pt x="1729740" y="492760"/>
                  <a:pt x="1912620" y="589280"/>
                  <a:pt x="1996440" y="594360"/>
                </a:cubicBezTo>
                <a:cubicBezTo>
                  <a:pt x="2080260" y="599440"/>
                  <a:pt x="2100580" y="563880"/>
                  <a:pt x="2179320" y="502920"/>
                </a:cubicBezTo>
                <a:cubicBezTo>
                  <a:pt x="2258060" y="441960"/>
                  <a:pt x="2037080" y="312420"/>
                  <a:pt x="2468880" y="228600"/>
                </a:cubicBezTo>
                <a:cubicBezTo>
                  <a:pt x="2900680" y="144780"/>
                  <a:pt x="3835400" y="72390"/>
                  <a:pt x="4770120" y="0"/>
                </a:cubicBezTo>
              </a:path>
            </a:pathLst>
          </a:custGeom>
          <a:noFill/>
          <a:ln w="3810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олилиния: фигура 27">
            <a:extLst>
              <a:ext uri="{FF2B5EF4-FFF2-40B4-BE49-F238E27FC236}">
                <a16:creationId xmlns:a16="http://schemas.microsoft.com/office/drawing/2014/main" id="{3FD556B3-123A-44DA-B408-ACE81136AF61}"/>
              </a:ext>
            </a:extLst>
          </p:cNvPr>
          <p:cNvSpPr/>
          <p:nvPr/>
        </p:nvSpPr>
        <p:spPr>
          <a:xfrm>
            <a:off x="9067800" y="-1416676"/>
            <a:ext cx="5775960" cy="11734156"/>
          </a:xfrm>
          <a:custGeom>
            <a:avLst/>
            <a:gdLst>
              <a:gd name="connsiteX0" fmla="*/ 0 w 4770120"/>
              <a:gd name="connsiteY0" fmla="*/ 7650480 h 7650480"/>
              <a:gd name="connsiteX1" fmla="*/ 1432560 w 4770120"/>
              <a:gd name="connsiteY1" fmla="*/ 7040880 h 7650480"/>
              <a:gd name="connsiteX2" fmla="*/ 1645920 w 4770120"/>
              <a:gd name="connsiteY2" fmla="*/ 4907280 h 7650480"/>
              <a:gd name="connsiteX3" fmla="*/ 3322320 w 4770120"/>
              <a:gd name="connsiteY3" fmla="*/ 2926080 h 7650480"/>
              <a:gd name="connsiteX4" fmla="*/ 1676400 w 4770120"/>
              <a:gd name="connsiteY4" fmla="*/ 472440 h 7650480"/>
              <a:gd name="connsiteX5" fmla="*/ 1676400 w 4770120"/>
              <a:gd name="connsiteY5" fmla="*/ 472440 h 7650480"/>
              <a:gd name="connsiteX6" fmla="*/ 1996440 w 4770120"/>
              <a:gd name="connsiteY6" fmla="*/ 594360 h 7650480"/>
              <a:gd name="connsiteX7" fmla="*/ 2179320 w 4770120"/>
              <a:gd name="connsiteY7" fmla="*/ 502920 h 7650480"/>
              <a:gd name="connsiteX8" fmla="*/ 2468880 w 4770120"/>
              <a:gd name="connsiteY8" fmla="*/ 228600 h 7650480"/>
              <a:gd name="connsiteX9" fmla="*/ 4770120 w 4770120"/>
              <a:gd name="connsiteY9" fmla="*/ 0 h 7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70120" h="7650480">
                <a:moveTo>
                  <a:pt x="0" y="7650480"/>
                </a:moveTo>
                <a:cubicBezTo>
                  <a:pt x="579120" y="7574280"/>
                  <a:pt x="1158240" y="7498080"/>
                  <a:pt x="1432560" y="7040880"/>
                </a:cubicBezTo>
                <a:cubicBezTo>
                  <a:pt x="1706880" y="6583680"/>
                  <a:pt x="1330960" y="5593080"/>
                  <a:pt x="1645920" y="4907280"/>
                </a:cubicBezTo>
                <a:cubicBezTo>
                  <a:pt x="1960880" y="4221480"/>
                  <a:pt x="3317240" y="3665220"/>
                  <a:pt x="3322320" y="2926080"/>
                </a:cubicBezTo>
                <a:cubicBezTo>
                  <a:pt x="3327400" y="2186940"/>
                  <a:pt x="1676400" y="472440"/>
                  <a:pt x="1676400" y="472440"/>
                </a:cubicBezTo>
                <a:lnTo>
                  <a:pt x="1676400" y="472440"/>
                </a:lnTo>
                <a:cubicBezTo>
                  <a:pt x="1729740" y="492760"/>
                  <a:pt x="1912620" y="589280"/>
                  <a:pt x="1996440" y="594360"/>
                </a:cubicBezTo>
                <a:cubicBezTo>
                  <a:pt x="2080260" y="599440"/>
                  <a:pt x="2100580" y="563880"/>
                  <a:pt x="2179320" y="502920"/>
                </a:cubicBezTo>
                <a:cubicBezTo>
                  <a:pt x="2258060" y="441960"/>
                  <a:pt x="2037080" y="312420"/>
                  <a:pt x="2468880" y="228600"/>
                </a:cubicBezTo>
                <a:cubicBezTo>
                  <a:pt x="2900680" y="144780"/>
                  <a:pt x="3835400" y="72390"/>
                  <a:pt x="4770120" y="0"/>
                </a:cubicBezTo>
              </a:path>
            </a:pathLst>
          </a:custGeom>
          <a:noFill/>
          <a:ln w="3810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олилиния: фигура 28">
            <a:extLst>
              <a:ext uri="{FF2B5EF4-FFF2-40B4-BE49-F238E27FC236}">
                <a16:creationId xmlns:a16="http://schemas.microsoft.com/office/drawing/2014/main" id="{9094193B-7D06-463A-AE05-BE06E5FE9B27}"/>
              </a:ext>
            </a:extLst>
          </p:cNvPr>
          <p:cNvSpPr/>
          <p:nvPr/>
        </p:nvSpPr>
        <p:spPr>
          <a:xfrm rot="12631570">
            <a:off x="786819" y="3278700"/>
            <a:ext cx="4415617" cy="11018520"/>
          </a:xfrm>
          <a:custGeom>
            <a:avLst/>
            <a:gdLst>
              <a:gd name="connsiteX0" fmla="*/ 0 w 4770120"/>
              <a:gd name="connsiteY0" fmla="*/ 7650480 h 7650480"/>
              <a:gd name="connsiteX1" fmla="*/ 1432560 w 4770120"/>
              <a:gd name="connsiteY1" fmla="*/ 7040880 h 7650480"/>
              <a:gd name="connsiteX2" fmla="*/ 1645920 w 4770120"/>
              <a:gd name="connsiteY2" fmla="*/ 4907280 h 7650480"/>
              <a:gd name="connsiteX3" fmla="*/ 3322320 w 4770120"/>
              <a:gd name="connsiteY3" fmla="*/ 2926080 h 7650480"/>
              <a:gd name="connsiteX4" fmla="*/ 1676400 w 4770120"/>
              <a:gd name="connsiteY4" fmla="*/ 472440 h 7650480"/>
              <a:gd name="connsiteX5" fmla="*/ 1676400 w 4770120"/>
              <a:gd name="connsiteY5" fmla="*/ 472440 h 7650480"/>
              <a:gd name="connsiteX6" fmla="*/ 1996440 w 4770120"/>
              <a:gd name="connsiteY6" fmla="*/ 594360 h 7650480"/>
              <a:gd name="connsiteX7" fmla="*/ 2179320 w 4770120"/>
              <a:gd name="connsiteY7" fmla="*/ 502920 h 7650480"/>
              <a:gd name="connsiteX8" fmla="*/ 2468880 w 4770120"/>
              <a:gd name="connsiteY8" fmla="*/ 228600 h 7650480"/>
              <a:gd name="connsiteX9" fmla="*/ 4770120 w 4770120"/>
              <a:gd name="connsiteY9" fmla="*/ 0 h 7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70120" h="7650480">
                <a:moveTo>
                  <a:pt x="0" y="7650480"/>
                </a:moveTo>
                <a:cubicBezTo>
                  <a:pt x="579120" y="7574280"/>
                  <a:pt x="1158240" y="7498080"/>
                  <a:pt x="1432560" y="7040880"/>
                </a:cubicBezTo>
                <a:cubicBezTo>
                  <a:pt x="1706880" y="6583680"/>
                  <a:pt x="1330960" y="5593080"/>
                  <a:pt x="1645920" y="4907280"/>
                </a:cubicBezTo>
                <a:cubicBezTo>
                  <a:pt x="1960880" y="4221480"/>
                  <a:pt x="3317240" y="3665220"/>
                  <a:pt x="3322320" y="2926080"/>
                </a:cubicBezTo>
                <a:cubicBezTo>
                  <a:pt x="3327400" y="2186940"/>
                  <a:pt x="1676400" y="472440"/>
                  <a:pt x="1676400" y="472440"/>
                </a:cubicBezTo>
                <a:lnTo>
                  <a:pt x="1676400" y="472440"/>
                </a:lnTo>
                <a:cubicBezTo>
                  <a:pt x="1729740" y="492760"/>
                  <a:pt x="1912620" y="589280"/>
                  <a:pt x="1996440" y="594360"/>
                </a:cubicBezTo>
                <a:cubicBezTo>
                  <a:pt x="2080260" y="599440"/>
                  <a:pt x="2100580" y="563880"/>
                  <a:pt x="2179320" y="502920"/>
                </a:cubicBezTo>
                <a:cubicBezTo>
                  <a:pt x="2258060" y="441960"/>
                  <a:pt x="2037080" y="312420"/>
                  <a:pt x="2468880" y="228600"/>
                </a:cubicBezTo>
                <a:cubicBezTo>
                  <a:pt x="2900680" y="144780"/>
                  <a:pt x="3835400" y="72390"/>
                  <a:pt x="4770120" y="0"/>
                </a:cubicBezTo>
              </a:path>
            </a:pathLst>
          </a:custGeom>
          <a:noFill/>
          <a:ln w="3810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A960886F-6185-4859-81C3-0CE742C55EB5}"/>
              </a:ext>
            </a:extLst>
          </p:cNvPr>
          <p:cNvSpPr/>
          <p:nvPr/>
        </p:nvSpPr>
        <p:spPr>
          <a:xfrm rot="12631570">
            <a:off x="939219" y="3431100"/>
            <a:ext cx="4415617" cy="11018520"/>
          </a:xfrm>
          <a:custGeom>
            <a:avLst/>
            <a:gdLst>
              <a:gd name="connsiteX0" fmla="*/ 0 w 4770120"/>
              <a:gd name="connsiteY0" fmla="*/ 7650480 h 7650480"/>
              <a:gd name="connsiteX1" fmla="*/ 1432560 w 4770120"/>
              <a:gd name="connsiteY1" fmla="*/ 7040880 h 7650480"/>
              <a:gd name="connsiteX2" fmla="*/ 1645920 w 4770120"/>
              <a:gd name="connsiteY2" fmla="*/ 4907280 h 7650480"/>
              <a:gd name="connsiteX3" fmla="*/ 3322320 w 4770120"/>
              <a:gd name="connsiteY3" fmla="*/ 2926080 h 7650480"/>
              <a:gd name="connsiteX4" fmla="*/ 1676400 w 4770120"/>
              <a:gd name="connsiteY4" fmla="*/ 472440 h 7650480"/>
              <a:gd name="connsiteX5" fmla="*/ 1676400 w 4770120"/>
              <a:gd name="connsiteY5" fmla="*/ 472440 h 7650480"/>
              <a:gd name="connsiteX6" fmla="*/ 1996440 w 4770120"/>
              <a:gd name="connsiteY6" fmla="*/ 594360 h 7650480"/>
              <a:gd name="connsiteX7" fmla="*/ 2179320 w 4770120"/>
              <a:gd name="connsiteY7" fmla="*/ 502920 h 7650480"/>
              <a:gd name="connsiteX8" fmla="*/ 2468880 w 4770120"/>
              <a:gd name="connsiteY8" fmla="*/ 228600 h 7650480"/>
              <a:gd name="connsiteX9" fmla="*/ 4770120 w 4770120"/>
              <a:gd name="connsiteY9" fmla="*/ 0 h 765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70120" h="7650480">
                <a:moveTo>
                  <a:pt x="0" y="7650480"/>
                </a:moveTo>
                <a:cubicBezTo>
                  <a:pt x="579120" y="7574280"/>
                  <a:pt x="1158240" y="7498080"/>
                  <a:pt x="1432560" y="7040880"/>
                </a:cubicBezTo>
                <a:cubicBezTo>
                  <a:pt x="1706880" y="6583680"/>
                  <a:pt x="1330960" y="5593080"/>
                  <a:pt x="1645920" y="4907280"/>
                </a:cubicBezTo>
                <a:cubicBezTo>
                  <a:pt x="1960880" y="4221480"/>
                  <a:pt x="3317240" y="3665220"/>
                  <a:pt x="3322320" y="2926080"/>
                </a:cubicBezTo>
                <a:cubicBezTo>
                  <a:pt x="3327400" y="2186940"/>
                  <a:pt x="1676400" y="472440"/>
                  <a:pt x="1676400" y="472440"/>
                </a:cubicBezTo>
                <a:lnTo>
                  <a:pt x="1676400" y="472440"/>
                </a:lnTo>
                <a:cubicBezTo>
                  <a:pt x="1729740" y="492760"/>
                  <a:pt x="1912620" y="589280"/>
                  <a:pt x="1996440" y="594360"/>
                </a:cubicBezTo>
                <a:cubicBezTo>
                  <a:pt x="2080260" y="599440"/>
                  <a:pt x="2100580" y="563880"/>
                  <a:pt x="2179320" y="502920"/>
                </a:cubicBezTo>
                <a:cubicBezTo>
                  <a:pt x="2258060" y="441960"/>
                  <a:pt x="2037080" y="312420"/>
                  <a:pt x="2468880" y="228600"/>
                </a:cubicBezTo>
                <a:cubicBezTo>
                  <a:pt x="2900680" y="144780"/>
                  <a:pt x="3835400" y="72390"/>
                  <a:pt x="4770120" y="0"/>
                </a:cubicBezTo>
              </a:path>
            </a:pathLst>
          </a:custGeom>
          <a:noFill/>
          <a:ln w="3810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27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82521C-6C06-4125-9AE5-B1C5826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802" y="455174"/>
            <a:ext cx="10515600" cy="1325563"/>
          </a:xfrm>
        </p:spPr>
        <p:txBody>
          <a:bodyPr/>
          <a:lstStyle/>
          <a:p>
            <a:r>
              <a:rPr lang="ru-RU" dirty="0">
                <a:latin typeface="Bahnschrift Condensed" panose="020B0502040204020203" pitchFamily="34" charset="0"/>
              </a:rPr>
              <a:t>ЭКСПЕРИМЕНТЫ И ФЕНОМЕНЫ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4F7F6F-8343-46BB-9512-2F481795A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09" y="2144925"/>
            <a:ext cx="5528682" cy="1087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0" i="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  <a:t>ФЕНОМЕН ВЫБОРА УРОВНЯ ТРУДНОСТИ</a:t>
            </a:r>
            <a:br>
              <a:rPr lang="ru-RU" b="0" i="0" dirty="0">
                <a:solidFill>
                  <a:schemeClr val="accent6">
                    <a:lumMod val="50000"/>
                  </a:schemeClr>
                </a:solidFill>
                <a:effectLst/>
                <a:latin typeface="Bahnschrift Condensed" panose="020B0502040204020203" pitchFamily="34" charset="0"/>
              </a:rPr>
            </a:br>
            <a:endParaRPr lang="ru-RU" b="0" i="0" dirty="0">
              <a:solidFill>
                <a:schemeClr val="accent6">
                  <a:lumMod val="50000"/>
                </a:schemeClr>
              </a:solidFill>
              <a:effectLst/>
              <a:latin typeface="Bahnschrift Condensed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F3B942-8DF3-46F6-AFA2-4D095CD75F7C}"/>
              </a:ext>
            </a:extLst>
          </p:cNvPr>
          <p:cNvSpPr/>
          <p:nvPr/>
        </p:nvSpPr>
        <p:spPr>
          <a:xfrm>
            <a:off x="3184339" y="3434957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ЗАДАЧИ С НЕОЧЕВИДНЫМ УСПЕХОМ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B49913-18F3-4E05-87C2-9E45D5758E8E}"/>
              </a:ext>
            </a:extLst>
          </p:cNvPr>
          <p:cNvSpPr/>
          <p:nvPr/>
        </p:nvSpPr>
        <p:spPr>
          <a:xfrm>
            <a:off x="742802" y="3434403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ДОМИНИРУЮЩИЙ МОТИВ ДОСТИЖЕНИЯ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8070CD6-A590-4BD0-9B96-DC71E9BF10D6}"/>
              </a:ext>
            </a:extLst>
          </p:cNvPr>
          <p:cNvSpPr/>
          <p:nvPr/>
        </p:nvSpPr>
        <p:spPr>
          <a:xfrm>
            <a:off x="742802" y="4541257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ДОМИНИРУЮЩИЙ МОТИВ ИЗБЕГАНИЯ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B69EB69-C44C-4968-812F-8F5B41EA88F3}"/>
              </a:ext>
            </a:extLst>
          </p:cNvPr>
          <p:cNvSpPr/>
          <p:nvPr/>
        </p:nvSpPr>
        <p:spPr>
          <a:xfrm>
            <a:off x="3184339" y="4541257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ЛИБО «ВЕРНЯК», </a:t>
            </a:r>
          </a:p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ЛИБО «ЗАВЕДОМО СЛОЖНОЕ»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8F8F49-BD0B-4544-A17E-F991E741F994}"/>
              </a:ext>
            </a:extLst>
          </p:cNvPr>
          <p:cNvSpPr/>
          <p:nvPr/>
        </p:nvSpPr>
        <p:spPr>
          <a:xfrm>
            <a:off x="7778674" y="3429000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ЛОЖНАЯ ИНФОРМАЦИЯ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1F1AE34-4FB6-4CBD-B58A-61E30873697F}"/>
              </a:ext>
            </a:extLst>
          </p:cNvPr>
          <p:cNvSpPr/>
          <p:nvPr/>
        </p:nvSpPr>
        <p:spPr>
          <a:xfrm>
            <a:off x="6096000" y="4536468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«</a:t>
            </a:r>
            <a:r>
              <a:rPr lang="ru-RU" b="1" i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Достиженцы</a:t>
            </a:r>
            <a:r>
              <a:rPr lang="ru-RU" b="0" i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»</a:t>
            </a:r>
            <a:endParaRPr lang="ru-RU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E9AFFDA-16AD-4F13-B066-9EFDCA5A7858}"/>
              </a:ext>
            </a:extLst>
          </p:cNvPr>
          <p:cNvSpPr/>
          <p:nvPr/>
        </p:nvSpPr>
        <p:spPr>
          <a:xfrm>
            <a:off x="9464040" y="4536468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«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Избегатели</a:t>
            </a:r>
            <a:r>
              <a:rPr lang="ru-RU" b="0" i="0" dirty="0">
                <a:solidFill>
                  <a:srgbClr val="0F1115"/>
                </a:solidFill>
                <a:effectLst/>
                <a:latin typeface="Bahnschrift Condensed" panose="020B0502040204020203" pitchFamily="34" charset="0"/>
              </a:rPr>
              <a:t>»</a:t>
            </a:r>
            <a:endParaRPr lang="ru-RU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8B3C822-FC62-4A3E-AC91-450569281CB5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2937362" y="3886841"/>
            <a:ext cx="246977" cy="554"/>
          </a:xfrm>
          <a:prstGeom prst="straightConnector1">
            <a:avLst/>
          </a:prstGeom>
          <a:ln w="57150">
            <a:solidFill>
              <a:srgbClr val="A9D18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D167186A-7097-48B6-A176-887D296E6774}"/>
              </a:ext>
            </a:extLst>
          </p:cNvPr>
          <p:cNvCxnSpPr/>
          <p:nvPr/>
        </p:nvCxnSpPr>
        <p:spPr>
          <a:xfrm>
            <a:off x="2937362" y="4988906"/>
            <a:ext cx="246977" cy="554"/>
          </a:xfrm>
          <a:prstGeom prst="straightConnector1">
            <a:avLst/>
          </a:prstGeom>
          <a:ln w="57150">
            <a:solidFill>
              <a:srgbClr val="A9D18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B807075-F4F0-4A9D-8155-2526EC5F9EB2}"/>
              </a:ext>
            </a:extLst>
          </p:cNvPr>
          <p:cNvSpPr txBox="1"/>
          <p:nvPr/>
        </p:nvSpPr>
        <p:spPr>
          <a:xfrm>
            <a:off x="6429710" y="2126155"/>
            <a:ext cx="4861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РЕАКЦИЯ НА ОБРАТНУЮ СВЯЗЬ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10CA069-6AD6-4D5E-97D3-34FEC7A06920}"/>
              </a:ext>
            </a:extLst>
          </p:cNvPr>
          <p:cNvCxnSpPr>
            <a:cxnSpLocks/>
          </p:cNvCxnSpPr>
          <p:nvPr/>
        </p:nvCxnSpPr>
        <p:spPr>
          <a:xfrm flipH="1">
            <a:off x="7968801" y="4333875"/>
            <a:ext cx="1" cy="226695"/>
          </a:xfrm>
          <a:prstGeom prst="straightConnector1">
            <a:avLst/>
          </a:prstGeom>
          <a:ln w="57150">
            <a:solidFill>
              <a:srgbClr val="A9D18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11FF915D-D33F-4AC5-B198-29E849D2A1AD}"/>
              </a:ext>
            </a:extLst>
          </p:cNvPr>
          <p:cNvCxnSpPr>
            <a:cxnSpLocks/>
          </p:cNvCxnSpPr>
          <p:nvPr/>
        </p:nvCxnSpPr>
        <p:spPr>
          <a:xfrm>
            <a:off x="9670572" y="4333875"/>
            <a:ext cx="0" cy="226695"/>
          </a:xfrm>
          <a:prstGeom prst="straightConnector1">
            <a:avLst/>
          </a:prstGeom>
          <a:ln w="57150">
            <a:solidFill>
              <a:srgbClr val="A9D18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865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3CC96C-2FFE-4C59-B876-3597C0848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solidFill>
                  <a:schemeClr val="accent6">
                    <a:lumMod val="50000"/>
                  </a:schemeClr>
                </a:solidFill>
                <a:latin typeface="Bahnschrift Condensed" panose="020B0502040204020203" pitchFamily="34" charset="0"/>
              </a:rPr>
              <a:t>АТРИБУЦИЯ УСПЕХА И НЕУДАЧИ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4B11BB-A1C4-4611-B446-3C63F762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54" y="3054761"/>
            <a:ext cx="6530788" cy="2388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            (контролируемые причины)</a:t>
            </a:r>
          </a:p>
          <a:p>
            <a:pPr marL="0" indent="0">
              <a:buNone/>
            </a:pPr>
            <a:endParaRPr lang="ru-RU" b="1" i="0" dirty="0">
              <a:solidFill>
                <a:srgbClr val="0F1115"/>
              </a:solidFill>
              <a:effectLst/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УСПЕХИ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 объясняют 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способностями и усилиями.</a:t>
            </a:r>
          </a:p>
          <a:p>
            <a:pPr marL="0" indent="0">
              <a:buNone/>
            </a:pPr>
            <a:endParaRPr lang="ru-RU" sz="2400" b="1" i="0" dirty="0">
              <a:solidFill>
                <a:srgbClr val="0F1115"/>
              </a:solidFill>
              <a:effectLst/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ru-RU" sz="2400" b="1" i="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НЕУДАЧИ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 — </a:t>
            </a:r>
            <a:r>
              <a:rPr lang="ru-RU" sz="2400" b="1" i="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</a:rPr>
              <a:t>недостаточным старанием.</a:t>
            </a:r>
          </a:p>
          <a:p>
            <a:pPr marL="0" indent="0">
              <a:buNone/>
            </a:pPr>
            <a:endParaRPr lang="ru-RU" b="1" i="0" dirty="0">
              <a:solidFill>
                <a:srgbClr val="0F1115"/>
              </a:solidFill>
              <a:effectLst/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6D6F04-176E-4092-8B79-0C4D267D1053}"/>
              </a:ext>
            </a:extLst>
          </p:cNvPr>
          <p:cNvSpPr/>
          <p:nvPr/>
        </p:nvSpPr>
        <p:spPr>
          <a:xfrm>
            <a:off x="2168114" y="1920287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ДОМИНИРУЮЩИЙ МОТИВ ДОСТИЖЕНИЯ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B4BB8D3-6C40-452C-9919-2248414FDDBA}"/>
              </a:ext>
            </a:extLst>
          </p:cNvPr>
          <p:cNvSpPr/>
          <p:nvPr/>
        </p:nvSpPr>
        <p:spPr>
          <a:xfrm>
            <a:off x="7932496" y="1955226"/>
            <a:ext cx="2194560" cy="904875"/>
          </a:xfrm>
          <a:prstGeom prst="rect">
            <a:avLst/>
          </a:prstGeom>
          <a:noFill/>
          <a:ln w="28575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Condensed" panose="020B0502040204020203" pitchFamily="34" charset="0"/>
              </a:rPr>
              <a:t>ДОМИНИРУЮЩИЙ МОТИВ ИЗБЕГАНИЯ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55946A8C-447D-459E-8C42-5DD374209F33}"/>
              </a:ext>
            </a:extLst>
          </p:cNvPr>
          <p:cNvSpPr txBox="1">
            <a:spLocks/>
          </p:cNvSpPr>
          <p:nvPr/>
        </p:nvSpPr>
        <p:spPr>
          <a:xfrm>
            <a:off x="6095999" y="3124639"/>
            <a:ext cx="5257801" cy="23886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b="1" dirty="0">
                <a:solidFill>
                  <a:srgbClr val="0F1115"/>
                </a:solidFill>
                <a:latin typeface="Bahnschrift Light Condensed" panose="020B0502040204020203" pitchFamily="34" charset="0"/>
              </a:rPr>
              <a:t>(неконтролируемые причины)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b="1" dirty="0">
              <a:solidFill>
                <a:srgbClr val="0F1115"/>
              </a:solidFill>
              <a:latin typeface="Bahnschrift Light Condensed" panose="020B0502040204020203" pitchFamily="34" charset="0"/>
            </a:endParaRPr>
          </a:p>
          <a:p>
            <a:pPr marL="0" indent="0" algn="just">
              <a:buNone/>
            </a:pPr>
            <a:r>
              <a:rPr lang="ru-RU" sz="2400" b="1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Times New Roman" panose="02020603050405020304" pitchFamily="18" charset="0"/>
              </a:rPr>
              <a:t>УСПЕХ</a:t>
            </a:r>
            <a:r>
              <a:rPr lang="ru-RU" sz="240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Times New Roman" panose="02020603050405020304" pitchFamily="18" charset="0"/>
              </a:rPr>
              <a:t> часто приписывают </a:t>
            </a:r>
            <a:r>
              <a:rPr lang="ru-RU" sz="2400" b="1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Times New Roman" panose="02020603050405020304" pitchFamily="18" charset="0"/>
              </a:rPr>
              <a:t>везению или лёгкости задачи</a:t>
            </a:r>
            <a:r>
              <a:rPr lang="ru-RU" sz="240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400" b="1" dirty="0">
                <a:solidFill>
                  <a:srgbClr val="0F1115"/>
                </a:solidFill>
                <a:latin typeface="Bahnschrift Light Condensed" panose="020B0502040204020203" pitchFamily="34" charset="0"/>
                <a:ea typeface="Times New Roman" panose="02020603050405020304" pitchFamily="18" charset="0"/>
              </a:rPr>
              <a:t>НЕУДАЧУ</a:t>
            </a:r>
            <a:r>
              <a:rPr lang="ru-RU" sz="2400" dirty="0">
                <a:solidFill>
                  <a:srgbClr val="0F1115"/>
                </a:solidFill>
                <a:latin typeface="Bahnschrift Light Condensed" panose="020B0502040204020203" pitchFamily="34" charset="0"/>
                <a:ea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Times New Roman" panose="02020603050405020304" pitchFamily="18" charset="0"/>
              </a:rPr>
              <a:t>— </a:t>
            </a:r>
            <a:r>
              <a:rPr lang="ru-RU" sz="2400" b="1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Times New Roman" panose="02020603050405020304" pitchFamily="18" charset="0"/>
              </a:rPr>
              <a:t>недостатку способностей</a:t>
            </a:r>
            <a:r>
              <a:rPr lang="ru-RU" sz="2400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Times New Roman" panose="02020603050405020304" pitchFamily="18" charset="0"/>
              </a:rPr>
              <a:t>, что разрушает желание пробовать снова.</a:t>
            </a:r>
            <a:endParaRPr lang="ru-RU" sz="2400" dirty="0">
              <a:effectLst/>
              <a:latin typeface="Bahnschrift Light Condensed" panose="020B0502040204020203" pitchFamily="34" charset="0"/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b="1" dirty="0">
              <a:solidFill>
                <a:srgbClr val="0F1115"/>
              </a:solidFill>
              <a:latin typeface="Bahnschrift Light Condensed" panose="020B0502040204020203" pitchFamily="34" charset="0"/>
            </a:endParaRPr>
          </a:p>
          <a:p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572DD1C-3760-450B-A4E1-89D739A3C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169" y="1588312"/>
            <a:ext cx="1820832" cy="1536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803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6984924-937A-4221-BC16-874A7708256E}"/>
              </a:ext>
            </a:extLst>
          </p:cNvPr>
          <p:cNvSpPr/>
          <p:nvPr/>
        </p:nvSpPr>
        <p:spPr>
          <a:xfrm>
            <a:off x="7480226" y="496221"/>
            <a:ext cx="2501307" cy="3430405"/>
          </a:xfrm>
          <a:prstGeom prst="rect">
            <a:avLst/>
          </a:prstGeom>
          <a:noFill/>
          <a:ln w="1905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50DCBE-F72F-48A2-A836-39591D6273BB}"/>
              </a:ext>
            </a:extLst>
          </p:cNvPr>
          <p:cNvSpPr/>
          <p:nvPr/>
        </p:nvSpPr>
        <p:spPr>
          <a:xfrm>
            <a:off x="9192853" y="3062470"/>
            <a:ext cx="2501307" cy="3430405"/>
          </a:xfrm>
          <a:prstGeom prst="rect">
            <a:avLst/>
          </a:prstGeom>
          <a:noFill/>
          <a:ln w="1905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A0D9EA-5025-4C94-8B2E-1D46B819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 Condensed" panose="020B0502040204020203" pitchFamily="34" charset="0"/>
              </a:rPr>
              <a:t>КРИТИКА И РАЗВИТИЕ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1A4A0B-24AB-4CC1-836A-E34F834CA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3957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Потребность в компетентности</a:t>
            </a:r>
            <a:r>
              <a:rPr lang="ru-RU" b="0" i="0" dirty="0">
                <a:solidFill>
                  <a:srgbClr val="0A0A0A"/>
                </a:solidFill>
                <a:effectLst/>
                <a:latin typeface="Bahnschrift Light Condensed" panose="020B0502040204020203" pitchFamily="34" charset="0"/>
              </a:rPr>
              <a:t> — это </a:t>
            </a:r>
            <a:r>
              <a:rPr lang="ru-RU" dirty="0">
                <a:latin typeface="Bahnschrift Light Condensed" panose="020B0502040204020203" pitchFamily="34" charset="0"/>
              </a:rPr>
              <a:t>фундаментальное стремление человека чувствовать свою эффективность, ощущать способность справляться со сложными задачами и достигать значимых результатов при взаимодействии с окружающим миром.</a:t>
            </a:r>
          </a:p>
          <a:p>
            <a:pPr marL="0" indent="0">
              <a:buNone/>
            </a:pPr>
            <a:endParaRPr lang="ru-RU" dirty="0">
              <a:latin typeface="Bahnschrift Light Condensed" panose="020B0502040204020203" pitchFamily="34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0F1115"/>
                </a:solidFill>
                <a:latin typeface="Bahnschrift Light Condensed" panose="020B0502040204020203" pitchFamily="34" charset="0"/>
                <a:ea typeface="Calibri" panose="020F0502020204030204" pitchFamily="34" charset="0"/>
              </a:rPr>
              <a:t>Н</a:t>
            </a:r>
            <a:r>
              <a:rPr lang="ru-RU" b="1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Calibri" panose="020F0502020204030204" pitchFamily="34" charset="0"/>
              </a:rPr>
              <a:t>е сводится </a:t>
            </a:r>
            <a:r>
              <a:rPr lang="ru-RU" dirty="0">
                <a:solidFill>
                  <a:srgbClr val="0F1115"/>
                </a:solidFill>
                <a:effectLst/>
                <a:latin typeface="Bahnschrift Light Condensed" panose="020B0502040204020203" pitchFamily="34" charset="0"/>
                <a:ea typeface="Calibri" panose="020F0502020204030204" pitchFamily="34" charset="0"/>
              </a:rPr>
              <a:t>к бинарной оппозиции достижения/избегания. </a:t>
            </a:r>
            <a:endParaRPr lang="ru-RU" sz="4000" dirty="0">
              <a:latin typeface="Bahnschrift Light Condensed" panose="020B0502040204020203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707D06-F301-4D14-9200-60A5D03FE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390" y="1044707"/>
            <a:ext cx="2174977" cy="2716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0A5A8A-46F6-401C-AE62-85D7094F39AB}"/>
              </a:ext>
            </a:extLst>
          </p:cNvPr>
          <p:cNvSpPr txBox="1"/>
          <p:nvPr/>
        </p:nvSpPr>
        <p:spPr>
          <a:xfrm>
            <a:off x="7480226" y="644597"/>
            <a:ext cx="2395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Bahnschrift Condensed" panose="020B0502040204020203" pitchFamily="34" charset="0"/>
              </a:rPr>
              <a:t>ЭДВАРД Л. ДЕСИ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1E54D-F645-45FE-B682-4A311D5A1F83}"/>
              </a:ext>
            </a:extLst>
          </p:cNvPr>
          <p:cNvSpPr txBox="1"/>
          <p:nvPr/>
        </p:nvSpPr>
        <p:spPr>
          <a:xfrm>
            <a:off x="5393803" y="6492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FACD65-E001-4B19-B556-ECD96DCF35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29" y="3185795"/>
            <a:ext cx="2174977" cy="27130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6C508C-D957-4D26-958A-9550BCD5088D}"/>
              </a:ext>
            </a:extLst>
          </p:cNvPr>
          <p:cNvSpPr txBox="1"/>
          <p:nvPr/>
        </p:nvSpPr>
        <p:spPr>
          <a:xfrm>
            <a:off x="9386693" y="5985464"/>
            <a:ext cx="212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Bahnschrift Condensed" panose="020B0502040204020203" pitchFamily="34" charset="0"/>
              </a:rPr>
              <a:t>РИЧАРД М. РАЙАН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2FEB433-06DB-4BBB-8237-D5DE889E35A1}"/>
              </a:ext>
            </a:extLst>
          </p:cNvPr>
          <p:cNvCxnSpPr>
            <a:cxnSpLocks/>
          </p:cNvCxnSpPr>
          <p:nvPr/>
        </p:nvCxnSpPr>
        <p:spPr>
          <a:xfrm flipH="1">
            <a:off x="-101600" y="6490173"/>
            <a:ext cx="9294453" cy="0"/>
          </a:xfrm>
          <a:prstGeom prst="line">
            <a:avLst/>
          </a:prstGeom>
          <a:ln w="1905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92329CC-95D9-45E6-9592-69750E639BB1}"/>
              </a:ext>
            </a:extLst>
          </p:cNvPr>
          <p:cNvCxnSpPr>
            <a:cxnSpLocks/>
          </p:cNvCxnSpPr>
          <p:nvPr/>
        </p:nvCxnSpPr>
        <p:spPr>
          <a:xfrm flipH="1" flipV="1">
            <a:off x="7480226" y="493520"/>
            <a:ext cx="4711776" cy="2701"/>
          </a:xfrm>
          <a:prstGeom prst="line">
            <a:avLst/>
          </a:prstGeom>
          <a:ln w="1905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F5285A1-10D5-410A-BCBE-B4F047E3AAA1}"/>
              </a:ext>
            </a:extLst>
          </p:cNvPr>
          <p:cNvCxnSpPr>
            <a:cxnSpLocks/>
          </p:cNvCxnSpPr>
          <p:nvPr/>
        </p:nvCxnSpPr>
        <p:spPr>
          <a:xfrm flipH="1" flipV="1">
            <a:off x="-179775" y="6311900"/>
            <a:ext cx="9372628" cy="12369"/>
          </a:xfrm>
          <a:prstGeom prst="line">
            <a:avLst/>
          </a:prstGeom>
          <a:ln w="1905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34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393C6-D9E9-470C-A2D2-ACF5F281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ahnschrift Condensed" panose="020B0502040204020203" pitchFamily="34" charset="0"/>
              </a:rPr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14E57E-AB46-4CAC-BD25-4622C2F79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4747" y="1690688"/>
            <a:ext cx="5157787" cy="823912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b="0" i="0" dirty="0">
                <a:solidFill>
                  <a:srgbClr val="474747"/>
                </a:solidFill>
                <a:effectLst/>
                <a:latin typeface="Bahnschrift Condensed" panose="020B0502040204020203" pitchFamily="34" charset="0"/>
              </a:rPr>
              <a:t>ХАЙНЦ ХЕКХАУЗЕН</a:t>
            </a:r>
          </a:p>
          <a:p>
            <a:pPr algn="ctr"/>
            <a:r>
              <a:rPr lang="ru-RU" b="0" i="0" dirty="0">
                <a:solidFill>
                  <a:srgbClr val="474747"/>
                </a:solidFill>
                <a:effectLst/>
                <a:latin typeface="Bahnschrift Condensed" panose="020B0502040204020203" pitchFamily="34" charset="0"/>
              </a:rPr>
              <a:t>(1926 –1988)</a:t>
            </a:r>
            <a:endParaRPr lang="ru-RU" dirty="0">
              <a:latin typeface="Bahnschrift Condensed" panose="020B0502040204020203" pitchFamily="34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06C16BB-0554-41F0-B75A-D01162A0C5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199" y="2771728"/>
            <a:ext cx="2571882" cy="3507628"/>
          </a:xfr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67230D9A-35DF-4138-AAC6-05B4826498E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399" y="2771728"/>
            <a:ext cx="2571882" cy="3507628"/>
          </a:xfr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AA0B846-B4AE-45B9-A884-0E493C645E18}"/>
              </a:ext>
            </a:extLst>
          </p:cNvPr>
          <p:cNvSpPr/>
          <p:nvPr/>
        </p:nvSpPr>
        <p:spPr>
          <a:xfrm>
            <a:off x="1519816" y="2646222"/>
            <a:ext cx="2931459" cy="3756212"/>
          </a:xfrm>
          <a:prstGeom prst="rect">
            <a:avLst/>
          </a:prstGeom>
          <a:noFill/>
          <a:ln w="1905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71D855F-D306-48E1-BEA9-2EE2B4AC8080}"/>
              </a:ext>
            </a:extLst>
          </p:cNvPr>
          <p:cNvSpPr/>
          <p:nvPr/>
        </p:nvSpPr>
        <p:spPr>
          <a:xfrm>
            <a:off x="7516410" y="2646222"/>
            <a:ext cx="2931459" cy="3756212"/>
          </a:xfrm>
          <a:prstGeom prst="rect">
            <a:avLst/>
          </a:prstGeom>
          <a:noFill/>
          <a:ln w="19050"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22EBE83-AC29-428F-923E-43CD08CA9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5948" y="1690688"/>
            <a:ext cx="5183188" cy="823912"/>
          </a:xfrm>
        </p:spPr>
        <p:txBody>
          <a:bodyPr/>
          <a:lstStyle/>
          <a:p>
            <a:pPr algn="ctr"/>
            <a:r>
              <a:rPr lang="ru-RU" dirty="0">
                <a:latin typeface="Bahnschrift SemiBold Condensed" panose="020B0502040204020203" pitchFamily="34" charset="0"/>
              </a:rPr>
              <a:t>КУРТ ЛЕВИН</a:t>
            </a:r>
            <a:br>
              <a:rPr lang="ru-RU" dirty="0">
                <a:latin typeface="Bahnschrift SemiBold Condensed" panose="020B0502040204020203" pitchFamily="34" charset="0"/>
              </a:rPr>
            </a:br>
            <a:r>
              <a:rPr lang="ru-RU" dirty="0">
                <a:latin typeface="Bahnschrift SemiBold Condensed" panose="020B0502040204020203" pitchFamily="34" charset="0"/>
              </a:rPr>
              <a:t>(1890–1947) 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2D5658B-5001-4B1D-8050-73E841294BA8}"/>
              </a:ext>
            </a:extLst>
          </p:cNvPr>
          <p:cNvCxnSpPr>
            <a:cxnSpLocks/>
          </p:cNvCxnSpPr>
          <p:nvPr/>
        </p:nvCxnSpPr>
        <p:spPr>
          <a:xfrm>
            <a:off x="11686992" y="-106680"/>
            <a:ext cx="0" cy="6964680"/>
          </a:xfrm>
          <a:prstGeom prst="line">
            <a:avLst/>
          </a:prstGeom>
          <a:ln w="1905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C91390EA-68E4-439A-9954-547FC6067071}"/>
              </a:ext>
            </a:extLst>
          </p:cNvPr>
          <p:cNvCxnSpPr>
            <a:cxnSpLocks/>
          </p:cNvCxnSpPr>
          <p:nvPr/>
        </p:nvCxnSpPr>
        <p:spPr>
          <a:xfrm>
            <a:off x="11546234" y="-106680"/>
            <a:ext cx="0" cy="7071360"/>
          </a:xfrm>
          <a:prstGeom prst="line">
            <a:avLst/>
          </a:prstGeom>
          <a:ln w="1905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E468041E-11F7-433D-B757-D05CEF3DF021}"/>
              </a:ext>
            </a:extLst>
          </p:cNvPr>
          <p:cNvCxnSpPr/>
          <p:nvPr/>
        </p:nvCxnSpPr>
        <p:spPr>
          <a:xfrm>
            <a:off x="4451275" y="2646222"/>
            <a:ext cx="3065135" cy="3756212"/>
          </a:xfrm>
          <a:prstGeom prst="line">
            <a:avLst/>
          </a:prstGeom>
          <a:ln w="19050"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1D948E2-D489-4D85-BEA4-4E4C9B4512AC}"/>
              </a:ext>
            </a:extLst>
          </p:cNvPr>
          <p:cNvSpPr/>
          <p:nvPr/>
        </p:nvSpPr>
        <p:spPr>
          <a:xfrm>
            <a:off x="11840901" y="0"/>
            <a:ext cx="351079" cy="6858000"/>
          </a:xfrm>
          <a:prstGeom prst="rect">
            <a:avLst/>
          </a:prstGeom>
          <a:solidFill>
            <a:srgbClr val="A9D18E"/>
          </a:solidFill>
          <a:ln>
            <a:solidFill>
              <a:srgbClr val="A9D1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549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27ADBB-1660-4750-8A2C-5EAAB056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Bahnschrift Condensed" panose="020B0502040204020203" pitchFamily="34" charset="0"/>
              </a:rPr>
              <a:t>СПАСИБО ЗА ВНИМАНИЕ!</a:t>
            </a:r>
            <a:r>
              <a:rPr lang="ru-RU" dirty="0"/>
              <a:t>	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986EA8-2073-40C4-8043-2424FCCB9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5" t="8445" r="7009" b="9333"/>
          <a:stretch/>
        </p:blipFill>
        <p:spPr>
          <a:xfrm>
            <a:off x="5933440" y="772160"/>
            <a:ext cx="5711316" cy="56388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D7B995A-DDE3-47AB-87E5-FE07A21EC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1" y="2326701"/>
            <a:ext cx="3448246" cy="344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350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766</Words>
  <Application>Microsoft Office PowerPoint</Application>
  <PresentationFormat>Широкоэкранный</PresentationFormat>
  <Paragraphs>110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Arial</vt:lpstr>
      <vt:lpstr>Bahnschrift Condensed</vt:lpstr>
      <vt:lpstr>Bahnschrift Light Condensed</vt:lpstr>
      <vt:lpstr>Bahnschrift Light SemiCondensed</vt:lpstr>
      <vt:lpstr>Bahnschrift SemiBold Condensed</vt:lpstr>
      <vt:lpstr>Bahnschrift SemiCondensed</vt:lpstr>
      <vt:lpstr>Calibri</vt:lpstr>
      <vt:lpstr>Calibri Light</vt:lpstr>
      <vt:lpstr>Wingdings</vt:lpstr>
      <vt:lpstr>Тема Office</vt:lpstr>
      <vt:lpstr>МОТИВАЦИЯ ДОСТИЖЕНИЯ  И МОТИВАЦИЯ ИЗБЕГАНИЯ НЕУДАЧ  (Х. ХЕКХАУЗЕН, К. ЛЕВИН, Ф. ХОППЕ И ДР.)</vt:lpstr>
      <vt:lpstr>КУРТ ЛЕВИН (1890–1947) </vt:lpstr>
      <vt:lpstr>ТЕОРИЯ ПОЛЯ</vt:lpstr>
      <vt:lpstr>КЛЮЧЕВЫЕ ТЕРМИНЫ</vt:lpstr>
      <vt:lpstr>ЭКСПЕРИМЕНТ ЛЕВИНА</vt:lpstr>
      <vt:lpstr>ФЕРДИНАНД ХОППЕ – ЭКСПЕРМЕНТ 1930 Г.</vt:lpstr>
      <vt:lpstr>ТЕОРИЯ ДОСТИЖЕНИЯ МОТИВАЦИИ  ХАЙНЦА ХЕКХАУЗЕНА (1926–1998) </vt:lpstr>
      <vt:lpstr>ХАЙНЦ ХЕКХАУЗЕН ПОДЧЁРКИВАЛ…</vt:lpstr>
      <vt:lpstr>ФОРМИРОВАНИЕ В ДЕТСТВЕ МОТИВОВ</vt:lpstr>
      <vt:lpstr>ЭКСПЕРИМЕНТЫ И ФЕНОМЕНЫ</vt:lpstr>
      <vt:lpstr>АТРИБУЦИЯ УСПЕХА И НЕУДАЧИ</vt:lpstr>
      <vt:lpstr>КРИТИКА И РАЗВИТИЕ</vt:lpstr>
      <vt:lpstr>ЗАКЛЮЧЕНИЕ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МОТИВАЦИЯ ДОСТИЖЕНИЯ  И МОТИВАЦИЯ ИЗБЕГАНИЯ НЕУДАЧ  (Х. ХЕКХАУЗЕН, К. ЛЕВИН, Ф. ХОППЕ И ДР.)</dc:title>
  <dc:creator>COMP</dc:creator>
  <cp:lastModifiedBy>COMP</cp:lastModifiedBy>
  <cp:revision>40</cp:revision>
  <dcterms:created xsi:type="dcterms:W3CDTF">2026-05-14T21:09:55Z</dcterms:created>
  <dcterms:modified xsi:type="dcterms:W3CDTF">2026-05-25T00:57:26Z</dcterms:modified>
</cp:coreProperties>
</file>
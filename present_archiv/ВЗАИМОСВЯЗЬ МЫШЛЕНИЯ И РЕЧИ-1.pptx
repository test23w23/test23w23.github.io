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C9C9C9"/>
    <a:srgbClr val="BECFD6"/>
    <a:srgbClr val="FFF6B1"/>
    <a:srgbClr val="F17BA9"/>
    <a:srgbClr val="DBDE77"/>
    <a:srgbClr val="50A4D9"/>
    <a:srgbClr val="CACB42"/>
    <a:srgbClr val="9C76D5"/>
    <a:srgbClr val="F4B6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62E3E-8727-4730-8E5A-9F0643907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8D664C-3B65-472C-8028-F0435C932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E26FD-2D60-4850-8B02-97485C47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A73223-91F0-4726-9137-0C199705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E20E8E-32E2-490A-9520-9313422B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2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B6EB5-34FB-40DD-865A-8DA93DEC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5A542-D644-4E83-A053-182634294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E64140-DD9A-4B76-9386-C3F9F9A3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B7E4B3-A7A4-4BB9-A28D-93737530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E0EE5C-CE59-4E0E-B149-B91B9711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69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A50EA-18DD-4132-B445-D50288A5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412EF-19D5-4DD6-A1E0-ABFB39793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F13737-B077-4AFD-AF62-73D454E6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A22D7F-6464-44CD-9BF2-E396AD7F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9526BE-0142-4A6A-A5C6-FF8FCACA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24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BFA79-2339-4910-A5E7-58BBB36A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095ABC-91E6-44FF-BEF0-B93F35114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0D1F41-2781-4B57-90B5-ADA8E2729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47B0CC-B56A-471E-B384-5ED1E5E3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D931A4-9067-42C3-9CCE-71B06EC0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107543-B108-4BED-B840-A7C4FDFE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23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BD70C-05BF-4495-825B-29B5BF78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9F7E9B-960E-4D83-9226-8A4B67B70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2B745D-BD10-4E4B-B619-C71BC7F73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522D9C-BAAA-4F8D-B411-8D484F6B3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D46050-F15C-429A-82E2-16D7742D7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361272-5469-47B3-9CAE-41DCCC6D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45F3FC-B985-4E56-AD7D-A226C425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D96AD9-A8CA-40D8-B04A-F23E008F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19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270CE-8383-4C4A-B0B9-A8B749CF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766E21-FBB2-474B-B632-B3B7F675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34A5BD-7284-4320-8C22-6E6E7B98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51AA2F-9477-483F-9B20-38DB02C6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18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74AFDE-D98A-4048-A7ED-945854DD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57C624-57A5-4212-9822-166531C1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28A55D-E677-468E-8A79-25FAE69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29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1815E-DDF8-4AF1-81CE-BB2B8E87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74CC6-2903-495B-9CB7-55F36E240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381A2C-A8D0-4319-8DC3-BC2479BE0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49AD28-A3B3-4E6D-B27B-D749E4AA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2A0042-63C6-4F22-9118-0158291DE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ECE3F9-33C0-42BF-AB98-BE8FA46F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44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4C706-D8A5-425B-9026-9C433B10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EE72D2-6497-41C9-AD90-C19FA6702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6283CB-3DB4-4B62-AF10-93A281C5A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B55664-C8FE-471C-A9D9-E28621C3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54D1A2-3834-45BF-8219-9B3C4E76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090CAE-9E8D-474B-957B-84949E73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4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E7656-E687-475F-BE3A-4D44DB32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3A4590-B798-4BF9-91AE-9D72C117D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762CD1-8783-4BC9-9FAC-2573196E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C5DC68-5E95-4593-8747-31851579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8A3652-EAAE-4151-B4FB-64EBC6F50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17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424C84-B0B3-4AB8-89B7-D24DD3C9C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10EB8E-1203-4719-83A2-4C65CDA7F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DF7598-7942-4885-BD00-29D14CE9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3EB445-AA7D-49DA-AC17-F82523A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079D01-03D8-4404-A888-D65D515D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496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203F0-FA4E-40EE-AAD2-DBB92120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BB1716-6CBD-45A7-B951-06D41AA3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3FDBD8-5AD5-48ED-A46E-49D115274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C2643-169B-4F20-A502-3CE7DD8481B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D9FD7-6A0C-4ED4-917D-BFE3603A8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47ED98-FDB4-40B0-A6AD-A4E04AD7D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0A06D-90AC-4016-B036-3A87C50E25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16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B89E1C-1346-44D9-9029-01AE98596E16}"/>
              </a:ext>
            </a:extLst>
          </p:cNvPr>
          <p:cNvSpPr/>
          <p:nvPr/>
        </p:nvSpPr>
        <p:spPr>
          <a:xfrm>
            <a:off x="257175" y="304800"/>
            <a:ext cx="11534775" cy="62388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46086-A36E-4C70-A7B9-6460D9C8F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8588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ВЗАИМОСВЯЗЬ МЫШЛЕНИЯ И РЕЧИ:</a:t>
            </a:r>
            <a:b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Ж. ПИАЖЕ И Л.С. ВЫГОТСКИЙ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AE4B65-C872-4AD0-A495-8A8D6FE27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8495"/>
            <a:ext cx="9144000" cy="1655762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РАБОТА ВЫПОЛНЕНА АФИНОГЕНОВОЙ ВЛАДИСЛАВОЙ ЕВГЕНЬЕВНОЙ</a:t>
            </a:r>
          </a:p>
          <a:p>
            <a:r>
              <a:rPr lang="ru-RU" sz="20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ФАЯ 0-24-11</a:t>
            </a:r>
          </a:p>
        </p:txBody>
      </p:sp>
    </p:spTree>
    <p:extLst>
      <p:ext uri="{BB962C8B-B14F-4D97-AF65-F5344CB8AC3E}">
        <p14:creationId xmlns:p14="http://schemas.microsoft.com/office/powerpoint/2010/main" val="83883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12CD80-56F7-46F1-9DCD-44F80125739B}"/>
              </a:ext>
            </a:extLst>
          </p:cNvPr>
          <p:cNvSpPr/>
          <p:nvPr/>
        </p:nvSpPr>
        <p:spPr>
          <a:xfrm>
            <a:off x="7745506" y="2393576"/>
            <a:ext cx="2671482" cy="39175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☻☻☻☻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8DF1C3-F0C6-45D1-B547-6644FF688E32}"/>
              </a:ext>
            </a:extLst>
          </p:cNvPr>
          <p:cNvSpPr/>
          <p:nvPr/>
        </p:nvSpPr>
        <p:spPr>
          <a:xfrm>
            <a:off x="2286000" y="2393577"/>
            <a:ext cx="2671482" cy="39175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☻☻☻☻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EB4C7-91BC-403E-BA23-D9101712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u="sng" dirty="0">
                <a:solidFill>
                  <a:srgbClr val="002060"/>
                </a:solidFill>
                <a:latin typeface="Arial Black" panose="020B0A04020102020204" pitchFamily="34" charset="0"/>
              </a:rPr>
              <a:t>ФУНДАМЕНТАЛЬНЫЕ</a:t>
            </a:r>
            <a:r>
              <a:rPr lang="ru-RU" sz="4000" dirty="0">
                <a:solidFill>
                  <a:srgbClr val="002060"/>
                </a:solidFill>
                <a:latin typeface="Arial Black" panose="020B0A04020102020204" pitchFamily="34" charset="0"/>
              </a:rPr>
              <a:t> ТЕОРИИ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553D0E-3CD0-4ECA-9353-EF8ACDED3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30152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Bahnschrift Condensed" panose="020B0502040204020203" pitchFamily="34" charset="0"/>
              </a:rPr>
              <a:t>Жан Пиаже</a:t>
            </a:r>
          </a:p>
          <a:p>
            <a:pPr algn="ctr"/>
            <a:r>
              <a:rPr lang="ru-RU" sz="18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(1896–1980) 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D5D3A30-6C4F-42E9-B102-9A8845453C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523" y="2505075"/>
            <a:ext cx="2800315" cy="4004920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A1AD2EAF-330D-41A5-9703-A44DA3596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603" y="1430152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Лев Семенович Выготский </a:t>
            </a:r>
          </a:p>
          <a:p>
            <a:pPr algn="ctr"/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(1896–1934) 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4417238-44BE-4CD0-A52F-77DC899AA35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403" y="2505075"/>
            <a:ext cx="2890565" cy="3987800"/>
          </a:xfrm>
        </p:spPr>
      </p:pic>
      <p:sp>
        <p:nvSpPr>
          <p:cNvPr id="7" name="Звезда: 4 точки 6">
            <a:extLst>
              <a:ext uri="{FF2B5EF4-FFF2-40B4-BE49-F238E27FC236}">
                <a16:creationId xmlns:a16="http://schemas.microsoft.com/office/drawing/2014/main" id="{190444A0-07A3-4EF6-9092-D675FE12F3CB}"/>
              </a:ext>
            </a:extLst>
          </p:cNvPr>
          <p:cNvSpPr/>
          <p:nvPr/>
        </p:nvSpPr>
        <p:spPr>
          <a:xfrm>
            <a:off x="10668000" y="365125"/>
            <a:ext cx="712791" cy="1239557"/>
          </a:xfrm>
          <a:prstGeom prst="star4">
            <a:avLst>
              <a:gd name="adj" fmla="val 4545"/>
            </a:avLst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F1D8CCAE-C9B0-4EA1-8C05-4C136EFD5BEA}"/>
              </a:ext>
            </a:extLst>
          </p:cNvPr>
          <p:cNvSpPr/>
          <p:nvPr/>
        </p:nvSpPr>
        <p:spPr>
          <a:xfrm>
            <a:off x="811209" y="365124"/>
            <a:ext cx="712791" cy="1239557"/>
          </a:xfrm>
          <a:prstGeom prst="star4">
            <a:avLst>
              <a:gd name="adj" fmla="val 454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3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D63AC1E-2FAA-4EA6-A455-211E30BAF8E2}"/>
              </a:ext>
            </a:extLst>
          </p:cNvPr>
          <p:cNvSpPr/>
          <p:nvPr/>
        </p:nvSpPr>
        <p:spPr>
          <a:xfrm>
            <a:off x="4545758" y="2057400"/>
            <a:ext cx="2570627" cy="1713847"/>
          </a:xfrm>
          <a:prstGeom prst="ellipse">
            <a:avLst/>
          </a:prstGeom>
          <a:solidFill>
            <a:srgbClr val="F17BA9"/>
          </a:solidFill>
          <a:ln>
            <a:solidFill>
              <a:srgbClr val="F17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8A2E97A-10DE-4922-8CC4-95560068F047}"/>
              </a:ext>
            </a:extLst>
          </p:cNvPr>
          <p:cNvSpPr/>
          <p:nvPr/>
        </p:nvSpPr>
        <p:spPr>
          <a:xfrm>
            <a:off x="4753257" y="3997981"/>
            <a:ext cx="1353953" cy="959223"/>
          </a:xfrm>
          <a:prstGeom prst="ellipse">
            <a:avLst/>
          </a:prstGeom>
          <a:solidFill>
            <a:srgbClr val="DBDE77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41E8743-FD71-4916-A360-243F44AC13F7}"/>
              </a:ext>
            </a:extLst>
          </p:cNvPr>
          <p:cNvSpPr/>
          <p:nvPr/>
        </p:nvSpPr>
        <p:spPr>
          <a:xfrm>
            <a:off x="4371979" y="4885765"/>
            <a:ext cx="2644588" cy="2093259"/>
          </a:xfrm>
          <a:prstGeom prst="ellipse">
            <a:avLst/>
          </a:prstGeom>
          <a:solidFill>
            <a:srgbClr val="50A4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A8E82B9E-3EE2-40AE-B26F-227980F59A7C}"/>
              </a:ext>
            </a:extLst>
          </p:cNvPr>
          <p:cNvSpPr/>
          <p:nvPr/>
        </p:nvSpPr>
        <p:spPr>
          <a:xfrm>
            <a:off x="8919601" y="2334231"/>
            <a:ext cx="3247279" cy="2083174"/>
          </a:xfrm>
          <a:prstGeom prst="ellipse">
            <a:avLst/>
          </a:prstGeom>
          <a:solidFill>
            <a:srgbClr val="CACB4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B6BD52D-31D5-4B35-BFDE-1E38029D2C0E}"/>
              </a:ext>
            </a:extLst>
          </p:cNvPr>
          <p:cNvSpPr/>
          <p:nvPr/>
        </p:nvSpPr>
        <p:spPr>
          <a:xfrm>
            <a:off x="7942730" y="484140"/>
            <a:ext cx="3101788" cy="2083173"/>
          </a:xfrm>
          <a:prstGeom prst="ellipse">
            <a:avLst/>
          </a:prstGeom>
          <a:solidFill>
            <a:srgbClr val="F4B615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E2B1153-336D-4565-8B7C-D28E59ED6DE2}"/>
              </a:ext>
            </a:extLst>
          </p:cNvPr>
          <p:cNvSpPr/>
          <p:nvPr/>
        </p:nvSpPr>
        <p:spPr>
          <a:xfrm>
            <a:off x="10789398" y="1156446"/>
            <a:ext cx="1954305" cy="1075765"/>
          </a:xfrm>
          <a:prstGeom prst="ellipse">
            <a:avLst/>
          </a:prstGeom>
          <a:solidFill>
            <a:srgbClr val="9C76D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4561A13-5AE8-40A2-95C4-F74F66828764}"/>
              </a:ext>
            </a:extLst>
          </p:cNvPr>
          <p:cNvSpPr/>
          <p:nvPr/>
        </p:nvSpPr>
        <p:spPr>
          <a:xfrm>
            <a:off x="6517342" y="4334435"/>
            <a:ext cx="2160494" cy="1591236"/>
          </a:xfrm>
          <a:prstGeom prst="ellipse">
            <a:avLst/>
          </a:prstGeom>
          <a:solidFill>
            <a:srgbClr val="F55E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B7EE9C4-B900-499E-9EBE-4947D9A5E43D}"/>
              </a:ext>
            </a:extLst>
          </p:cNvPr>
          <p:cNvSpPr/>
          <p:nvPr/>
        </p:nvSpPr>
        <p:spPr>
          <a:xfrm>
            <a:off x="4867835" y="573741"/>
            <a:ext cx="3352799" cy="1658470"/>
          </a:xfrm>
          <a:prstGeom prst="ellipse">
            <a:avLst/>
          </a:prstGeom>
          <a:solidFill>
            <a:srgbClr val="3FA0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67F26-9067-4B89-B852-7BA41031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rgbClr val="002060"/>
                </a:solidFill>
                <a:latin typeface="Arial Black" panose="020B0A04020102020204" pitchFamily="34" charset="0"/>
              </a:rPr>
              <a:t>ТЕОРИЯ</a:t>
            </a:r>
            <a:br>
              <a:rPr lang="ru-RU" sz="28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rgbClr val="002060"/>
                </a:solidFill>
                <a:latin typeface="Arial Black" panose="020B0A04020102020204" pitchFamily="34" charset="0"/>
              </a:rPr>
              <a:t>ЖАНА ПИАЖЕ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D925713-15A0-4D84-8384-1E6CB7D0C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288" y="1352550"/>
            <a:ext cx="6096000" cy="4143375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4AC15E4-D568-45F3-A12B-FEB12DBE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67313"/>
            <a:ext cx="3464206" cy="1713847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Основной характеристикой детского мышления он считал</a:t>
            </a:r>
          </a:p>
          <a:p>
            <a:r>
              <a:rPr lang="ru-RU" sz="20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эгоцентризм </a:t>
            </a:r>
            <a:r>
              <a:rPr lang="ru-RU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неспособность встать на точку зрения другого человека и осознать свою позицию как одну из возможных .</a:t>
            </a:r>
            <a:endParaRPr lang="ru-RU" sz="1800" dirty="0"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15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53CFC5-1FEB-462E-8810-3E56B2EE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600" dirty="0">
                <a:latin typeface="Arial Black" panose="020B0A04020102020204" pitchFamily="34" charset="0"/>
              </a:rPr>
              <a:t>РАЗВИТИЕ </a:t>
            </a:r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МЫШЛЕНИЯ И РЕЧИ</a:t>
            </a:r>
            <a:r>
              <a:rPr lang="ru-RU" sz="3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3600" dirty="0">
                <a:latin typeface="Arial Black" panose="020B0A04020102020204" pitchFamily="34" charset="0"/>
              </a:rPr>
              <a:t>ПРОХОДЯТ</a:t>
            </a:r>
            <a:br>
              <a:rPr lang="ru-RU" sz="3600" dirty="0">
                <a:latin typeface="Arial Black" panose="020B0A04020102020204" pitchFamily="34" charset="0"/>
              </a:rPr>
            </a:br>
            <a:r>
              <a:rPr lang="ru-RU" sz="3600" dirty="0">
                <a:latin typeface="Arial Black" panose="020B0A04020102020204" pitchFamily="34" charset="0"/>
              </a:rPr>
              <a:t> </a:t>
            </a:r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3 СТАДИИ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027742F-E98F-400C-B0E8-EA309CF426DA}"/>
              </a:ext>
            </a:extLst>
          </p:cNvPr>
          <p:cNvSpPr/>
          <p:nvPr/>
        </p:nvSpPr>
        <p:spPr>
          <a:xfrm>
            <a:off x="1395692" y="2061044"/>
            <a:ext cx="6172200" cy="121023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7051FC-D733-40F0-9DD4-1AFBB5527006}"/>
              </a:ext>
            </a:extLst>
          </p:cNvPr>
          <p:cNvSpPr/>
          <p:nvPr/>
        </p:nvSpPr>
        <p:spPr>
          <a:xfrm>
            <a:off x="2451847" y="3398341"/>
            <a:ext cx="6172200" cy="121023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CA1982-AF5A-4764-B450-A58314B279F1}"/>
              </a:ext>
            </a:extLst>
          </p:cNvPr>
          <p:cNvSpPr/>
          <p:nvPr/>
        </p:nvSpPr>
        <p:spPr>
          <a:xfrm>
            <a:off x="3585883" y="4738755"/>
            <a:ext cx="6172200" cy="121023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F3667-DBDB-4809-A559-EFB90E1CED19}"/>
              </a:ext>
            </a:extLst>
          </p:cNvPr>
          <p:cNvSpPr txBox="1"/>
          <p:nvPr/>
        </p:nvSpPr>
        <p:spPr>
          <a:xfrm>
            <a:off x="1877545" y="2175480"/>
            <a:ext cx="5208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Аутистическое мышление 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(доречевая стадия)</a:t>
            </a:r>
            <a:endParaRPr lang="ru-RU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07753-7A5B-4218-A75A-A687436F8B45}"/>
              </a:ext>
            </a:extLst>
          </p:cNvPr>
          <p:cNvSpPr txBox="1"/>
          <p:nvPr/>
        </p:nvSpPr>
        <p:spPr>
          <a:xfrm>
            <a:off x="2884394" y="3530698"/>
            <a:ext cx="5307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Эгоцентрическое мышление и речь 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(3-7 лет)</a:t>
            </a:r>
            <a:endParaRPr lang="ru-RU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92338-B971-4559-80F6-89A5306066A1}"/>
              </a:ext>
            </a:extLst>
          </p:cNvPr>
          <p:cNvSpPr txBox="1"/>
          <p:nvPr/>
        </p:nvSpPr>
        <p:spPr>
          <a:xfrm>
            <a:off x="4072218" y="4851148"/>
            <a:ext cx="5199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Социализированная речь 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(после 7 лет)</a:t>
            </a:r>
            <a:endParaRPr lang="ru-RU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C4EEF439-EB0C-437C-AE58-ECB9C65E2AE4}"/>
              </a:ext>
            </a:extLst>
          </p:cNvPr>
          <p:cNvSpPr/>
          <p:nvPr/>
        </p:nvSpPr>
        <p:spPr>
          <a:xfrm>
            <a:off x="-1925171" y="4003459"/>
            <a:ext cx="4052047" cy="359081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3138B00-F42C-4958-A399-965D256FCFA2}"/>
              </a:ext>
            </a:extLst>
          </p:cNvPr>
          <p:cNvSpPr/>
          <p:nvPr/>
        </p:nvSpPr>
        <p:spPr>
          <a:xfrm>
            <a:off x="243167" y="5391481"/>
            <a:ext cx="2946027" cy="293303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везда: 5 точек 10">
            <a:extLst>
              <a:ext uri="{FF2B5EF4-FFF2-40B4-BE49-F238E27FC236}">
                <a16:creationId xmlns:a16="http://schemas.microsoft.com/office/drawing/2014/main" id="{9287B240-A12A-470C-9879-56D4B3C3F0C3}"/>
              </a:ext>
            </a:extLst>
          </p:cNvPr>
          <p:cNvSpPr/>
          <p:nvPr/>
        </p:nvSpPr>
        <p:spPr>
          <a:xfrm>
            <a:off x="7840195" y="1979432"/>
            <a:ext cx="1413622" cy="1176337"/>
          </a:xfrm>
          <a:prstGeom prst="star5">
            <a:avLst>
              <a:gd name="adj" fmla="val 10341"/>
              <a:gd name="hf" fmla="val 105146"/>
              <a:gd name="vf" fmla="val 11055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13" name="Звезда: 5 точек 12">
            <a:extLst>
              <a:ext uri="{FF2B5EF4-FFF2-40B4-BE49-F238E27FC236}">
                <a16:creationId xmlns:a16="http://schemas.microsoft.com/office/drawing/2014/main" id="{592B4C76-32C6-48C2-9C05-B09870A8ECC2}"/>
              </a:ext>
            </a:extLst>
          </p:cNvPr>
          <p:cNvSpPr/>
          <p:nvPr/>
        </p:nvSpPr>
        <p:spPr>
          <a:xfrm>
            <a:off x="9056594" y="3271279"/>
            <a:ext cx="1413622" cy="1176337"/>
          </a:xfrm>
          <a:prstGeom prst="star5">
            <a:avLst>
              <a:gd name="adj" fmla="val 10341"/>
              <a:gd name="hf" fmla="val 105146"/>
              <a:gd name="vf" fmla="val 11055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14" name="Звезда: 5 точек 13">
            <a:extLst>
              <a:ext uri="{FF2B5EF4-FFF2-40B4-BE49-F238E27FC236}">
                <a16:creationId xmlns:a16="http://schemas.microsoft.com/office/drawing/2014/main" id="{91D8EAEB-13DC-4D0F-9284-440412638511}"/>
              </a:ext>
            </a:extLst>
          </p:cNvPr>
          <p:cNvSpPr/>
          <p:nvPr/>
        </p:nvSpPr>
        <p:spPr>
          <a:xfrm>
            <a:off x="10064565" y="4755349"/>
            <a:ext cx="1413622" cy="1176337"/>
          </a:xfrm>
          <a:prstGeom prst="star5">
            <a:avLst>
              <a:gd name="adj" fmla="val 10341"/>
              <a:gd name="hf" fmla="val 105146"/>
              <a:gd name="vf" fmla="val 11055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68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2C771-92F6-47A1-96C8-D42A119F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087" y="317500"/>
            <a:ext cx="7743825" cy="1325563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002060"/>
                </a:solidFill>
                <a:latin typeface="Arial Black" panose="020B0A04020102020204" pitchFamily="34" charset="0"/>
              </a:rPr>
              <a:t>КЛЮЧЕВАЯ ИДЕЯ ЖАНА ПИАЖЕ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C89F3-4CE5-4599-B31C-F02A5CC21D98}"/>
              </a:ext>
            </a:extLst>
          </p:cNvPr>
          <p:cNvSpPr txBox="1"/>
          <p:nvPr/>
        </p:nvSpPr>
        <p:spPr>
          <a:xfrm>
            <a:off x="933450" y="4210050"/>
            <a:ext cx="361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ВНУТРЕННЕЕ 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(ИДЕАЛЬНОЕ)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24C1123-41F8-4BB5-BE68-CF165EAF5182}"/>
              </a:ext>
            </a:extLst>
          </p:cNvPr>
          <p:cNvCxnSpPr/>
          <p:nvPr/>
        </p:nvCxnSpPr>
        <p:spPr>
          <a:xfrm>
            <a:off x="3505200" y="4543425"/>
            <a:ext cx="4781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F4D082-324E-45FF-9028-8CB930975009}"/>
              </a:ext>
            </a:extLst>
          </p:cNvPr>
          <p:cNvSpPr txBox="1"/>
          <p:nvPr/>
        </p:nvSpPr>
        <p:spPr>
          <a:xfrm>
            <a:off x="8286750" y="4210050"/>
            <a:ext cx="1838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ВНЕШНЕЕ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(СОЦИАЛЬНОЕ)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6BEE-CAE6-4E00-825C-CB915798FECB}"/>
              </a:ext>
            </a:extLst>
          </p:cNvPr>
          <p:cNvSpPr txBox="1"/>
          <p:nvPr/>
        </p:nvSpPr>
        <p:spPr>
          <a:xfrm>
            <a:off x="847724" y="2521102"/>
            <a:ext cx="2190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ЭГОЦЕНТРИЧЕСКАЯ МЫСЛЬ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6C791E1-6B51-4090-8C41-4FB50ABE8F6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038474" y="2936601"/>
            <a:ext cx="1466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B6779A-76F6-4BA2-B1DF-E0C1DB5E7AC0}"/>
              </a:ext>
            </a:extLst>
          </p:cNvPr>
          <p:cNvSpPr txBox="1"/>
          <p:nvPr/>
        </p:nvSpPr>
        <p:spPr>
          <a:xfrm>
            <a:off x="4505324" y="2497289"/>
            <a:ext cx="2562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ПРЕОДОЛЕНИЕ ЭГОЦЕНТРИЗМА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41DEAAD-604B-4E06-AE62-2BF980292D38}"/>
              </a:ext>
            </a:extLst>
          </p:cNvPr>
          <p:cNvCxnSpPr>
            <a:cxnSpLocks/>
          </p:cNvCxnSpPr>
          <p:nvPr/>
        </p:nvCxnSpPr>
        <p:spPr>
          <a:xfrm>
            <a:off x="6743699" y="2912787"/>
            <a:ext cx="1552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315D71-5EE0-43F9-B4CE-17433F2A4941}"/>
              </a:ext>
            </a:extLst>
          </p:cNvPr>
          <p:cNvSpPr txBox="1"/>
          <p:nvPr/>
        </p:nvSpPr>
        <p:spPr>
          <a:xfrm>
            <a:off x="8629649" y="2606827"/>
            <a:ext cx="2562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СОЦИАЛИЗИРОВАННАЯ РЕЧЬ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5391A6-0C69-441C-BF3D-2C155F664A39}"/>
              </a:ext>
            </a:extLst>
          </p:cNvPr>
          <p:cNvSpPr/>
          <p:nvPr/>
        </p:nvSpPr>
        <p:spPr>
          <a:xfrm>
            <a:off x="-80964" y="5738234"/>
            <a:ext cx="12353926" cy="18668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61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28E01-63CE-4F9F-AD58-FA743A2A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Arial Black" panose="020B0A04020102020204" pitchFamily="34" charset="0"/>
              </a:rPr>
              <a:t>ТЕОРИЯ </a:t>
            </a:r>
            <a:br>
              <a:rPr lang="ru-RU" sz="2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rgbClr val="002060"/>
                </a:solidFill>
                <a:latin typeface="Arial Black" panose="020B0A04020102020204" pitchFamily="34" charset="0"/>
              </a:rPr>
              <a:t>ЛЬВА СЕМЁНОВИЧА ВЫГОТСКОГО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5ED3CE6-535B-4B58-9B55-B7C11A5F1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612608"/>
            <a:ext cx="6172200" cy="3623259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A0EED3BA-AAF7-4CE0-8553-22D2DF7B1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3171825"/>
            <a:ext cx="3932237" cy="3811588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редложил </a:t>
            </a:r>
            <a:r>
              <a:rPr lang="ru-RU" sz="20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альтернативную 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схему. </a:t>
            </a:r>
            <a:r>
              <a:rPr lang="ru-RU" sz="20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Главный принцип 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Выготского: изначально мышление и речь имеют </a:t>
            </a:r>
            <a:r>
              <a:rPr lang="ru-RU" sz="20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разные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генетические корни и развиваются </a:t>
            </a:r>
            <a:r>
              <a:rPr lang="ru-RU" sz="20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независимо</a:t>
            </a:r>
            <a:endParaRPr lang="ru-RU" sz="1800" b="1" dirty="0">
              <a:latin typeface="Bahnschrift Condensed" panose="020B050204020402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490B67-8F93-41BC-9B2A-FB0EF67D5CAB}"/>
              </a:ext>
            </a:extLst>
          </p:cNvPr>
          <p:cNvSpPr/>
          <p:nvPr/>
        </p:nvSpPr>
        <p:spPr>
          <a:xfrm>
            <a:off x="5524500" y="804862"/>
            <a:ext cx="1752600" cy="904875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A64AD0-2E30-43E0-9702-6DD7C10B666A}"/>
              </a:ext>
            </a:extLst>
          </p:cNvPr>
          <p:cNvSpPr/>
          <p:nvPr/>
        </p:nvSpPr>
        <p:spPr>
          <a:xfrm>
            <a:off x="6742112" y="285750"/>
            <a:ext cx="876300" cy="1326858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A18554E-4E04-4705-B313-7ADFDD87A0C7}"/>
              </a:ext>
            </a:extLst>
          </p:cNvPr>
          <p:cNvSpPr/>
          <p:nvPr/>
        </p:nvSpPr>
        <p:spPr>
          <a:xfrm>
            <a:off x="8370887" y="707733"/>
            <a:ext cx="1752600" cy="904875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653CEB9-7FC3-4795-8F70-A289D7A2DF6F}"/>
              </a:ext>
            </a:extLst>
          </p:cNvPr>
          <p:cNvSpPr/>
          <p:nvPr/>
        </p:nvSpPr>
        <p:spPr>
          <a:xfrm>
            <a:off x="8370887" y="0"/>
            <a:ext cx="809625" cy="752475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5395D0-55D1-478F-8421-B5CA9A5FF129}"/>
              </a:ext>
            </a:extLst>
          </p:cNvPr>
          <p:cNvSpPr/>
          <p:nvPr/>
        </p:nvSpPr>
        <p:spPr>
          <a:xfrm>
            <a:off x="7112792" y="5191125"/>
            <a:ext cx="1821657" cy="904875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52C4CF-1360-4A1F-BB8F-935FE3BB90EE}"/>
              </a:ext>
            </a:extLst>
          </p:cNvPr>
          <p:cNvSpPr/>
          <p:nvPr/>
        </p:nvSpPr>
        <p:spPr>
          <a:xfrm>
            <a:off x="5694364" y="5672138"/>
            <a:ext cx="1752600" cy="423862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E077EE0-F708-4AE3-B1AE-68879A653637}"/>
              </a:ext>
            </a:extLst>
          </p:cNvPr>
          <p:cNvSpPr/>
          <p:nvPr/>
        </p:nvSpPr>
        <p:spPr>
          <a:xfrm>
            <a:off x="11275216" y="4340517"/>
            <a:ext cx="916784" cy="904875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5869425-2DC8-4CBA-B019-EBC6525FF5A1}"/>
              </a:ext>
            </a:extLst>
          </p:cNvPr>
          <p:cNvSpPr/>
          <p:nvPr/>
        </p:nvSpPr>
        <p:spPr>
          <a:xfrm>
            <a:off x="4114800" y="2412708"/>
            <a:ext cx="1219200" cy="549567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B8FE17-0D12-456B-B62F-6E251A32BF65}"/>
              </a:ext>
            </a:extLst>
          </p:cNvPr>
          <p:cNvSpPr/>
          <p:nvPr/>
        </p:nvSpPr>
        <p:spPr>
          <a:xfrm>
            <a:off x="4457700" y="4581963"/>
            <a:ext cx="876300" cy="1326858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6AECB5F-E47E-45A0-8229-9A68F8F2355F}"/>
              </a:ext>
            </a:extLst>
          </p:cNvPr>
          <p:cNvSpPr/>
          <p:nvPr/>
        </p:nvSpPr>
        <p:spPr>
          <a:xfrm>
            <a:off x="3181350" y="5710237"/>
            <a:ext cx="1323182" cy="198584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95872DC-2D6A-418B-81AB-571B5CBD81CA}"/>
              </a:ext>
            </a:extLst>
          </p:cNvPr>
          <p:cNvSpPr/>
          <p:nvPr/>
        </p:nvSpPr>
        <p:spPr>
          <a:xfrm>
            <a:off x="3438525" y="5809529"/>
            <a:ext cx="876300" cy="1048471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6C7DB5F-F906-43F0-886A-1C288408C0D2}"/>
              </a:ext>
            </a:extLst>
          </p:cNvPr>
          <p:cNvSpPr/>
          <p:nvPr/>
        </p:nvSpPr>
        <p:spPr>
          <a:xfrm>
            <a:off x="10439400" y="5953125"/>
            <a:ext cx="1752600" cy="904875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7786E88-D010-4B1A-8BAE-626ED4F0344D}"/>
              </a:ext>
            </a:extLst>
          </p:cNvPr>
          <p:cNvSpPr/>
          <p:nvPr/>
        </p:nvSpPr>
        <p:spPr>
          <a:xfrm>
            <a:off x="10398916" y="0"/>
            <a:ext cx="1793084" cy="1401617"/>
          </a:xfrm>
          <a:prstGeom prst="rect">
            <a:avLst/>
          </a:prstGeom>
          <a:solidFill>
            <a:srgbClr val="FFF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508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53CFC5-1FEB-462E-8810-3E56B2EE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ОТ </a:t>
            </a:r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СОЦИАЛЬНОГО</a:t>
            </a:r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 К </a:t>
            </a:r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ИНДИВИДУАЛЬНОМУ</a:t>
            </a:r>
            <a:b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ЧЕРЕЗ ИНТЕРИОРИЗАЦИЮ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027742F-E98F-400C-B0E8-EA309CF426DA}"/>
              </a:ext>
            </a:extLst>
          </p:cNvPr>
          <p:cNvSpPr/>
          <p:nvPr/>
        </p:nvSpPr>
        <p:spPr>
          <a:xfrm>
            <a:off x="1395692" y="2061044"/>
            <a:ext cx="6172200" cy="121023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Доречевая стадия мышления** (интеллект шимпанзе).</a:t>
            </a:r>
            <a:endParaRPr lang="ru-RU" sz="280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7051FC-D733-40F0-9DD4-1AFBB5527006}"/>
              </a:ext>
            </a:extLst>
          </p:cNvPr>
          <p:cNvSpPr/>
          <p:nvPr/>
        </p:nvSpPr>
        <p:spPr>
          <a:xfrm>
            <a:off x="2451847" y="3398341"/>
            <a:ext cx="6172200" cy="121023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CA1982-AF5A-4764-B450-A58314B279F1}"/>
              </a:ext>
            </a:extLst>
          </p:cNvPr>
          <p:cNvSpPr/>
          <p:nvPr/>
        </p:nvSpPr>
        <p:spPr>
          <a:xfrm>
            <a:off x="3585883" y="4738755"/>
            <a:ext cx="6172200" cy="121023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C4EEF439-EB0C-437C-AE58-ECB9C65E2AE4}"/>
              </a:ext>
            </a:extLst>
          </p:cNvPr>
          <p:cNvSpPr/>
          <p:nvPr/>
        </p:nvSpPr>
        <p:spPr>
          <a:xfrm>
            <a:off x="-1925171" y="4003459"/>
            <a:ext cx="4052047" cy="359081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3138B00-F42C-4958-A399-965D256FCFA2}"/>
              </a:ext>
            </a:extLst>
          </p:cNvPr>
          <p:cNvSpPr/>
          <p:nvPr/>
        </p:nvSpPr>
        <p:spPr>
          <a:xfrm>
            <a:off x="243167" y="5391481"/>
            <a:ext cx="2946027" cy="293303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везда: 5 точек 10">
            <a:extLst>
              <a:ext uri="{FF2B5EF4-FFF2-40B4-BE49-F238E27FC236}">
                <a16:creationId xmlns:a16="http://schemas.microsoft.com/office/drawing/2014/main" id="{9287B240-A12A-470C-9879-56D4B3C3F0C3}"/>
              </a:ext>
            </a:extLst>
          </p:cNvPr>
          <p:cNvSpPr/>
          <p:nvPr/>
        </p:nvSpPr>
        <p:spPr>
          <a:xfrm>
            <a:off x="7840195" y="1979432"/>
            <a:ext cx="1413622" cy="1176337"/>
          </a:xfrm>
          <a:prstGeom prst="star5">
            <a:avLst>
              <a:gd name="adj" fmla="val 10341"/>
              <a:gd name="hf" fmla="val 105146"/>
              <a:gd name="vf" fmla="val 11055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latin typeface="Bahnschrift Condensed" panose="020B0502040204020203" pitchFamily="34" charset="0"/>
            </a:endParaRPr>
          </a:p>
        </p:txBody>
      </p:sp>
      <p:sp>
        <p:nvSpPr>
          <p:cNvPr id="13" name="Звезда: 5 точек 12">
            <a:extLst>
              <a:ext uri="{FF2B5EF4-FFF2-40B4-BE49-F238E27FC236}">
                <a16:creationId xmlns:a16="http://schemas.microsoft.com/office/drawing/2014/main" id="{592B4C76-32C6-48C2-9C05-B09870A8ECC2}"/>
              </a:ext>
            </a:extLst>
          </p:cNvPr>
          <p:cNvSpPr/>
          <p:nvPr/>
        </p:nvSpPr>
        <p:spPr>
          <a:xfrm>
            <a:off x="9056594" y="3271279"/>
            <a:ext cx="1413622" cy="1176337"/>
          </a:xfrm>
          <a:prstGeom prst="star5">
            <a:avLst>
              <a:gd name="adj" fmla="val 10341"/>
              <a:gd name="hf" fmla="val 105146"/>
              <a:gd name="vf" fmla="val 11055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latin typeface="Bahnschrift Condensed" panose="020B0502040204020203" pitchFamily="34" charset="0"/>
            </a:endParaRPr>
          </a:p>
        </p:txBody>
      </p:sp>
      <p:sp>
        <p:nvSpPr>
          <p:cNvPr id="14" name="Звезда: 5 точек 13">
            <a:extLst>
              <a:ext uri="{FF2B5EF4-FFF2-40B4-BE49-F238E27FC236}">
                <a16:creationId xmlns:a16="http://schemas.microsoft.com/office/drawing/2014/main" id="{91D8EAEB-13DC-4D0F-9284-440412638511}"/>
              </a:ext>
            </a:extLst>
          </p:cNvPr>
          <p:cNvSpPr/>
          <p:nvPr/>
        </p:nvSpPr>
        <p:spPr>
          <a:xfrm>
            <a:off x="10064565" y="4755349"/>
            <a:ext cx="1413622" cy="1176337"/>
          </a:xfrm>
          <a:prstGeom prst="star5">
            <a:avLst>
              <a:gd name="adj" fmla="val 10341"/>
              <a:gd name="hf" fmla="val 105146"/>
              <a:gd name="vf" fmla="val 11055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latin typeface="Bahnschrift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18015-4DBF-4B88-815A-625D2103C2D4}"/>
              </a:ext>
            </a:extLst>
          </p:cNvPr>
          <p:cNvSpPr txBox="1"/>
          <p:nvPr/>
        </p:nvSpPr>
        <p:spPr>
          <a:xfrm>
            <a:off x="1636562" y="2048806"/>
            <a:ext cx="56904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Доречевая стадия мышления </a:t>
            </a:r>
          </a:p>
          <a:p>
            <a:pPr algn="ctr"/>
            <a:r>
              <a:rPr lang="ru-RU" sz="32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(интеллект шимпанзе)</a:t>
            </a:r>
            <a:endParaRPr lang="ru-RU" sz="32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995ECA-75C3-4605-A79D-249A9690323B}"/>
              </a:ext>
            </a:extLst>
          </p:cNvPr>
          <p:cNvSpPr txBox="1"/>
          <p:nvPr/>
        </p:nvSpPr>
        <p:spPr>
          <a:xfrm>
            <a:off x="2375647" y="3526125"/>
            <a:ext cx="624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err="1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Доинтеллектуальная</a:t>
            </a:r>
            <a:r>
              <a:rPr lang="ru-RU" sz="28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стадия речи </a:t>
            </a:r>
          </a:p>
          <a:p>
            <a:pPr algn="ctr"/>
            <a:r>
              <a:rPr lang="ru-RU" sz="28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2800" dirty="0" err="1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гуление</a:t>
            </a:r>
            <a:r>
              <a:rPr lang="ru-RU" sz="280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лепет для эмоциональной разрядки)</a:t>
            </a:r>
            <a:endParaRPr lang="ru-RU" sz="28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42406-F565-4A76-8E13-4D17C0C2D730}"/>
              </a:ext>
            </a:extLst>
          </p:cNvPr>
          <p:cNvSpPr txBox="1"/>
          <p:nvPr/>
        </p:nvSpPr>
        <p:spPr>
          <a:xfrm>
            <a:off x="5281893" y="5051129"/>
            <a:ext cx="3971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Переломный момент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109883-92A2-4997-A06C-F0084EABA905}"/>
              </a:ext>
            </a:extLst>
          </p:cNvPr>
          <p:cNvSpPr txBox="1"/>
          <p:nvPr/>
        </p:nvSpPr>
        <p:spPr>
          <a:xfrm>
            <a:off x="4186951" y="6178930"/>
            <a:ext cx="218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РЕЧЬ - ИНТЕЛЛЕКТУАЛЬНА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89BFD-7BB1-49B9-A9B8-87271035A90C}"/>
              </a:ext>
            </a:extLst>
          </p:cNvPr>
          <p:cNvSpPr txBox="1"/>
          <p:nvPr/>
        </p:nvSpPr>
        <p:spPr>
          <a:xfrm>
            <a:off x="7374592" y="6178930"/>
            <a:ext cx="1857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МЫШЛЕНИЕ - РЕЧЕВОЕ</a:t>
            </a:r>
          </a:p>
        </p:txBody>
      </p:sp>
    </p:spTree>
    <p:extLst>
      <p:ext uri="{BB962C8B-B14F-4D97-AF65-F5344CB8AC3E}">
        <p14:creationId xmlns:p14="http://schemas.microsoft.com/office/powerpoint/2010/main" val="19585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Овал 27">
            <a:extLst>
              <a:ext uri="{FF2B5EF4-FFF2-40B4-BE49-F238E27FC236}">
                <a16:creationId xmlns:a16="http://schemas.microsoft.com/office/drawing/2014/main" id="{B2723D64-7A73-4D13-8B18-3A18455BEB66}"/>
              </a:ext>
            </a:extLst>
          </p:cNvPr>
          <p:cNvSpPr/>
          <p:nvPr/>
        </p:nvSpPr>
        <p:spPr>
          <a:xfrm rot="21093543">
            <a:off x="-729476" y="479937"/>
            <a:ext cx="1927981" cy="153167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29B8A52-319C-43E3-9A73-DF0E8EE7051D}"/>
              </a:ext>
            </a:extLst>
          </p:cNvPr>
          <p:cNvSpPr/>
          <p:nvPr/>
        </p:nvSpPr>
        <p:spPr>
          <a:xfrm>
            <a:off x="1361440" y="3184031"/>
            <a:ext cx="656913" cy="82391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0F7957B3-15F5-4280-A4F0-B6C16E28834B}"/>
              </a:ext>
            </a:extLst>
          </p:cNvPr>
          <p:cNvSpPr/>
          <p:nvPr/>
        </p:nvSpPr>
        <p:spPr>
          <a:xfrm>
            <a:off x="815222" y="4115136"/>
            <a:ext cx="1785738" cy="24833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F67A2-17AC-4B13-8143-44FAF952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002060"/>
                </a:solidFill>
                <a:latin typeface="Arial Black" panose="020B0A04020102020204" pitchFamily="34" charset="0"/>
              </a:rPr>
              <a:t>ЭГОЦЕНТРИЧЕСКАЯ РЕЧЬ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FDB786-71C6-4D0F-BDAA-89F36F939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642" y="1507292"/>
            <a:ext cx="5157787" cy="823912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20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НЕ  ТУПИКОВАЯ ВЕТВЬ, УМИРАЮЩАЯ С ВОЗРАСТОМ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39F041D-8D0B-4757-B518-F242F289E8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99" y="3065208"/>
            <a:ext cx="4165514" cy="2827936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E934827E-EBFC-4736-BAFE-6FA74F0B3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8500" y="1909721"/>
            <a:ext cx="4873224" cy="399809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УТВЕРЖДЕНИЯ</a:t>
            </a:r>
            <a:r>
              <a:rPr lang="ru-RU" dirty="0">
                <a:latin typeface="Bahnschrift Condensed" panose="020B0502040204020203" pitchFamily="34" charset="0"/>
              </a:rPr>
              <a:t> </a:t>
            </a:r>
            <a:r>
              <a:rPr lang="ru-RU" dirty="0">
                <a:solidFill>
                  <a:srgbClr val="002060"/>
                </a:solidFill>
                <a:latin typeface="Bahnschrift Condensed" panose="020B0502040204020203" pitchFamily="34" charset="0"/>
              </a:rPr>
              <a:t>Л.С. ВЫГОТСКОГО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108B72-348C-4043-888D-2D9EBE9A8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590" y="3059430"/>
            <a:ext cx="5183188" cy="3539060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Эгоцентрическая речь </a:t>
            </a:r>
            <a:r>
              <a:rPr lang="ru-RU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социальна</a:t>
            </a:r>
            <a:r>
              <a:rPr lang="ru-RU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 происхождению</a:t>
            </a:r>
          </a:p>
          <a:p>
            <a:pPr algn="just"/>
            <a:r>
              <a:rPr lang="ru-RU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Эгоцентрическая речь выполняет </a:t>
            </a:r>
            <a:r>
              <a:rPr lang="ru-RU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интеллектуальную</a:t>
            </a:r>
            <a:r>
              <a:rPr lang="ru-RU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функцию</a:t>
            </a:r>
            <a:endParaRPr lang="ru-RU" dirty="0">
              <a:solidFill>
                <a:srgbClr val="002060"/>
              </a:solidFill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Эгоцентрическая речь </a:t>
            </a:r>
            <a:r>
              <a:rPr lang="ru-RU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исчезает, а уходит внутрь</a:t>
            </a:r>
            <a:endParaRPr lang="ru-RU" sz="4000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0184A5-5500-4177-9B65-A7722DC7B012}"/>
              </a:ext>
            </a:extLst>
          </p:cNvPr>
          <p:cNvSpPr/>
          <p:nvPr/>
        </p:nvSpPr>
        <p:spPr>
          <a:xfrm>
            <a:off x="6348572" y="1756104"/>
            <a:ext cx="4773081" cy="74896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F2D773-EBD4-443D-9706-6EF4BFB52B78}"/>
              </a:ext>
            </a:extLst>
          </p:cNvPr>
          <p:cNvSpPr/>
          <p:nvPr/>
        </p:nvSpPr>
        <p:spPr>
          <a:xfrm>
            <a:off x="1347201" y="1756107"/>
            <a:ext cx="4566892" cy="74896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9030F23-C73C-4091-8CB1-FBEE10D8CBB2}"/>
              </a:ext>
            </a:extLst>
          </p:cNvPr>
          <p:cNvSpPr/>
          <p:nvPr/>
        </p:nvSpPr>
        <p:spPr>
          <a:xfrm>
            <a:off x="-1300480" y="4887595"/>
            <a:ext cx="2600960" cy="32105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6131A2A-C6DC-4C21-AC4C-B83C1D1E579C}"/>
              </a:ext>
            </a:extLst>
          </p:cNvPr>
          <p:cNvSpPr/>
          <p:nvPr/>
        </p:nvSpPr>
        <p:spPr>
          <a:xfrm rot="16200000">
            <a:off x="-874197" y="3788389"/>
            <a:ext cx="2600960" cy="184183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D5C0000-226B-4836-9B72-56AF4A8FEB95}"/>
              </a:ext>
            </a:extLst>
          </p:cNvPr>
          <p:cNvSpPr/>
          <p:nvPr/>
        </p:nvSpPr>
        <p:spPr>
          <a:xfrm>
            <a:off x="11948529" y="6598490"/>
            <a:ext cx="486942" cy="393066"/>
          </a:xfrm>
          <a:prstGeom prst="ellipse">
            <a:avLst/>
          </a:prstGeom>
          <a:solidFill>
            <a:srgbClr val="BEC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111A8F5-6621-49FB-968E-289D37114C2D}"/>
              </a:ext>
            </a:extLst>
          </p:cNvPr>
          <p:cNvSpPr/>
          <p:nvPr/>
        </p:nvSpPr>
        <p:spPr>
          <a:xfrm rot="1310695">
            <a:off x="525456" y="362263"/>
            <a:ext cx="1532072" cy="10886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46496128-97C3-4012-AF2B-3584AA6D48C2}"/>
              </a:ext>
            </a:extLst>
          </p:cNvPr>
          <p:cNvSpPr/>
          <p:nvPr/>
        </p:nvSpPr>
        <p:spPr>
          <a:xfrm rot="21093543">
            <a:off x="-1169093" y="-127168"/>
            <a:ext cx="1927981" cy="153167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86BD037-B97B-4A67-BA43-3E737CD73652}"/>
              </a:ext>
            </a:extLst>
          </p:cNvPr>
          <p:cNvSpPr/>
          <p:nvPr/>
        </p:nvSpPr>
        <p:spPr>
          <a:xfrm rot="16200000">
            <a:off x="-314463" y="-350671"/>
            <a:ext cx="2350651" cy="13652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34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противолежащие углы 4">
            <a:extLst>
              <a:ext uri="{FF2B5EF4-FFF2-40B4-BE49-F238E27FC236}">
                <a16:creationId xmlns:a16="http://schemas.microsoft.com/office/drawing/2014/main" id="{5D74F436-B6AC-45D6-A69F-F44DDB890945}"/>
              </a:ext>
            </a:extLst>
          </p:cNvPr>
          <p:cNvSpPr/>
          <p:nvPr/>
        </p:nvSpPr>
        <p:spPr>
          <a:xfrm>
            <a:off x="4612640" y="1168400"/>
            <a:ext cx="6929120" cy="381158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D5F6B-1E40-46DA-90F3-16F6A2AE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</a:rPr>
              <a:t>ПИАЖЕ</a:t>
            </a:r>
            <a:r>
              <a:rPr lang="ru-RU" sz="2400" dirty="0">
                <a:latin typeface="Arial Black" panose="020B0A04020102020204" pitchFamily="34" charset="0"/>
              </a:rPr>
              <a:t> </a:t>
            </a:r>
            <a:r>
              <a:rPr lang="en-US" sz="2400" dirty="0">
                <a:latin typeface="Arial Black" panose="020B0A04020102020204" pitchFamily="34" charset="0"/>
              </a:rPr>
              <a:t>VS. </a:t>
            </a:r>
            <a:r>
              <a:rPr lang="ru-RU" sz="2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ВЫГОТСКИЙ</a:t>
            </a:r>
          </a:p>
        </p:txBody>
      </p:sp>
      <p:sp>
        <p:nvSpPr>
          <p:cNvPr id="6" name="Прямоугольник: скругленные противолежащие углы 5">
            <a:extLst>
              <a:ext uri="{FF2B5EF4-FFF2-40B4-BE49-F238E27FC236}">
                <a16:creationId xmlns:a16="http://schemas.microsoft.com/office/drawing/2014/main" id="{AB0AFD4A-75EA-4CA7-89B2-EEE3266D1C33}"/>
              </a:ext>
            </a:extLst>
          </p:cNvPr>
          <p:cNvSpPr/>
          <p:nvPr/>
        </p:nvSpPr>
        <p:spPr>
          <a:xfrm>
            <a:off x="4968240" y="1524000"/>
            <a:ext cx="7020560" cy="3505200"/>
          </a:xfrm>
          <a:prstGeom prst="round2DiagRect">
            <a:avLst>
              <a:gd name="adj1" fmla="val 14439"/>
              <a:gd name="adj2" fmla="val 13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3444C6-20FA-4380-834A-1238F361A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826" y="1835309"/>
            <a:ext cx="6021388" cy="4255770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Condensed" panose="020B0502040204020203" pitchFamily="34" charset="0"/>
              </a:rPr>
              <a:t>Направление развития</a:t>
            </a:r>
          </a:p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Condensed" panose="020B0502040204020203" pitchFamily="34" charset="0"/>
              </a:rPr>
              <a:t>Природа эгоцентрической речи</a:t>
            </a:r>
          </a:p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Condensed" panose="020B0502040204020203" pitchFamily="34" charset="0"/>
              </a:rPr>
              <a:t>Функция речи</a:t>
            </a:r>
          </a:p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Condensed" panose="020B0502040204020203" pitchFamily="34" charset="0"/>
              </a:rPr>
              <a:t>Взаимосвязь мышления и речи</a:t>
            </a:r>
          </a:p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Condensed" panose="020B0502040204020203" pitchFamily="34" charset="0"/>
              </a:rPr>
              <a:t>Внутренняя речь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6E86DC-735E-4A32-A0AD-B480CD7DF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62103"/>
            <a:ext cx="3385026" cy="2058829"/>
          </a:xfrm>
        </p:spPr>
        <p:txBody>
          <a:bodyPr/>
          <a:lstStyle/>
          <a:p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Спор Пиаже и Выготского — это не просто исторический факт. </a:t>
            </a:r>
          </a:p>
          <a:p>
            <a:r>
              <a:rPr lang="ru-RU" sz="20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 возможных взгляда на природу человека.</a:t>
            </a:r>
          </a:p>
          <a:p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Сегодня психологи признают вклад обоих ученых.</a:t>
            </a:r>
          </a:p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971013-79AB-481B-8F33-17484A15843C}"/>
              </a:ext>
            </a:extLst>
          </p:cNvPr>
          <p:cNvSpPr/>
          <p:nvPr/>
        </p:nvSpPr>
        <p:spPr>
          <a:xfrm>
            <a:off x="4612640" y="4795520"/>
            <a:ext cx="355600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FCD366C-30A8-42AA-9E56-FAAEBBC49D67}"/>
              </a:ext>
            </a:extLst>
          </p:cNvPr>
          <p:cNvSpPr/>
          <p:nvPr/>
        </p:nvSpPr>
        <p:spPr>
          <a:xfrm rot="16200000">
            <a:off x="11285220" y="617220"/>
            <a:ext cx="355600" cy="1457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49FA4BA-99C7-4AE6-B800-89D5C3E7628E}"/>
              </a:ext>
            </a:extLst>
          </p:cNvPr>
          <p:cNvSpPr/>
          <p:nvPr/>
        </p:nvSpPr>
        <p:spPr>
          <a:xfrm>
            <a:off x="8615680" y="5826760"/>
            <a:ext cx="2926080" cy="11312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89DFA37-22C0-4090-8886-ADFEC2E1B35F}"/>
              </a:ext>
            </a:extLst>
          </p:cNvPr>
          <p:cNvSpPr/>
          <p:nvPr/>
        </p:nvSpPr>
        <p:spPr>
          <a:xfrm>
            <a:off x="9311640" y="4937760"/>
            <a:ext cx="355600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75DDB6F-86B3-4748-ACA6-AB229C77B9D4}"/>
              </a:ext>
            </a:extLst>
          </p:cNvPr>
          <p:cNvSpPr/>
          <p:nvPr/>
        </p:nvSpPr>
        <p:spPr>
          <a:xfrm>
            <a:off x="9561433" y="4483180"/>
            <a:ext cx="355600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784FF0-333C-4F27-9BBA-1F86375736B9}"/>
              </a:ext>
            </a:extLst>
          </p:cNvPr>
          <p:cNvSpPr/>
          <p:nvPr/>
        </p:nvSpPr>
        <p:spPr>
          <a:xfrm>
            <a:off x="9896713" y="4658360"/>
            <a:ext cx="355600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54C1929-CCC4-4028-833E-75DF232CFC6B}"/>
              </a:ext>
            </a:extLst>
          </p:cNvPr>
          <p:cNvSpPr/>
          <p:nvPr/>
        </p:nvSpPr>
        <p:spPr>
          <a:xfrm>
            <a:off x="10126186" y="4920932"/>
            <a:ext cx="2106454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F438704-23C0-4FDB-BFE5-4E531FDD3B3E}"/>
              </a:ext>
            </a:extLst>
          </p:cNvPr>
          <p:cNvSpPr/>
          <p:nvPr/>
        </p:nvSpPr>
        <p:spPr>
          <a:xfrm>
            <a:off x="11862673" y="2966720"/>
            <a:ext cx="355600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0F0A7B-0742-4961-9068-FBCBDCCFABA9}"/>
              </a:ext>
            </a:extLst>
          </p:cNvPr>
          <p:cNvSpPr/>
          <p:nvPr/>
        </p:nvSpPr>
        <p:spPr>
          <a:xfrm>
            <a:off x="11145520" y="3463131"/>
            <a:ext cx="823833" cy="2062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трелка: влево 15">
            <a:extLst>
              <a:ext uri="{FF2B5EF4-FFF2-40B4-BE49-F238E27FC236}">
                <a16:creationId xmlns:a16="http://schemas.microsoft.com/office/drawing/2014/main" id="{F1BA6C70-DCF8-4D35-9AA3-962AD0F6F1EE}"/>
              </a:ext>
            </a:extLst>
          </p:cNvPr>
          <p:cNvSpPr/>
          <p:nvPr/>
        </p:nvSpPr>
        <p:spPr>
          <a:xfrm>
            <a:off x="365760" y="5826760"/>
            <a:ext cx="4602480" cy="2058829"/>
          </a:xfrm>
          <a:prstGeom prst="leftArrow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8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3F5039FA-E92D-4733-9C27-2128DC6C6DD8}"/>
              </a:ext>
            </a:extLst>
          </p:cNvPr>
          <p:cNvSpPr/>
          <p:nvPr/>
        </p:nvSpPr>
        <p:spPr>
          <a:xfrm>
            <a:off x="-1559560" y="-10955"/>
            <a:ext cx="8503920" cy="2951481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DB651-FF24-4BCB-BA0F-D98E16EB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802005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Bahnschrift Condensed" panose="020B0502040204020203" pitchFamily="34" charset="0"/>
              </a:rPr>
              <a:t>СПАСИБО ЗА ВНИМАНИЕ!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DFDC98-FD6F-4D48-BCF3-4A2C73F16B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2" b="13550"/>
          <a:stretch/>
        </p:blipFill>
        <p:spPr>
          <a:xfrm>
            <a:off x="6355080" y="2560319"/>
            <a:ext cx="5836920" cy="3992881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2E8773EF-F939-4E5F-A155-0C8D52218B00}"/>
              </a:ext>
            </a:extLst>
          </p:cNvPr>
          <p:cNvSpPr/>
          <p:nvPr/>
        </p:nvSpPr>
        <p:spPr>
          <a:xfrm>
            <a:off x="5039361" y="2356800"/>
            <a:ext cx="1595120" cy="800101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A285482-B385-4B4D-B15D-F9F3C05E03D2}"/>
              </a:ext>
            </a:extLst>
          </p:cNvPr>
          <p:cNvSpPr/>
          <p:nvPr/>
        </p:nvSpPr>
        <p:spPr>
          <a:xfrm>
            <a:off x="6355080" y="3089195"/>
            <a:ext cx="629920" cy="342742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2623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259</Words>
  <Application>Microsoft Office PowerPoint</Application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Bahnschrift Condensed</vt:lpstr>
      <vt:lpstr>Bahnschrift Light SemiCondensed</vt:lpstr>
      <vt:lpstr>Calibri</vt:lpstr>
      <vt:lpstr>Calibri Light</vt:lpstr>
      <vt:lpstr>Тема Office</vt:lpstr>
      <vt:lpstr>ВЗАИМОСВЯЗЬ МЫШЛЕНИЯ И РЕЧИ: Ж. ПИАЖЕ И Л.С. ВЫГОТСКИЙ</vt:lpstr>
      <vt:lpstr>ФУНДАМЕНТАЛЬНЫЕ ТЕОРИИ</vt:lpstr>
      <vt:lpstr>ТЕОРИЯ ЖАНА ПИАЖЕ</vt:lpstr>
      <vt:lpstr>РАЗВИТИЕ МЫШЛЕНИЯ И РЕЧИ ПРОХОДЯТ  3 СТАДИИ</vt:lpstr>
      <vt:lpstr>КЛЮЧЕВАЯ ИДЕЯ ЖАНА ПИАЖЕ</vt:lpstr>
      <vt:lpstr>ТЕОРИЯ  ЛЬВА СЕМЁНОВИЧА ВЫГОТСКОГО</vt:lpstr>
      <vt:lpstr>ОТ СОЦИАЛЬНОГО К ИНДИВИДУАЛЬНОМУ ЧЕРЕЗ ИНТЕРИОРИЗАЦИЮ</vt:lpstr>
      <vt:lpstr>ЭГОЦЕНТРИЧЕСКАЯ РЕЧЬ</vt:lpstr>
      <vt:lpstr>ПИАЖЕ VS. ВЫГОТСКИЙ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ВЗАИМОСВЯЗЬ МЫШЛЕНИЯ И РЕЧИ: Ж. ПИАЖЕ И Л.С. ВЫГОТСКИЙ</dc:title>
  <dc:creator>COMP</dc:creator>
  <cp:lastModifiedBy>COMP</cp:lastModifiedBy>
  <cp:revision>21</cp:revision>
  <dcterms:created xsi:type="dcterms:W3CDTF">2026-05-02T09:04:27Z</dcterms:created>
  <dcterms:modified xsi:type="dcterms:W3CDTF">2026-05-03T22:55:21Z</dcterms:modified>
</cp:coreProperties>
</file>
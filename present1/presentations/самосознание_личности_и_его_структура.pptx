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E7A1CE5-E76B-424B-B567-6C0700ABCF33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035861-FBAD-4EF6-AD0E-BE1D5387B9F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F52D70-365F-47CD-8C48-E9676289B31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E61CF2-C8ED-4C21-9EE1-4C3E32137C1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347837-2672-4165-82C2-C3040D7452C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38D013-D0B8-440C-8917-1392E9AA45B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340926-ED98-4741-B3B4-E192017EFE0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469749-558D-4CE5-8F7A-D074FEA74B9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9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0"/>
          <p:cNvSpPr/>
          <p:nvPr/>
        </p:nvSpPr>
        <p:spPr>
          <a:xfrm>
            <a:off x="793800" y="3054600"/>
            <a:ext cx="130424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САМОСОЗНАНИЕ ЛИЧНОСТИ И ЕГО СТРУКТУРА</a:t>
            </a:r>
            <a:endParaRPr b="0" lang="ru-RU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"/>
          <p:cNvSpPr/>
          <p:nvPr/>
        </p:nvSpPr>
        <p:spPr>
          <a:xfrm>
            <a:off x="793800" y="481212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707040" y="555480"/>
            <a:ext cx="804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949"/>
              </a:lnSpc>
              <a:tabLst>
                <a:tab algn="l" pos="0"/>
              </a:tabLst>
            </a:pPr>
            <a:r>
              <a:rPr b="1" lang="en-US" sz="39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ПОНИМАНИЕ САМОСОЗНАНИЯ</a:t>
            </a:r>
            <a:endParaRPr b="0" lang="ru-RU" sz="3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707040" y="1258560"/>
            <a:ext cx="620280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51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ЧЕТЫРЕ КОМПОНЕНТА САМОСОЗНАНИЯ</a:t>
            </a:r>
            <a:endParaRPr b="0" lang="ru-RU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707040" y="1907280"/>
            <a:ext cx="132159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3"/>
          <p:cNvSpPr/>
          <p:nvPr/>
        </p:nvSpPr>
        <p:spPr>
          <a:xfrm>
            <a:off x="707040" y="2415240"/>
            <a:ext cx="6517800" cy="2539440"/>
          </a:xfrm>
          <a:prstGeom prst="roundRect">
            <a:avLst>
              <a:gd name="adj" fmla="val 1193"/>
            </a:avLst>
          </a:prstGeom>
          <a:solidFill>
            <a:srgbClr val="d8d9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909000" y="2617200"/>
            <a:ext cx="605520" cy="605520"/>
          </a:xfrm>
          <a:prstGeom prst="roundRect">
            <a:avLst>
              <a:gd name="adj" fmla="val 15086903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Image 0" descr="preencoded.png"/>
          <p:cNvPicPr/>
          <p:nvPr/>
        </p:nvPicPr>
        <p:blipFill>
          <a:blip r:embed="rId1"/>
          <a:stretch/>
        </p:blipFill>
        <p:spPr>
          <a:xfrm>
            <a:off x="1075680" y="2783520"/>
            <a:ext cx="272160" cy="272160"/>
          </a:xfrm>
          <a:prstGeom prst="rect">
            <a:avLst/>
          </a:prstGeom>
          <a:ln w="0">
            <a:noFill/>
          </a:ln>
        </p:spPr>
      </p:pic>
      <p:sp>
        <p:nvSpPr>
          <p:cNvPr id="301" name="Text 5"/>
          <p:cNvSpPr/>
          <p:nvPr/>
        </p:nvSpPr>
        <p:spPr>
          <a:xfrm>
            <a:off x="909000" y="3403080"/>
            <a:ext cx="611388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000000"/>
                </a:solidFill>
                <a:latin typeface="Hubot Sans Bold"/>
                <a:ea typeface="Hubot Sans Bold"/>
              </a:rPr>
              <a:t>СОЗНАНИЕ ОТЛИЧИЯ СЕБЯ ОТ ОСТАЛЬНОГО МИРА</a:t>
            </a:r>
            <a:endParaRPr b="0" lang="ru-RU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909000" y="4142160"/>
            <a:ext cx="61138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Это позволяет вам понимать, где заканчиваетесь вы и где начинается другой человек.</a:t>
            </a:r>
            <a:endParaRPr b="0" lang="ru-RU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7"/>
          <p:cNvSpPr/>
          <p:nvPr/>
        </p:nvSpPr>
        <p:spPr>
          <a:xfrm>
            <a:off x="7405200" y="2415240"/>
            <a:ext cx="6517800" cy="2539440"/>
          </a:xfrm>
          <a:prstGeom prst="roundRect">
            <a:avLst>
              <a:gd name="adj" fmla="val 1193"/>
            </a:avLst>
          </a:prstGeom>
          <a:solidFill>
            <a:srgbClr val="d8d9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8"/>
          <p:cNvSpPr/>
          <p:nvPr/>
        </p:nvSpPr>
        <p:spPr>
          <a:xfrm>
            <a:off x="7607160" y="2617200"/>
            <a:ext cx="605520" cy="605520"/>
          </a:xfrm>
          <a:prstGeom prst="roundRect">
            <a:avLst>
              <a:gd name="adj" fmla="val 15086903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Image 1" descr="preencoded.png"/>
          <p:cNvPicPr/>
          <p:nvPr/>
        </p:nvPicPr>
        <p:blipFill>
          <a:blip r:embed="rId2"/>
          <a:stretch/>
        </p:blipFill>
        <p:spPr>
          <a:xfrm>
            <a:off x="7773840" y="2783520"/>
            <a:ext cx="272160" cy="272160"/>
          </a:xfrm>
          <a:prstGeom prst="rect">
            <a:avLst/>
          </a:prstGeom>
          <a:ln w="0">
            <a:noFill/>
          </a:ln>
        </p:spPr>
      </p:pic>
      <p:sp>
        <p:nvSpPr>
          <p:cNvPr id="306" name="Text 9"/>
          <p:cNvSpPr/>
          <p:nvPr/>
        </p:nvSpPr>
        <p:spPr>
          <a:xfrm>
            <a:off x="7607160" y="3403080"/>
            <a:ext cx="611424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000000"/>
                </a:solidFill>
                <a:latin typeface="Hubot Sans Bold"/>
                <a:ea typeface="Hubot Sans Bold"/>
              </a:rPr>
              <a:t>СОЗНАНИЕ "Я" КАК АКТИВНОГО НАЧАЛА ДЕЯТЕЛЬНОСТИ</a:t>
            </a:r>
            <a:endParaRPr b="0" lang="ru-RU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7607160" y="4142160"/>
            <a:ext cx="611424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Ощущение того, что вы — это не просто набор характеристик, но и личность, способная принимать решения и действовать.</a:t>
            </a:r>
            <a:endParaRPr b="0" lang="ru-RU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707040" y="5135040"/>
            <a:ext cx="6517800" cy="2539440"/>
          </a:xfrm>
          <a:prstGeom prst="roundRect">
            <a:avLst>
              <a:gd name="adj" fmla="val 1193"/>
            </a:avLst>
          </a:prstGeom>
          <a:solidFill>
            <a:srgbClr val="d8d9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2"/>
          <p:cNvSpPr/>
          <p:nvPr/>
        </p:nvSpPr>
        <p:spPr>
          <a:xfrm>
            <a:off x="909000" y="5337000"/>
            <a:ext cx="605520" cy="605520"/>
          </a:xfrm>
          <a:prstGeom prst="roundRect">
            <a:avLst>
              <a:gd name="adj" fmla="val 15086903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Image 2" descr="preencoded.png"/>
          <p:cNvPicPr/>
          <p:nvPr/>
        </p:nvPicPr>
        <p:blipFill>
          <a:blip r:embed="rId3"/>
          <a:stretch/>
        </p:blipFill>
        <p:spPr>
          <a:xfrm>
            <a:off x="1075680" y="5503680"/>
            <a:ext cx="272160" cy="272160"/>
          </a:xfrm>
          <a:prstGeom prst="rect">
            <a:avLst/>
          </a:prstGeom>
          <a:ln w="0">
            <a:noFill/>
          </a:ln>
        </p:spPr>
      </p:pic>
      <p:sp>
        <p:nvSpPr>
          <p:cNvPr id="311" name="Text 13"/>
          <p:cNvSpPr/>
          <p:nvPr/>
        </p:nvSpPr>
        <p:spPr>
          <a:xfrm>
            <a:off x="909000" y="6122880"/>
            <a:ext cx="611388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000000"/>
                </a:solidFill>
                <a:latin typeface="Hubot Sans Bold"/>
                <a:ea typeface="Hubot Sans Bold"/>
              </a:rPr>
              <a:t>СОЗНАНИЕ СВОИХ ПСИХИЧЕСКИХ СВОЙСТВ И ЭМОЦИОНАЛЬНЫХ САМООЦЕНОК</a:t>
            </a:r>
            <a:endParaRPr b="0" lang="ru-RU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909000" y="6861960"/>
            <a:ext cx="61138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Это понимание своих эмоциональных реакций и то, как они влияют на ваше поведение.</a:t>
            </a:r>
            <a:endParaRPr b="0" lang="ru-RU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7405200" y="5135040"/>
            <a:ext cx="6517800" cy="2539440"/>
          </a:xfrm>
          <a:prstGeom prst="roundRect">
            <a:avLst>
              <a:gd name="adj" fmla="val 1193"/>
            </a:avLst>
          </a:prstGeom>
          <a:solidFill>
            <a:srgbClr val="d8d9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6"/>
          <p:cNvSpPr/>
          <p:nvPr/>
        </p:nvSpPr>
        <p:spPr>
          <a:xfrm>
            <a:off x="7607160" y="5337000"/>
            <a:ext cx="605520" cy="605520"/>
          </a:xfrm>
          <a:prstGeom prst="roundRect">
            <a:avLst>
              <a:gd name="adj" fmla="val 15086903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Image 3" descr="preencoded.png"/>
          <p:cNvPicPr/>
          <p:nvPr/>
        </p:nvPicPr>
        <p:blipFill>
          <a:blip r:embed="rId4"/>
          <a:stretch/>
        </p:blipFill>
        <p:spPr>
          <a:xfrm>
            <a:off x="7773840" y="5503680"/>
            <a:ext cx="272160" cy="272160"/>
          </a:xfrm>
          <a:prstGeom prst="rect">
            <a:avLst/>
          </a:prstGeom>
          <a:ln w="0">
            <a:noFill/>
          </a:ln>
        </p:spPr>
      </p:pic>
      <p:sp>
        <p:nvSpPr>
          <p:cNvPr id="316" name="Text 17"/>
          <p:cNvSpPr/>
          <p:nvPr/>
        </p:nvSpPr>
        <p:spPr>
          <a:xfrm>
            <a:off x="7607160" y="6122880"/>
            <a:ext cx="571680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000000"/>
                </a:solidFill>
                <a:latin typeface="Hubot Sans Bold"/>
                <a:ea typeface="Hubot Sans Bold"/>
              </a:rPr>
              <a:t>СОЦИАЛЬНО-НРАВСТВЕННАЯ САМООЦЕНКА</a:t>
            </a:r>
            <a:endParaRPr b="0" lang="ru-RU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18"/>
          <p:cNvSpPr/>
          <p:nvPr/>
        </p:nvSpPr>
        <p:spPr>
          <a:xfrm>
            <a:off x="7607160" y="6546240"/>
            <a:ext cx="611424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Это возможность оценить себя в контексте социальной среды, основываясь на опыте общения и деятельности.</a:t>
            </a:r>
            <a:endParaRPr b="0" lang="ru-RU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793800" y="1924200"/>
            <a:ext cx="83743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СТРУКТУРА САМОСОЗНАНИЯ</a:t>
            </a:r>
            <a:endParaRPr b="0" lang="ru-RU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793800" y="2973240"/>
            <a:ext cx="4532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Hubot Sans Light"/>
                <a:ea typeface="Hubot Sans Light"/>
              </a:rPr>
              <a:t>01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793800" y="3328200"/>
            <a:ext cx="6407640" cy="30240"/>
          </a:xfrm>
          <a:prstGeom prst="rect">
            <a:avLst/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3"/>
          <p:cNvSpPr/>
          <p:nvPr/>
        </p:nvSpPr>
        <p:spPr>
          <a:xfrm>
            <a:off x="793800" y="3502440"/>
            <a:ext cx="57672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ОСОЗНАНИЕ СВОИХ ЦЕЛЕЙ И МОТИВОВ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793800" y="3992760"/>
            <a:ext cx="64076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7428600" y="2973240"/>
            <a:ext cx="4532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Hubot Sans Light"/>
                <a:ea typeface="Hubot Sans Light"/>
              </a:rPr>
              <a:t>02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6"/>
          <p:cNvSpPr/>
          <p:nvPr/>
        </p:nvSpPr>
        <p:spPr>
          <a:xfrm>
            <a:off x="7428600" y="3328200"/>
            <a:ext cx="6407640" cy="30240"/>
          </a:xfrm>
          <a:prstGeom prst="rect">
            <a:avLst/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7"/>
          <p:cNvSpPr/>
          <p:nvPr/>
        </p:nvSpPr>
        <p:spPr>
          <a:xfrm>
            <a:off x="7428600" y="3502440"/>
            <a:ext cx="41245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РЕАЛЬНОЕ И ИДЕАЛЬНОЕ "Я"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8"/>
          <p:cNvSpPr/>
          <p:nvPr/>
        </p:nvSpPr>
        <p:spPr>
          <a:xfrm>
            <a:off x="7428600" y="3992760"/>
            <a:ext cx="64076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793800" y="4752720"/>
            <a:ext cx="4532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Hubot Sans Light"/>
                <a:ea typeface="Hubot Sans Light"/>
              </a:rPr>
              <a:t>03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0"/>
          <p:cNvSpPr/>
          <p:nvPr/>
        </p:nvSpPr>
        <p:spPr>
          <a:xfrm>
            <a:off x="793800" y="5107680"/>
            <a:ext cx="6407640" cy="30240"/>
          </a:xfrm>
          <a:prstGeom prst="rect">
            <a:avLst/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11"/>
          <p:cNvSpPr/>
          <p:nvPr/>
        </p:nvSpPr>
        <p:spPr>
          <a:xfrm>
            <a:off x="793800" y="5281920"/>
            <a:ext cx="58017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КОГНИТИВНЫЕ ПРЕДСТАВЛЕНИЯ О СЕБЕ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12"/>
          <p:cNvSpPr/>
          <p:nvPr/>
        </p:nvSpPr>
        <p:spPr>
          <a:xfrm>
            <a:off x="793800" y="5772240"/>
            <a:ext cx="64076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13"/>
          <p:cNvSpPr/>
          <p:nvPr/>
        </p:nvSpPr>
        <p:spPr>
          <a:xfrm>
            <a:off x="7428600" y="4752720"/>
            <a:ext cx="4532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Hubot Sans Light"/>
                <a:ea typeface="Hubot Sans Light"/>
              </a:rPr>
              <a:t>04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14"/>
          <p:cNvSpPr/>
          <p:nvPr/>
        </p:nvSpPr>
        <p:spPr>
          <a:xfrm>
            <a:off x="7428600" y="5107680"/>
            <a:ext cx="6407640" cy="30240"/>
          </a:xfrm>
          <a:prstGeom prst="rect">
            <a:avLst/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15"/>
          <p:cNvSpPr/>
          <p:nvPr/>
        </p:nvSpPr>
        <p:spPr>
          <a:xfrm>
            <a:off x="7428600" y="5281920"/>
            <a:ext cx="62931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ЭМОЦИОНАЛЬНОЕ ПРЕДСТАВЛЕНИЕ О СЕБЕ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16"/>
          <p:cNvSpPr/>
          <p:nvPr/>
        </p:nvSpPr>
        <p:spPr>
          <a:xfrm>
            <a:off x="7428600" y="5772240"/>
            <a:ext cx="64076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/>
          <p:nvPr/>
        </p:nvSpPr>
        <p:spPr>
          <a:xfrm>
            <a:off x="793800" y="1752480"/>
            <a:ext cx="89751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Я-КОНЦЕПЦИЯ И ЕЕ ЭЛЕМЕНТЫ</a:t>
            </a:r>
            <a:endParaRPr b="0" lang="ru-RU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793800" y="280152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"/>
          <p:cNvSpPr/>
          <p:nvPr/>
        </p:nvSpPr>
        <p:spPr>
          <a:xfrm>
            <a:off x="793800" y="3419640"/>
            <a:ext cx="4196160" cy="2439000"/>
          </a:xfrm>
          <a:prstGeom prst="roundRect">
            <a:avLst>
              <a:gd name="adj" fmla="val 5997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3"/>
          <p:cNvSpPr/>
          <p:nvPr/>
        </p:nvSpPr>
        <p:spPr>
          <a:xfrm>
            <a:off x="763200" y="3419640"/>
            <a:ext cx="121680" cy="243900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4"/>
          <p:cNvSpPr/>
          <p:nvPr/>
        </p:nvSpPr>
        <p:spPr>
          <a:xfrm>
            <a:off x="1142640" y="36766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ОБРАЗ "Я"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5"/>
          <p:cNvSpPr/>
          <p:nvPr/>
        </p:nvSpPr>
        <p:spPr>
          <a:xfrm>
            <a:off x="1142640" y="4167360"/>
            <a:ext cx="35899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То, как вы видите себя.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6"/>
          <p:cNvSpPr/>
          <p:nvPr/>
        </p:nvSpPr>
        <p:spPr>
          <a:xfrm>
            <a:off x="5217120" y="3419640"/>
            <a:ext cx="4196160" cy="2439000"/>
          </a:xfrm>
          <a:prstGeom prst="roundRect">
            <a:avLst>
              <a:gd name="adj" fmla="val 5997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7"/>
          <p:cNvSpPr/>
          <p:nvPr/>
        </p:nvSpPr>
        <p:spPr>
          <a:xfrm>
            <a:off x="5186520" y="3419640"/>
            <a:ext cx="121680" cy="243900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8"/>
          <p:cNvSpPr/>
          <p:nvPr/>
        </p:nvSpPr>
        <p:spPr>
          <a:xfrm>
            <a:off x="5565600" y="36766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САМООЦЕНКА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9"/>
          <p:cNvSpPr/>
          <p:nvPr/>
        </p:nvSpPr>
        <p:spPr>
          <a:xfrm>
            <a:off x="5565600" y="4167360"/>
            <a:ext cx="35899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Как вы оцениваете свои характеристики.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0"/>
          <p:cNvSpPr/>
          <p:nvPr/>
        </p:nvSpPr>
        <p:spPr>
          <a:xfrm>
            <a:off x="9640080" y="3419640"/>
            <a:ext cx="4196160" cy="2439000"/>
          </a:xfrm>
          <a:prstGeom prst="roundRect">
            <a:avLst>
              <a:gd name="adj" fmla="val 5997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1"/>
          <p:cNvSpPr/>
          <p:nvPr/>
        </p:nvSpPr>
        <p:spPr>
          <a:xfrm>
            <a:off x="9609480" y="3419640"/>
            <a:ext cx="121680" cy="243900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2"/>
          <p:cNvSpPr/>
          <p:nvPr/>
        </p:nvSpPr>
        <p:spPr>
          <a:xfrm>
            <a:off x="9988920" y="3676680"/>
            <a:ext cx="3589920" cy="10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ПОТЕНЦИАЛЬНЫЕ ПОВЕДЕНЧЕСКИЕ РЕАКЦИИ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3"/>
          <p:cNvSpPr/>
          <p:nvPr/>
        </p:nvSpPr>
        <p:spPr>
          <a:xfrm>
            <a:off x="9988920" y="4875840"/>
            <a:ext cx="35899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Действия, которые вы готовы предпринять на основе оценки себя.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14"/>
          <p:cNvSpPr/>
          <p:nvPr/>
        </p:nvSpPr>
        <p:spPr>
          <a:xfrm>
            <a:off x="793800" y="611424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 0"/>
          <p:cNvSpPr/>
          <p:nvPr/>
        </p:nvSpPr>
        <p:spPr>
          <a:xfrm>
            <a:off x="793800" y="1239840"/>
            <a:ext cx="116755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САМООЦЕНКА И УРОВЕНЬ ПРИТЯЗАНИЙ</a:t>
            </a:r>
            <a:endParaRPr b="0" lang="ru-RU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"/>
          <p:cNvSpPr/>
          <p:nvPr/>
        </p:nvSpPr>
        <p:spPr>
          <a:xfrm>
            <a:off x="793800" y="228888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Image 0" descr="preencoded.png"/>
          <p:cNvPicPr/>
          <p:nvPr/>
        </p:nvPicPr>
        <p:blipFill>
          <a:blip r:embed="rId1"/>
          <a:stretch/>
        </p:blipFill>
        <p:spPr>
          <a:xfrm>
            <a:off x="793800" y="2907000"/>
            <a:ext cx="1133640" cy="1360440"/>
          </a:xfrm>
          <a:prstGeom prst="rect">
            <a:avLst/>
          </a:prstGeom>
          <a:ln w="0">
            <a:noFill/>
          </a:ln>
        </p:spPr>
      </p:pic>
      <p:sp>
        <p:nvSpPr>
          <p:cNvPr id="353" name="Text 2"/>
          <p:cNvSpPr/>
          <p:nvPr/>
        </p:nvSpPr>
        <p:spPr>
          <a:xfrm>
            <a:off x="2154600" y="3133800"/>
            <a:ext cx="49597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СРАВНИТЕЛЬНОЕ ПОЗНАНИЕ СЕБЯ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3"/>
          <p:cNvSpPr/>
          <p:nvPr/>
        </p:nvSpPr>
        <p:spPr>
          <a:xfrm>
            <a:off x="2154600" y="3624120"/>
            <a:ext cx="116816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Осознание своего места в мире.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5" name="Image 1" descr="preencoded.png"/>
          <p:cNvPicPr/>
          <p:nvPr/>
        </p:nvPicPr>
        <p:blipFill>
          <a:blip r:embed="rId2"/>
          <a:stretch/>
        </p:blipFill>
        <p:spPr>
          <a:xfrm>
            <a:off x="793800" y="4267800"/>
            <a:ext cx="1133640" cy="1360440"/>
          </a:xfrm>
          <a:prstGeom prst="rect">
            <a:avLst/>
          </a:prstGeom>
          <a:ln w="0">
            <a:noFill/>
          </a:ln>
        </p:spPr>
      </p:pic>
      <p:sp>
        <p:nvSpPr>
          <p:cNvPr id="356" name="Text 4"/>
          <p:cNvSpPr/>
          <p:nvPr/>
        </p:nvSpPr>
        <p:spPr>
          <a:xfrm>
            <a:off x="2154600" y="4494600"/>
            <a:ext cx="29134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ПРОГНОСТИЧЕСКАЯ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5"/>
          <p:cNvSpPr/>
          <p:nvPr/>
        </p:nvSpPr>
        <p:spPr>
          <a:xfrm>
            <a:off x="2154600" y="4984920"/>
            <a:ext cx="116816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Формирование ожиданий относительно будущего.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8" name="Image 2" descr="preencoded.png"/>
          <p:cNvPicPr/>
          <p:nvPr/>
        </p:nvPicPr>
        <p:blipFill>
          <a:blip r:embed="rId3"/>
          <a:stretch/>
        </p:blipFill>
        <p:spPr>
          <a:xfrm>
            <a:off x="793800" y="5628600"/>
            <a:ext cx="1133640" cy="1360440"/>
          </a:xfrm>
          <a:prstGeom prst="rect">
            <a:avLst/>
          </a:prstGeom>
          <a:ln w="0">
            <a:noFill/>
          </a:ln>
        </p:spPr>
      </p:pic>
      <p:sp>
        <p:nvSpPr>
          <p:cNvPr id="359" name="Text 6"/>
          <p:cNvSpPr/>
          <p:nvPr/>
        </p:nvSpPr>
        <p:spPr>
          <a:xfrm>
            <a:off x="2154600" y="58554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РЕГУЛЯТИВНАЯ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7"/>
          <p:cNvSpPr/>
          <p:nvPr/>
        </p:nvSpPr>
        <p:spPr>
          <a:xfrm>
            <a:off x="2154600" y="6346080"/>
            <a:ext cx="116816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Способность управлять своим поведением.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793800" y="179856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793800" y="238824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ЗАКЛЮЧЕНИЕ</a:t>
            </a:r>
            <a:endParaRPr b="0" lang="ru-RU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793800" y="343692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3"/>
          <p:cNvSpPr/>
          <p:nvPr/>
        </p:nvSpPr>
        <p:spPr>
          <a:xfrm>
            <a:off x="793800" y="4055040"/>
            <a:ext cx="1304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Таким образом, самосознание и Я-концепция формируют наше восприятие себя и окружающего мира. Понимание этой темы может помочь нам лучше осознавать и понимать своих клиентов, а также улучшать наше собственное самосознание.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793800" y="503604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793800" y="565416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793800" y="627228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0"/>
          <p:cNvSpPr/>
          <p:nvPr/>
        </p:nvSpPr>
        <p:spPr>
          <a:xfrm>
            <a:off x="793800" y="2724840"/>
            <a:ext cx="71139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ПОЛЕЗНЫЕ ИСТОЧНИКИ</a:t>
            </a:r>
            <a:endParaRPr b="0" lang="ru-RU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1"/>
          <p:cNvSpPr/>
          <p:nvPr/>
        </p:nvSpPr>
        <p:spPr>
          <a:xfrm>
            <a:off x="793800" y="3773880"/>
            <a:ext cx="4196160" cy="1730520"/>
          </a:xfrm>
          <a:prstGeom prst="roundRect">
            <a:avLst>
              <a:gd name="adj" fmla="val 1966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2"/>
          <p:cNvSpPr/>
          <p:nvPr/>
        </p:nvSpPr>
        <p:spPr>
          <a:xfrm>
            <a:off x="1051200" y="4030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1. МЕРЛИН, В. С.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3"/>
          <p:cNvSpPr/>
          <p:nvPr/>
        </p:nvSpPr>
        <p:spPr>
          <a:xfrm>
            <a:off x="1051200" y="4521600"/>
            <a:ext cx="368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"Психология понятия Я"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4"/>
          <p:cNvSpPr/>
          <p:nvPr/>
        </p:nvSpPr>
        <p:spPr>
          <a:xfrm>
            <a:off x="5217120" y="3773880"/>
            <a:ext cx="4196160" cy="1730520"/>
          </a:xfrm>
          <a:prstGeom prst="roundRect">
            <a:avLst>
              <a:gd name="adj" fmla="val 1966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5"/>
          <p:cNvSpPr/>
          <p:nvPr/>
        </p:nvSpPr>
        <p:spPr>
          <a:xfrm>
            <a:off x="5474160" y="4030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2. АНАНЬЕВ, Б. Г.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6"/>
          <p:cNvSpPr/>
          <p:nvPr/>
        </p:nvSpPr>
        <p:spPr>
          <a:xfrm>
            <a:off x="5474160" y="4521600"/>
            <a:ext cx="368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"К проблеме самосознания"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7"/>
          <p:cNvSpPr/>
          <p:nvPr/>
        </p:nvSpPr>
        <p:spPr>
          <a:xfrm>
            <a:off x="9640080" y="3773880"/>
            <a:ext cx="4196160" cy="1730520"/>
          </a:xfrm>
          <a:prstGeom prst="roundRect">
            <a:avLst>
              <a:gd name="adj" fmla="val 1966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8"/>
          <p:cNvSpPr/>
          <p:nvPr/>
        </p:nvSpPr>
        <p:spPr>
          <a:xfrm>
            <a:off x="9897480" y="4030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3. ВЫГОТСКИЙ, Л. С.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9"/>
          <p:cNvSpPr/>
          <p:nvPr/>
        </p:nvSpPr>
        <p:spPr>
          <a:xfrm>
            <a:off x="9897480" y="4521600"/>
            <a:ext cx="36813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"Развитие высших психических функций"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2026-04-28T13:50:24Z</dcterms:created>
  <dc:creator/>
  <dc:description/>
  <dc:language>ru-RU</dc:language>
  <cp:lastModifiedBy/>
  <dcterms:modified xsi:type="dcterms:W3CDTF">2026-04-28T13:50:24Z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